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300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3" r:id="rId18"/>
    <p:sldId id="291" r:id="rId19"/>
    <p:sldId id="292" r:id="rId20"/>
    <p:sldId id="294" r:id="rId21"/>
    <p:sldId id="301" r:id="rId22"/>
    <p:sldId id="295" r:id="rId23"/>
    <p:sldId id="296" r:id="rId24"/>
    <p:sldId id="297" r:id="rId25"/>
    <p:sldId id="298" r:id="rId26"/>
    <p:sldId id="299" r:id="rId2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20" d="100"/>
          <a:sy n="120" d="100"/>
        </p:scale>
        <p:origin x="-370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smtClean="0"/>
              <a:t>Clic pentru a edita stilul de subtitlu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3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5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57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5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1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1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1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6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2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5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90478-133C-46F1-90F4-8C4DA2D1FDEE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17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dirty="0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Evaluate Forecasting Performance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516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Splitting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One thing that we should avoid if we want to build a reliable forecasting model is training and evaluating the model on the same data set. We should always validate our model using a different data set.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Otherwise, we could run the peril of getting an </a:t>
            </a:r>
            <a:r>
              <a:rPr lang="en-US" b="1" dirty="0"/>
              <a:t>over-fitted</a:t>
            </a:r>
            <a:r>
              <a:rPr lang="en-US" dirty="0"/>
              <a:t> model.</a:t>
            </a:r>
          </a:p>
        </p:txBody>
      </p:sp>
    </p:spTree>
    <p:extLst>
      <p:ext uri="{BB962C8B-B14F-4D97-AF65-F5344CB8AC3E}">
        <p14:creationId xmlns:p14="http://schemas.microsoft.com/office/powerpoint/2010/main" val="128777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Splitting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We </a:t>
            </a:r>
            <a:r>
              <a:rPr lang="en-US" dirty="0"/>
              <a:t>should split our data </a:t>
            </a:r>
            <a:r>
              <a:rPr lang="en-US"/>
              <a:t>set </a:t>
            </a:r>
            <a:r>
              <a:rPr lang="en-US" smtClean="0"/>
              <a:t>into </a:t>
            </a:r>
            <a:r>
              <a:rPr lang="en-US" dirty="0"/>
              <a:t>two subsets:</a:t>
            </a:r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a </a:t>
            </a:r>
            <a:r>
              <a:rPr lang="en-US" i="1" dirty="0"/>
              <a:t>training set</a:t>
            </a:r>
            <a:r>
              <a:rPr lang="en-US" dirty="0"/>
              <a:t> – used to build the model</a:t>
            </a:r>
          </a:p>
          <a:p>
            <a:pPr lvl="0"/>
            <a:r>
              <a:rPr lang="en-US" dirty="0"/>
              <a:t>a </a:t>
            </a:r>
            <a:r>
              <a:rPr lang="en-US" i="1" dirty="0"/>
              <a:t>test set </a:t>
            </a:r>
            <a:r>
              <a:rPr lang="en-US" dirty="0"/>
              <a:t>(validation set) – used to measure the effectiveness (the forecasting accuracy) of the </a:t>
            </a:r>
            <a:r>
              <a:rPr lang="en-US" dirty="0" smtClean="0"/>
              <a:t>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188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Splitting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In </a:t>
            </a:r>
            <a:r>
              <a:rPr lang="en-US" dirty="0"/>
              <a:t>machine learning, data set splitting </a:t>
            </a:r>
            <a:r>
              <a:rPr lang="en-US" dirty="0" smtClean="0"/>
              <a:t>(partitioning</a:t>
            </a:r>
            <a:r>
              <a:rPr lang="en-US" dirty="0"/>
              <a:t>) is done at random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</a:t>
            </a:r>
            <a:r>
              <a:rPr lang="en-US" dirty="0" smtClean="0"/>
              <a:t>ith </a:t>
            </a:r>
            <a:r>
              <a:rPr lang="en-US" dirty="0"/>
              <a:t>time series, this method is not </a:t>
            </a:r>
            <a:r>
              <a:rPr lang="en-US" dirty="0" smtClean="0"/>
              <a:t>adequate, because our </a:t>
            </a:r>
            <a:r>
              <a:rPr lang="en-US" dirty="0"/>
              <a:t>data would lose its </a:t>
            </a:r>
            <a:r>
              <a:rPr lang="en-US" i="1" dirty="0"/>
              <a:t>chronological </a:t>
            </a:r>
            <a:r>
              <a:rPr lang="en-US" i="1" dirty="0" smtClean="0"/>
              <a:t>sequence</a:t>
            </a:r>
            <a:r>
              <a:rPr lang="en-US" dirty="0" smtClean="0"/>
              <a:t>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5379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Splitting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To split a time series, we cut it into </a:t>
            </a:r>
            <a:r>
              <a:rPr lang="en-US" dirty="0"/>
              <a:t>two periods:</a:t>
            </a:r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an early period (moments 1, 2, 3, …, k)</a:t>
            </a:r>
          </a:p>
          <a:p>
            <a:pPr lvl="0"/>
            <a:r>
              <a:rPr lang="en-US" dirty="0"/>
              <a:t>a later period (moments k + 1, k + 2, …, 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793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Splitting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early period represents the “past” </a:t>
            </a:r>
            <a:r>
              <a:rPr lang="en-US" dirty="0" smtClean="0"/>
              <a:t>(our </a:t>
            </a:r>
            <a:r>
              <a:rPr lang="en-US" dirty="0"/>
              <a:t>training </a:t>
            </a:r>
            <a:r>
              <a:rPr lang="en-US" dirty="0" smtClean="0"/>
              <a:t>set</a:t>
            </a:r>
            <a:r>
              <a:rPr lang="en-US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later period represents the “future” </a:t>
            </a:r>
            <a:r>
              <a:rPr lang="en-US" dirty="0" smtClean="0"/>
              <a:t>(our test set).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We will use the test set to measure our forecast accuracy.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916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Splitting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When we make forecasts for the future, it is recommended to join the two partitions again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So </a:t>
            </a:r>
            <a:r>
              <a:rPr lang="en-US" dirty="0"/>
              <a:t>we join training set and test set and perform the forecasts using the whole series. This way, the future values estimations are likely to be more accurate.</a:t>
            </a:r>
          </a:p>
        </p:txBody>
      </p:sp>
    </p:spTree>
    <p:extLst>
      <p:ext uri="{BB962C8B-B14F-4D97-AF65-F5344CB8AC3E}">
        <p14:creationId xmlns:p14="http://schemas.microsoft.com/office/powerpoint/2010/main" val="2319623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Splitting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As a rule of thumb, </a:t>
            </a:r>
            <a:r>
              <a:rPr lang="en-US" dirty="0" smtClean="0"/>
              <a:t>the length of the validation </a:t>
            </a:r>
            <a:r>
              <a:rPr lang="en-US" dirty="0"/>
              <a:t>period should be </a:t>
            </a:r>
            <a:r>
              <a:rPr lang="en-US" dirty="0" smtClean="0"/>
              <a:t>at least equal </a:t>
            </a:r>
            <a:r>
              <a:rPr lang="en-US" dirty="0"/>
              <a:t>to the forecasting horizon.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Example: if </a:t>
            </a:r>
            <a:r>
              <a:rPr lang="en-US" dirty="0"/>
              <a:t>we intend to make forecasts for 6 months in the future, the </a:t>
            </a:r>
            <a:r>
              <a:rPr lang="en-US" dirty="0" smtClean="0"/>
              <a:t>validation </a:t>
            </a:r>
            <a:r>
              <a:rPr lang="en-US" dirty="0"/>
              <a:t>set should comprise </a:t>
            </a:r>
            <a:r>
              <a:rPr lang="en-US" dirty="0" smtClean="0"/>
              <a:t>at least 6 </a:t>
            </a:r>
            <a:r>
              <a:rPr lang="en-US" dirty="0"/>
              <a:t>months.</a:t>
            </a:r>
          </a:p>
        </p:txBody>
      </p:sp>
    </p:spTree>
    <p:extLst>
      <p:ext uri="{BB962C8B-B14F-4D97-AF65-F5344CB8AC3E}">
        <p14:creationId xmlns:p14="http://schemas.microsoft.com/office/powerpoint/2010/main" val="114687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Accuracy Metrics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1059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Classical </a:t>
            </a:r>
            <a:r>
              <a:rPr lang="en-US" dirty="0"/>
              <a:t>goodness-of-fit measures like </a:t>
            </a:r>
            <a:r>
              <a:rPr lang="en-US"/>
              <a:t>R </a:t>
            </a:r>
            <a:r>
              <a:rPr lang="en-US" smtClean="0"/>
              <a:t>squared </a:t>
            </a:r>
            <a:r>
              <a:rPr lang="en-US" dirty="0"/>
              <a:t>are not appropriate for time series (they do not actually indicate the model capability to </a:t>
            </a:r>
            <a:r>
              <a:rPr lang="en-US" dirty="0" smtClean="0"/>
              <a:t>provide </a:t>
            </a:r>
            <a:r>
              <a:rPr lang="en-US" dirty="0"/>
              <a:t>accurate forecasts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</a:t>
            </a:r>
            <a:r>
              <a:rPr lang="en-US" dirty="0" smtClean="0"/>
              <a:t>ome </a:t>
            </a:r>
            <a:r>
              <a:rPr lang="en-US" dirty="0"/>
              <a:t>specific metrics for assessing forecasting precision were devised.</a:t>
            </a:r>
          </a:p>
        </p:txBody>
      </p:sp>
    </p:spTree>
    <p:extLst>
      <p:ext uri="{BB962C8B-B14F-4D97-AF65-F5344CB8AC3E}">
        <p14:creationId xmlns:p14="http://schemas.microsoft.com/office/powerpoint/2010/main" val="4224258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</a:t>
            </a:r>
            <a:r>
              <a:rPr lang="en-US" dirty="0" smtClean="0"/>
              <a:t>orecasting </a:t>
            </a:r>
            <a:r>
              <a:rPr lang="en-US" dirty="0"/>
              <a:t>error for each moment in </a:t>
            </a:r>
            <a:r>
              <a:rPr lang="en-US" dirty="0" smtClean="0"/>
              <a:t>time: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e</a:t>
            </a:r>
            <a:r>
              <a:rPr lang="en-US" baseline="-25000" dirty="0"/>
              <a:t>t</a:t>
            </a:r>
            <a:r>
              <a:rPr lang="en-US" dirty="0"/>
              <a:t> = </a:t>
            </a:r>
            <a:r>
              <a:rPr lang="en-US" dirty="0" err="1"/>
              <a:t>y</a:t>
            </a:r>
            <a:r>
              <a:rPr lang="en-US" baseline="-25000" dirty="0" err="1"/>
              <a:t>t</a:t>
            </a:r>
            <a:r>
              <a:rPr lang="en-US" dirty="0"/>
              <a:t> - F</a:t>
            </a:r>
            <a:r>
              <a:rPr lang="en-US" baseline="-25000" dirty="0"/>
              <a:t>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(The </a:t>
            </a:r>
            <a:r>
              <a:rPr lang="en-US" dirty="0"/>
              <a:t>smaller the errors, the better the model</a:t>
            </a:r>
            <a:r>
              <a:rPr lang="en-US" dirty="0" smtClean="0"/>
              <a:t>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30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Suppose </a:t>
            </a:r>
            <a:r>
              <a:rPr lang="en-US" dirty="0"/>
              <a:t>that the validation period has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dirty="0" smtClean="0"/>
              <a:t>moments.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So </a:t>
            </a:r>
            <a:r>
              <a:rPr lang="en-US" dirty="0"/>
              <a:t>in this period we have t = 1, 2, …, </a:t>
            </a:r>
            <a:r>
              <a:rPr lang="en-US" dirty="0" smtClean="0"/>
              <a:t>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700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 metrics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 smtClean="0"/>
                  <a:t>MAE</a:t>
                </a:r>
                <a:r>
                  <a:rPr lang="en-US" dirty="0" smtClean="0"/>
                  <a:t> (</a:t>
                </a:r>
                <a:r>
                  <a:rPr lang="en-US" dirty="0"/>
                  <a:t>mean absolute error </a:t>
                </a:r>
                <a:r>
                  <a:rPr lang="en-US" dirty="0" smtClean="0"/>
                  <a:t>)</a:t>
                </a:r>
                <a:r>
                  <a:rPr lang="en-US" b="1" dirty="0" smtClean="0"/>
                  <a:t> </a:t>
                </a:r>
                <a:r>
                  <a:rPr lang="en-US" dirty="0"/>
                  <a:t>or</a:t>
                </a:r>
                <a:r>
                  <a:rPr lang="en-US" b="1" dirty="0"/>
                  <a:t> MAD</a:t>
                </a:r>
                <a:r>
                  <a:rPr lang="en-US" dirty="0"/>
                  <a:t> </a:t>
                </a:r>
                <a:r>
                  <a:rPr lang="en-US" dirty="0" smtClean="0"/>
                  <a:t>(mean absolute </a:t>
                </a:r>
                <a:r>
                  <a:rPr lang="en-US" dirty="0"/>
                  <a:t>deviation)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𝑀𝐴𝐸</m:t>
                      </m:r>
                      <m:r>
                        <a:rPr lang="en-US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2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826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 metrics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 smtClean="0"/>
                  <a:t>AE </a:t>
                </a:r>
                <a:r>
                  <a:rPr lang="en-US" dirty="0" smtClean="0"/>
                  <a:t>(average error)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𝐴𝐸</m:t>
                      </m:r>
                      <m:r>
                        <a:rPr lang="en-US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2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0425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 metrics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RMSE</a:t>
                </a:r>
                <a:r>
                  <a:rPr lang="en-US" dirty="0"/>
                  <a:t> (root mean squared error</a:t>
                </a:r>
                <a:r>
                  <a:rPr lang="en-US" dirty="0" smtClean="0"/>
                  <a:t>)</a:t>
                </a:r>
                <a:r>
                  <a:rPr lang="en-US" dirty="0"/>
                  <a:t> </a:t>
                </a: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𝑅𝑀𝑆𝐸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𝑝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2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0194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 metrics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MAPE</a:t>
                </a:r>
                <a:r>
                  <a:rPr lang="en-US" dirty="0"/>
                  <a:t> (mean absolute percentage error)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𝑀𝐴𝑃𝐸</m:t>
                      </m:r>
                      <m:r>
                        <a:rPr lang="en-US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𝑝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∗100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2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199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dirty="0"/>
              <a:t>To interpret MAPE </a:t>
            </a:r>
            <a:r>
              <a:rPr lang="en-US" dirty="0"/>
              <a:t>we can use the following cutoff points:</a:t>
            </a:r>
          </a:p>
          <a:p>
            <a:pPr marL="0" indent="0">
              <a:buNone/>
            </a:pPr>
            <a:endParaRPr lang="en-US" sz="3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&lt; </a:t>
            </a:r>
            <a:r>
              <a:rPr lang="en-US" dirty="0"/>
              <a:t>10%   very accurate </a:t>
            </a:r>
            <a:r>
              <a:rPr lang="en-US" dirty="0" smtClean="0"/>
              <a:t>forecast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sz="1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10</a:t>
            </a:r>
            <a:r>
              <a:rPr lang="en-US" dirty="0"/>
              <a:t>%  - 20%  accurate forecast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20</a:t>
            </a:r>
            <a:r>
              <a:rPr lang="en-US" dirty="0"/>
              <a:t>% - 50%    reasonable forecast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05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&gt; </a:t>
            </a:r>
            <a:r>
              <a:rPr lang="en-US" dirty="0"/>
              <a:t>50%  inaccurate forecast</a:t>
            </a:r>
          </a:p>
        </p:txBody>
      </p:sp>
    </p:spTree>
    <p:extLst>
      <p:ext uri="{BB962C8B-B14F-4D97-AF65-F5344CB8AC3E}">
        <p14:creationId xmlns:p14="http://schemas.microsoft.com/office/powerpoint/2010/main" val="570148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300" b="1" dirty="0"/>
              <a:t>MASE</a:t>
            </a:r>
            <a:r>
              <a:rPr lang="en-US" sz="4300" dirty="0"/>
              <a:t> (mean absolute standard error)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This </a:t>
            </a:r>
            <a:r>
              <a:rPr lang="en-US" dirty="0"/>
              <a:t>indicator measures our model accuracy against the accuracy of the naïve forecasting.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To </a:t>
            </a:r>
            <a:r>
              <a:rPr lang="en-US" dirty="0"/>
              <a:t>compute </a:t>
            </a:r>
            <a:r>
              <a:rPr lang="en-US" dirty="0" smtClean="0"/>
              <a:t>it, we </a:t>
            </a:r>
            <a:r>
              <a:rPr lang="en-US" dirty="0"/>
              <a:t>have to use data from both training set and validation set. So we are going to use the following notations: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Training set: t = 1, 2, …, 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Validation set:  t = n + 1, n + 2, …, n + 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246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 metrics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 smtClean="0"/>
                  <a:t>MASE</a:t>
                </a:r>
                <a:r>
                  <a:rPr lang="en-US" dirty="0" smtClean="0"/>
                  <a:t> </a:t>
                </a:r>
                <a:r>
                  <a:rPr lang="en-US" dirty="0"/>
                  <a:t>(mean absolute </a:t>
                </a:r>
                <a:r>
                  <a:rPr lang="en-US" dirty="0" smtClean="0"/>
                  <a:t>standard </a:t>
                </a:r>
                <a:r>
                  <a:rPr lang="en-US" dirty="0"/>
                  <a:t>error)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𝑀𝐴𝑆𝐸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num>
                        <m:den>
                          <m:f>
                            <m:f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−1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=2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2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7460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MASE</a:t>
            </a:r>
            <a:r>
              <a:rPr lang="en-US" dirty="0" smtClean="0"/>
              <a:t> interpretation: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MASE &lt; 1 </a:t>
            </a:r>
            <a:r>
              <a:rPr lang="en-US" smtClean="0"/>
              <a:t>– our prediction is better </a:t>
            </a:r>
            <a:r>
              <a:rPr lang="en-US" dirty="0" smtClean="0"/>
              <a:t>than the </a:t>
            </a:r>
            <a:r>
              <a:rPr lang="en-US" smtClean="0"/>
              <a:t>naïve forecast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MASE </a:t>
            </a:r>
            <a:r>
              <a:rPr lang="en-US" dirty="0"/>
              <a:t>&gt;</a:t>
            </a:r>
            <a:r>
              <a:rPr lang="en-US" dirty="0" smtClean="0"/>
              <a:t> 1 </a:t>
            </a:r>
            <a:r>
              <a:rPr lang="en-US"/>
              <a:t>– </a:t>
            </a:r>
            <a:r>
              <a:rPr lang="en-US" smtClean="0"/>
              <a:t>our prediction is worse </a:t>
            </a:r>
            <a:r>
              <a:rPr lang="en-US" dirty="0"/>
              <a:t>than the </a:t>
            </a:r>
            <a:r>
              <a:rPr lang="en-US"/>
              <a:t>naïve </a:t>
            </a:r>
            <a:r>
              <a:rPr lang="en-US" smtClean="0"/>
              <a:t>forecast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565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Forecasting Errors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6098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Visualize errors (line plot)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687378"/>
            <a:ext cx="4053921" cy="324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547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Visualize errors (histogram)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751954"/>
            <a:ext cx="3973286" cy="318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640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 err="1" smtClean="0"/>
              <a:t>Underprediction</a:t>
            </a:r>
            <a:r>
              <a:rPr lang="en-US" sz="2800" dirty="0" smtClean="0"/>
              <a:t> (positive errors) or </a:t>
            </a:r>
            <a:r>
              <a:rPr lang="en-US" sz="2800" dirty="0" err="1" smtClean="0"/>
              <a:t>overprediction</a:t>
            </a:r>
            <a:r>
              <a:rPr lang="en-US" sz="2800" dirty="0" smtClean="0"/>
              <a:t> (negative errors)?</a:t>
            </a:r>
          </a:p>
          <a:p>
            <a:pPr marL="0" indent="0">
              <a:buNone/>
            </a:pPr>
            <a:endParaRPr lang="en-US" sz="2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dirty="0"/>
              <a:t>if we predict inventory volumes, </a:t>
            </a:r>
            <a:r>
              <a:rPr lang="en-US" sz="2800" dirty="0" err="1"/>
              <a:t>underpredictions</a:t>
            </a:r>
            <a:r>
              <a:rPr lang="en-US" sz="2800" dirty="0"/>
              <a:t> are more dangerous than </a:t>
            </a:r>
            <a:r>
              <a:rPr lang="en-US" sz="2800" dirty="0" err="1" smtClean="0"/>
              <a:t>overpredictions</a:t>
            </a:r>
            <a:r>
              <a:rPr lang="en-US" sz="2800" dirty="0" smtClean="0"/>
              <a:t>. In </a:t>
            </a:r>
            <a:r>
              <a:rPr lang="en-US" sz="2800" dirty="0"/>
              <a:t>this situation we are interested in the positive errors.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dirty="0"/>
              <a:t>if we predict income or profits, </a:t>
            </a:r>
            <a:r>
              <a:rPr lang="en-US" sz="2800" dirty="0" err="1"/>
              <a:t>overpredictions</a:t>
            </a:r>
            <a:r>
              <a:rPr lang="en-US" sz="2800" dirty="0"/>
              <a:t> could be more undesirable than </a:t>
            </a:r>
            <a:r>
              <a:rPr lang="en-US" sz="2800" dirty="0" err="1"/>
              <a:t>underpredictions</a:t>
            </a:r>
            <a:r>
              <a:rPr lang="en-US" sz="2800" dirty="0"/>
              <a:t>. I</a:t>
            </a:r>
            <a:r>
              <a:rPr lang="en-US" sz="2800" dirty="0" smtClean="0"/>
              <a:t>n </a:t>
            </a:r>
            <a:r>
              <a:rPr lang="en-US" sz="2800" dirty="0"/>
              <a:t>this case we will analyze the negative errors.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01082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Prediction intervals</a:t>
            </a: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 smtClean="0"/>
              <a:t>Confidence level: usually 95%</a:t>
            </a:r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/>
              <a:t>Prediction intervals </a:t>
            </a:r>
            <a:r>
              <a:rPr lang="en-US" sz="2800" dirty="0" smtClean="0"/>
              <a:t>can give </a:t>
            </a:r>
            <a:r>
              <a:rPr lang="en-US" sz="2800" dirty="0"/>
              <a:t>us a clear idea about the forecast uncertainty.</a:t>
            </a:r>
            <a:endParaRPr lang="en-US" sz="2800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07565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</a:t>
            </a:r>
            <a:r>
              <a:rPr lang="en-US" dirty="0" smtClean="0"/>
              <a:t>uppose we </a:t>
            </a:r>
            <a:r>
              <a:rPr lang="en-US" dirty="0"/>
              <a:t>use two models to forecast a time series, and the </a:t>
            </a:r>
            <a:r>
              <a:rPr lang="en-US"/>
              <a:t>one-step </a:t>
            </a:r>
            <a:r>
              <a:rPr lang="en-US" smtClean="0"/>
              <a:t>ahead </a:t>
            </a:r>
            <a:r>
              <a:rPr lang="en-US" dirty="0"/>
              <a:t>forecast is the same for </a:t>
            </a:r>
            <a:r>
              <a:rPr lang="en-US" dirty="0" smtClean="0"/>
              <a:t>both (100). </a:t>
            </a:r>
            <a:r>
              <a:rPr lang="en-US" dirty="0"/>
              <a:t>However:</a:t>
            </a:r>
          </a:p>
          <a:p>
            <a:pPr marL="0" indent="0">
              <a:buNone/>
            </a:pPr>
            <a:endParaRPr lang="en-US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for the first model, the 95% prediction interval is (</a:t>
            </a:r>
            <a:r>
              <a:rPr lang="en-US" dirty="0" smtClean="0"/>
              <a:t>92, 108)</a:t>
            </a:r>
            <a:endParaRPr lang="en-US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for the second model, the 95% prediction interval is (80, 120)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second model has much more uncertainty than the first one.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6389974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2992</TotalTime>
  <Words>881</Words>
  <Application>Microsoft Office PowerPoint</Application>
  <PresentationFormat>On-screen Show (16:9)</PresentationFormat>
  <Paragraphs>117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Temă Office</vt:lpstr>
      <vt:lpstr>Evaluate Forecasting Performance</vt:lpstr>
      <vt:lpstr>Splitting data</vt:lpstr>
      <vt:lpstr>Splitting data</vt:lpstr>
      <vt:lpstr>Splitting data</vt:lpstr>
      <vt:lpstr>Splitting data</vt:lpstr>
      <vt:lpstr>Splitting data</vt:lpstr>
      <vt:lpstr>Splitting data</vt:lpstr>
      <vt:lpstr>Splitting data</vt:lpstr>
      <vt:lpstr>Accuracy Metrics</vt:lpstr>
      <vt:lpstr>Accuracy metrics</vt:lpstr>
      <vt:lpstr>Accuracy metrics</vt:lpstr>
      <vt:lpstr>Accuracy metrics</vt:lpstr>
      <vt:lpstr>Accuracy metrics</vt:lpstr>
      <vt:lpstr>Accuracy metrics</vt:lpstr>
      <vt:lpstr>Accuracy metrics</vt:lpstr>
      <vt:lpstr>Accuracy metrics</vt:lpstr>
      <vt:lpstr>Accuracy metrics</vt:lpstr>
      <vt:lpstr>Accuracy metrics</vt:lpstr>
      <vt:lpstr>Accuracy metrics</vt:lpstr>
      <vt:lpstr>Accuracy metrics</vt:lpstr>
      <vt:lpstr>Forecasting Errors</vt:lpstr>
      <vt:lpstr>Forecasting errors</vt:lpstr>
      <vt:lpstr>Forecasting errors</vt:lpstr>
      <vt:lpstr>Forecasting errors</vt:lpstr>
      <vt:lpstr>Forecasting errors</vt:lpstr>
      <vt:lpstr>Forecasting errors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bogdan</dc:creator>
  <cp:lastModifiedBy>bogdan</cp:lastModifiedBy>
  <cp:revision>84</cp:revision>
  <dcterms:created xsi:type="dcterms:W3CDTF">2014-10-10T10:38:27Z</dcterms:created>
  <dcterms:modified xsi:type="dcterms:W3CDTF">2022-06-04T19:56:55Z</dcterms:modified>
</cp:coreProperties>
</file>