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302" r:id="rId18"/>
    <p:sldId id="293" r:id="rId19"/>
    <p:sldId id="294" r:id="rId20"/>
    <p:sldId id="295" r:id="rId21"/>
    <p:sldId id="296" r:id="rId22"/>
    <p:sldId id="303" r:id="rId23"/>
    <p:sldId id="297" r:id="rId24"/>
    <p:sldId id="304" r:id="rId25"/>
    <p:sldId id="298" r:id="rId26"/>
    <p:sldId id="299" r:id="rId27"/>
    <p:sldId id="301" r:id="rId28"/>
    <p:sldId id="300" r:id="rId2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-82" y="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Time Series Data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dirty="0" smtClean="0"/>
              <a:t>ny </a:t>
            </a:r>
            <a:r>
              <a:rPr lang="en-US" dirty="0"/>
              <a:t>time series can be divided into two parts: a </a:t>
            </a:r>
            <a:r>
              <a:rPr lang="en-US" b="1" dirty="0"/>
              <a:t>systematic</a:t>
            </a:r>
            <a:r>
              <a:rPr lang="en-US" dirty="0"/>
              <a:t> part and a </a:t>
            </a:r>
            <a:r>
              <a:rPr lang="en-US" b="1" dirty="0"/>
              <a:t>non-systematic</a:t>
            </a:r>
            <a:r>
              <a:rPr lang="en-US" dirty="0"/>
              <a:t> part.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systematic</a:t>
            </a:r>
            <a:r>
              <a:rPr lang="en-US" dirty="0"/>
              <a:t> part includes three components: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level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trend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seasonality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level </a:t>
            </a:r>
            <a:r>
              <a:rPr lang="en-US"/>
              <a:t>is </a:t>
            </a:r>
            <a:r>
              <a:rPr lang="en-US" smtClean="0"/>
              <a:t>the </a:t>
            </a:r>
            <a:r>
              <a:rPr lang="en-US" b="1" dirty="0"/>
              <a:t>average</a:t>
            </a:r>
            <a:r>
              <a:rPr lang="en-US" dirty="0"/>
              <a:t> of all the values in the time series.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trend reflects the overall change in the series over time – it can be increasing or decreasing. Trend can be evaluated using different types of functions like linear, polynomial, exponential, logarithmic etc.</a:t>
            </a:r>
          </a:p>
        </p:txBody>
      </p:sp>
    </p:spTree>
    <p:extLst>
      <p:ext uri="{BB962C8B-B14F-4D97-AF65-F5344CB8AC3E}">
        <p14:creationId xmlns:p14="http://schemas.microsoft.com/office/powerpoint/2010/main" val="106226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Seasonality (seasonal variation) </a:t>
            </a:r>
            <a:r>
              <a:rPr lang="en-US" dirty="0"/>
              <a:t>is represented by a cyclical behavior over time. A time series with seasonality exhibits regular and predictable patterns that repeat a number of times during the whole period.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Simple </a:t>
            </a:r>
            <a:r>
              <a:rPr lang="en-US" dirty="0"/>
              <a:t>example: ice cream sales.</a:t>
            </a:r>
          </a:p>
        </p:txBody>
      </p:sp>
    </p:spTree>
    <p:extLst>
      <p:ext uri="{BB962C8B-B14F-4D97-AF65-F5344CB8AC3E}">
        <p14:creationId xmlns:p14="http://schemas.microsoft.com/office/powerpoint/2010/main" val="47347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Some </a:t>
            </a:r>
            <a:r>
              <a:rPr lang="en-US" dirty="0"/>
              <a:t>series do not have trend and seasonality; however, all series have a level.</a:t>
            </a:r>
          </a:p>
        </p:txBody>
      </p:sp>
    </p:spTree>
    <p:extLst>
      <p:ext uri="{BB962C8B-B14F-4D97-AF65-F5344CB8AC3E}">
        <p14:creationId xmlns:p14="http://schemas.microsoft.com/office/powerpoint/2010/main" val="351133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b="1" dirty="0"/>
              <a:t>non-systematic</a:t>
            </a:r>
            <a:r>
              <a:rPr lang="en-US" dirty="0"/>
              <a:t> </a:t>
            </a:r>
            <a:r>
              <a:rPr lang="en-US" dirty="0" smtClean="0"/>
              <a:t>part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b="1" dirty="0" smtClean="0"/>
              <a:t>noise</a:t>
            </a:r>
            <a:r>
              <a:rPr lang="en-US" dirty="0" smtClean="0"/>
              <a:t>) is </a:t>
            </a:r>
            <a:r>
              <a:rPr lang="en-US" dirty="0"/>
              <a:t>the random component of the time series. This component accounts for all unpredictable fluctuations in the time series values.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These fluctuations </a:t>
            </a:r>
            <a:r>
              <a:rPr lang="en-US" dirty="0"/>
              <a:t>are mostly produced by unknown or uncontrollable factors.</a:t>
            </a:r>
          </a:p>
        </p:txBody>
      </p:sp>
    </p:spTree>
    <p:extLst>
      <p:ext uri="{BB962C8B-B14F-4D97-AF65-F5344CB8AC3E}">
        <p14:creationId xmlns:p14="http://schemas.microsoft.com/office/powerpoint/2010/main" val="417566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All time series present a noise in some </a:t>
            </a:r>
            <a:r>
              <a:rPr lang="en-US" dirty="0" smtClean="0"/>
              <a:t>degree. However</a:t>
            </a:r>
            <a:r>
              <a:rPr lang="en-US" dirty="0"/>
              <a:t>, if a series has too much </a:t>
            </a:r>
            <a:r>
              <a:rPr lang="en-US" dirty="0" smtClean="0"/>
              <a:t>noise (if </a:t>
            </a:r>
            <a:r>
              <a:rPr lang="en-US" dirty="0"/>
              <a:t>the random component is more important than the systematic </a:t>
            </a:r>
            <a:r>
              <a:rPr lang="en-US" dirty="0" smtClean="0"/>
              <a:t>component) </a:t>
            </a:r>
            <a:r>
              <a:rPr lang="en-US" dirty="0"/>
              <a:t>that series could be </a:t>
            </a:r>
            <a:r>
              <a:rPr lang="en-US" dirty="0" smtClean="0"/>
              <a:t>unpredictable.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7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time series components can be </a:t>
            </a:r>
            <a:r>
              <a:rPr lang="en-US" i="1" dirty="0"/>
              <a:t>additive</a:t>
            </a:r>
            <a:r>
              <a:rPr lang="en-US" dirty="0"/>
              <a:t> or </a:t>
            </a:r>
            <a:r>
              <a:rPr lang="en-US" i="1" dirty="0" smtClean="0"/>
              <a:t>multiplicative</a:t>
            </a:r>
            <a:r>
              <a:rPr lang="en-US" dirty="0" smtClean="0"/>
              <a:t>. </a:t>
            </a:r>
            <a:r>
              <a:rPr lang="en-US" dirty="0"/>
              <a:t>A model with </a:t>
            </a:r>
            <a:r>
              <a:rPr lang="en-US" i="1" dirty="0"/>
              <a:t>additive</a:t>
            </a:r>
            <a:r>
              <a:rPr lang="en-US" dirty="0"/>
              <a:t> </a:t>
            </a:r>
            <a:r>
              <a:rPr lang="en-US" dirty="0" smtClean="0"/>
              <a:t>components: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y</a:t>
            </a:r>
            <a:r>
              <a:rPr lang="en-US" baseline="-25000" dirty="0" err="1"/>
              <a:t>t</a:t>
            </a:r>
            <a:r>
              <a:rPr lang="en-US" dirty="0"/>
              <a:t> = Level + Trend + Seasonality + 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4877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model with </a:t>
            </a:r>
            <a:r>
              <a:rPr lang="en-US" i="1" dirty="0"/>
              <a:t>multiplicative</a:t>
            </a:r>
            <a:r>
              <a:rPr lang="en-US" dirty="0"/>
              <a:t> </a:t>
            </a:r>
            <a:r>
              <a:rPr lang="en-US" dirty="0" smtClean="0"/>
              <a:t>components: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y</a:t>
            </a:r>
            <a:r>
              <a:rPr lang="en-US" baseline="-25000" dirty="0" err="1"/>
              <a:t>t</a:t>
            </a:r>
            <a:r>
              <a:rPr lang="en-US" dirty="0"/>
              <a:t> = Level x Trend x Seasonality x Noise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70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Furthermore</a:t>
            </a:r>
            <a:r>
              <a:rPr lang="en-US" dirty="0"/>
              <a:t>, seasonality in time series can be </a:t>
            </a:r>
            <a:r>
              <a:rPr lang="en-US" i="1" dirty="0"/>
              <a:t>additive</a:t>
            </a:r>
            <a:r>
              <a:rPr lang="en-US" dirty="0"/>
              <a:t> or </a:t>
            </a:r>
            <a:r>
              <a:rPr lang="en-US" i="1" dirty="0"/>
              <a:t>multiplicative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10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smtClean="0"/>
              <a:t>A </a:t>
            </a:r>
            <a:r>
              <a:rPr lang="en-US" sz="2500" dirty="0"/>
              <a:t>series with </a:t>
            </a:r>
            <a:r>
              <a:rPr lang="en-US" sz="2500" i="1" dirty="0"/>
              <a:t>additive seasonality</a:t>
            </a:r>
            <a:r>
              <a:rPr lang="en-US" sz="2500" dirty="0"/>
              <a:t> presents constant variations of values in different </a:t>
            </a:r>
            <a:r>
              <a:rPr lang="en-US" sz="2500" dirty="0" smtClean="0"/>
              <a:t>seasons: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38350"/>
            <a:ext cx="3810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6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I</a:t>
            </a:r>
            <a:r>
              <a:rPr lang="en-US" sz="2500" dirty="0" smtClean="0"/>
              <a:t>n </a:t>
            </a:r>
            <a:r>
              <a:rPr lang="en-US" sz="2500" dirty="0"/>
              <a:t>the series with </a:t>
            </a:r>
            <a:r>
              <a:rPr lang="en-US" sz="2500" i="1" dirty="0"/>
              <a:t>multiplicative </a:t>
            </a:r>
            <a:r>
              <a:rPr lang="en-US" sz="2500" i="1" dirty="0" smtClean="0"/>
              <a:t>seasonality, </a:t>
            </a:r>
            <a:r>
              <a:rPr lang="en-US" sz="2500" dirty="0" smtClean="0"/>
              <a:t>variations </a:t>
            </a:r>
            <a:r>
              <a:rPr lang="en-US" sz="2500" dirty="0"/>
              <a:t>are different from one season to another</a:t>
            </a:r>
            <a:r>
              <a:rPr lang="en-US" sz="2500" dirty="0" smtClean="0"/>
              <a:t>: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038350"/>
            <a:ext cx="38100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0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Also</a:t>
            </a:r>
            <a:r>
              <a:rPr lang="en-US" dirty="0"/>
              <a:t>, the error component </a:t>
            </a:r>
            <a:r>
              <a:rPr lang="en-US" dirty="0" smtClean="0"/>
              <a:t>(noise</a:t>
            </a:r>
            <a:r>
              <a:rPr lang="en-US" dirty="0"/>
              <a:t>) can be of two types: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 dirty="0"/>
              <a:t>additive</a:t>
            </a:r>
            <a:r>
              <a:rPr lang="en-US" dirty="0"/>
              <a:t>, if the </a:t>
            </a:r>
            <a:r>
              <a:rPr lang="en-US" dirty="0" smtClean="0"/>
              <a:t>errors remain </a:t>
            </a:r>
            <a:r>
              <a:rPr lang="en-US" dirty="0"/>
              <a:t>constant over time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 dirty="0"/>
              <a:t>multiplicative</a:t>
            </a:r>
            <a:r>
              <a:rPr lang="en-US" dirty="0"/>
              <a:t>, if the </a:t>
            </a:r>
            <a:r>
              <a:rPr lang="en-US" dirty="0" smtClean="0"/>
              <a:t>errors tend </a:t>
            </a:r>
            <a:r>
              <a:rPr lang="en-US" dirty="0"/>
              <a:t>to increase when the series values </a:t>
            </a:r>
            <a:r>
              <a:rPr lang="en-US" dirty="0" smtClean="0"/>
              <a:t>increase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886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essence, the role of forecasting is to separate the systematic component from the noise.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the systematic component helps us make forecasts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the noise allows us to estimate the forecast </a:t>
            </a:r>
            <a:r>
              <a:rPr lang="en-US" dirty="0" smtClean="0"/>
              <a:t>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71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Time series components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47" y="1200150"/>
            <a:ext cx="4376863" cy="3505200"/>
          </a:xfrm>
        </p:spPr>
      </p:pic>
    </p:spTree>
    <p:extLst>
      <p:ext uri="{BB962C8B-B14F-4D97-AF65-F5344CB8AC3E}">
        <p14:creationId xmlns:p14="http://schemas.microsoft.com/office/powerpoint/2010/main" val="359403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series components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005426"/>
            <a:ext cx="4648200" cy="3722499"/>
          </a:xfrm>
        </p:spPr>
      </p:pic>
    </p:spTree>
    <p:extLst>
      <p:ext uri="{BB962C8B-B14F-4D97-AF65-F5344CB8AC3E}">
        <p14:creationId xmlns:p14="http://schemas.microsoft.com/office/powerpoint/2010/main" val="95827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Zooming into Time Series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25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time series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500" y="1040351"/>
            <a:ext cx="4766700" cy="3817399"/>
          </a:xfrm>
        </p:spPr>
      </p:pic>
    </p:spTree>
    <p:extLst>
      <p:ext uri="{BB962C8B-B14F-4D97-AF65-F5344CB8AC3E}">
        <p14:creationId xmlns:p14="http://schemas.microsoft.com/office/powerpoint/2010/main" val="3031267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time series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48" y="1200150"/>
            <a:ext cx="4481252" cy="3588799"/>
          </a:xfrm>
        </p:spPr>
      </p:pic>
    </p:spTree>
    <p:extLst>
      <p:ext uri="{BB962C8B-B14F-4D97-AF65-F5344CB8AC3E}">
        <p14:creationId xmlns:p14="http://schemas.microsoft.com/office/powerpoint/2010/main" val="3645975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time series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047750"/>
            <a:ext cx="4567162" cy="3657600"/>
          </a:xfrm>
        </p:spPr>
      </p:pic>
    </p:spTree>
    <p:extLst>
      <p:ext uri="{BB962C8B-B14F-4D97-AF65-F5344CB8AC3E}">
        <p14:creationId xmlns:p14="http://schemas.microsoft.com/office/powerpoint/2010/main" val="2768309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time series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48" y="1200150"/>
            <a:ext cx="4472012" cy="3581400"/>
          </a:xfrm>
        </p:spPr>
      </p:pic>
    </p:spTree>
    <p:extLst>
      <p:ext uri="{BB962C8B-B14F-4D97-AF65-F5344CB8AC3E}">
        <p14:creationId xmlns:p14="http://schemas.microsoft.com/office/powerpoint/2010/main" val="401779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Adding Trend Lines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314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trend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Adding trend lines to time series is a practical way to get the most appropriate trend shape (linear or non-linear).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quick way to add </a:t>
            </a:r>
            <a:r>
              <a:rPr lang="en-US"/>
              <a:t>a </a:t>
            </a:r>
            <a:r>
              <a:rPr lang="en-US" smtClean="0"/>
              <a:t>trend </a:t>
            </a:r>
            <a:r>
              <a:rPr lang="en-US" dirty="0"/>
              <a:t>is to use the Excel program.</a:t>
            </a:r>
          </a:p>
        </p:txBody>
      </p:sp>
    </p:spTree>
    <p:extLst>
      <p:ext uri="{BB962C8B-B14F-4D97-AF65-F5344CB8AC3E}">
        <p14:creationId xmlns:p14="http://schemas.microsoft.com/office/powerpoint/2010/main" val="2941188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Suppressing Seasonality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66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Suppressing seasonality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dirty="0" smtClean="0"/>
              <a:t>three </a:t>
            </a:r>
            <a:r>
              <a:rPr lang="en-US" dirty="0"/>
              <a:t>ways to eliminate seasonality: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aggregate </a:t>
            </a:r>
            <a:r>
              <a:rPr lang="en-US" dirty="0" smtClean="0"/>
              <a:t>data (for </a:t>
            </a:r>
            <a:r>
              <a:rPr lang="en-US" dirty="0"/>
              <a:t>example, if we convert the series data from monthly to yearly, seasonality will probably </a:t>
            </a:r>
            <a:r>
              <a:rPr lang="en-US" dirty="0" smtClean="0"/>
              <a:t>disappear)</a:t>
            </a: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plot and analyze data for each season separately (for example, cold season and warm season)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dirty="0" smtClean="0"/>
              <a:t>the moving </a:t>
            </a:r>
            <a:r>
              <a:rPr lang="en-US" dirty="0"/>
              <a:t>average </a:t>
            </a:r>
          </a:p>
        </p:txBody>
      </p:sp>
    </p:spTree>
    <p:extLst>
      <p:ext uri="{BB962C8B-B14F-4D97-AF65-F5344CB8AC3E}">
        <p14:creationId xmlns:p14="http://schemas.microsoft.com/office/powerpoint/2010/main" val="960666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Suppressing seasonality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135251"/>
            <a:ext cx="4648200" cy="3722499"/>
          </a:xfrm>
        </p:spPr>
      </p:pic>
    </p:spTree>
    <p:extLst>
      <p:ext uri="{BB962C8B-B14F-4D97-AF65-F5344CB8AC3E}">
        <p14:creationId xmlns:p14="http://schemas.microsoft.com/office/powerpoint/2010/main" val="1909031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Suppressing seasonality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48" y="1200150"/>
            <a:ext cx="4238104" cy="3394075"/>
          </a:xfrm>
        </p:spPr>
      </p:pic>
    </p:spTree>
    <p:extLst>
      <p:ext uri="{BB962C8B-B14F-4D97-AF65-F5344CB8AC3E}">
        <p14:creationId xmlns:p14="http://schemas.microsoft.com/office/powerpoint/2010/main" val="2042966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Suppressing seasonality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48" y="1200150"/>
            <a:ext cx="4472012" cy="3581400"/>
          </a:xfrm>
        </p:spPr>
      </p:pic>
    </p:spTree>
    <p:extLst>
      <p:ext uri="{BB962C8B-B14F-4D97-AF65-F5344CB8AC3E}">
        <p14:creationId xmlns:p14="http://schemas.microsoft.com/office/powerpoint/2010/main" val="1747221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524</Words>
  <Application>Microsoft Office PowerPoint</Application>
  <PresentationFormat>On-screen Show (16:9)</PresentationFormat>
  <Paragraphs>73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Temă Office</vt:lpstr>
      <vt:lpstr>Time Series Data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Time series components</vt:lpstr>
      <vt:lpstr>Zooming into Time Series</vt:lpstr>
      <vt:lpstr>Zooming into time series</vt:lpstr>
      <vt:lpstr>Zooming into time series</vt:lpstr>
      <vt:lpstr>Zooming into time series</vt:lpstr>
      <vt:lpstr>Zooming into time series</vt:lpstr>
      <vt:lpstr>Adding Trend Lines</vt:lpstr>
      <vt:lpstr>Adding trend lines</vt:lpstr>
      <vt:lpstr>Suppressing Seasonality</vt:lpstr>
      <vt:lpstr>Suppressing seasonality</vt:lpstr>
      <vt:lpstr>Suppressing seasonality</vt:lpstr>
      <vt:lpstr>Suppressing seasonality</vt:lpstr>
      <vt:lpstr>Suppressing seasonality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56</cp:revision>
  <dcterms:created xsi:type="dcterms:W3CDTF">2014-10-10T10:38:27Z</dcterms:created>
  <dcterms:modified xsi:type="dcterms:W3CDTF">2022-05-31T14:29:07Z</dcterms:modified>
</cp:coreProperties>
</file>