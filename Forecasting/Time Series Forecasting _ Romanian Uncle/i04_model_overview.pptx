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9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90" r:id="rId13"/>
    <p:sldId id="286" r:id="rId14"/>
    <p:sldId id="287" r:id="rId15"/>
    <p:sldId id="288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370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Forecasting Methods: </a:t>
            </a:r>
            <a:b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</a:br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 Brief Summary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forecasting techniques can be divided into two big groups: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d</a:t>
            </a:r>
            <a:r>
              <a:rPr lang="en-US" dirty="0" smtClean="0"/>
              <a:t>ata-driven </a:t>
            </a:r>
            <a:r>
              <a:rPr lang="en-US" dirty="0"/>
              <a:t>techniques</a:t>
            </a:r>
          </a:p>
          <a:p>
            <a:pPr lvl="0"/>
            <a:r>
              <a:rPr lang="en-US" dirty="0"/>
              <a:t>m</a:t>
            </a:r>
            <a:r>
              <a:rPr lang="en-US" dirty="0" smtClean="0"/>
              <a:t>odel-based techniques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Data-Driven Methods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826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The data-driven </a:t>
            </a:r>
            <a:r>
              <a:rPr lang="en-US" dirty="0"/>
              <a:t>methods try to “learn” patterns from the series and use them to make predictions about the future values.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They </a:t>
            </a:r>
            <a:r>
              <a:rPr lang="en-US" dirty="0"/>
              <a:t>are advantageous when our time series presents changes that are difficult to “capture” using a forecasting model.</a:t>
            </a:r>
          </a:p>
        </p:txBody>
      </p:sp>
    </p:spTree>
    <p:extLst>
      <p:ext uri="{BB962C8B-B14F-4D97-AF65-F5344CB8AC3E}">
        <p14:creationId xmlns:p14="http://schemas.microsoft.com/office/powerpoint/2010/main" val="560704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These </a:t>
            </a:r>
            <a:r>
              <a:rPr lang="en-US" dirty="0"/>
              <a:t>methods require a bigger amount of information, </a:t>
            </a:r>
            <a:r>
              <a:rPr lang="en-US" dirty="0" smtClean="0"/>
              <a:t>i.e. a </a:t>
            </a:r>
            <a:r>
              <a:rPr lang="en-US" dirty="0"/>
              <a:t>larger time series.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our series has too few data points, the method doesn’t get a chance to “learn” the data properly, so the forecasting accuracy could be unsatisfactory.</a:t>
            </a:r>
          </a:p>
        </p:txBody>
      </p:sp>
    </p:spTree>
    <p:extLst>
      <p:ext uri="{BB962C8B-B14F-4D97-AF65-F5344CB8AC3E}">
        <p14:creationId xmlns:p14="http://schemas.microsoft.com/office/powerpoint/2010/main" val="111054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simplest data-driven technique is the </a:t>
            </a:r>
            <a:r>
              <a:rPr lang="en-US" b="1" dirty="0"/>
              <a:t>naïve forecast</a:t>
            </a:r>
            <a:r>
              <a:rPr lang="en-US" dirty="0"/>
              <a:t>. The naïve forecast uses the last data value in the series to produce a forecast for the future periods. For example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if the last month sales value was $20,000, we forecast the same value for the next month (or </a:t>
            </a:r>
            <a:r>
              <a:rPr lang="en-US" dirty="0" smtClean="0"/>
              <a:t>the </a:t>
            </a:r>
            <a:r>
              <a:rPr lang="en-US" dirty="0"/>
              <a:t>next </a:t>
            </a:r>
            <a:r>
              <a:rPr lang="en-US" dirty="0" smtClean="0"/>
              <a:t>several </a:t>
            </a:r>
            <a:r>
              <a:rPr lang="en-US" dirty="0"/>
              <a:t>months)</a:t>
            </a:r>
          </a:p>
          <a:p>
            <a:pPr lvl="0"/>
            <a:r>
              <a:rPr lang="en-US" dirty="0"/>
              <a:t>if today’s Apple stock price was $125.50, we forecast the same price level for </a:t>
            </a:r>
            <a:r>
              <a:rPr lang="en-US" dirty="0" smtClean="0"/>
              <a:t>tomorrow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1423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naïve forecast </a:t>
            </a:r>
            <a:r>
              <a:rPr lang="en-US" dirty="0" smtClean="0"/>
              <a:t>formula: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F</a:t>
            </a:r>
            <a:r>
              <a:rPr lang="en-US" baseline="-25000" dirty="0"/>
              <a:t>t + k</a:t>
            </a:r>
            <a:r>
              <a:rPr lang="en-US" dirty="0"/>
              <a:t> = </a:t>
            </a:r>
            <a:r>
              <a:rPr lang="en-US" dirty="0" err="1"/>
              <a:t>y</a:t>
            </a:r>
            <a:r>
              <a:rPr lang="en-US" baseline="-25000" dirty="0" err="1"/>
              <a:t>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So the k-step ahead forecasts are equal to the value in the last period.)</a:t>
            </a:r>
          </a:p>
        </p:txBody>
      </p:sp>
    </p:spTree>
    <p:extLst>
      <p:ext uri="{BB962C8B-B14F-4D97-AF65-F5344CB8AC3E}">
        <p14:creationId xmlns:p14="http://schemas.microsoft.com/office/powerpoint/2010/main" val="4251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special case of naïve forecasting is the </a:t>
            </a:r>
            <a:r>
              <a:rPr lang="en-US" i="1" dirty="0"/>
              <a:t>naïve seasonal</a:t>
            </a:r>
            <a:r>
              <a:rPr lang="en-US" dirty="0"/>
              <a:t> </a:t>
            </a:r>
            <a:r>
              <a:rPr lang="en-US" i="1" dirty="0"/>
              <a:t>forecasting</a:t>
            </a:r>
            <a:r>
              <a:rPr lang="en-US" dirty="0"/>
              <a:t>. In this situation, the forecast value for the next period is equal to the identical value in the last season.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/>
              <a:t>example, if we have a series with a yearly seasonal pattern (12 months) and want to make a forecast for September (next month), then we use the value in September last year.</a:t>
            </a:r>
          </a:p>
        </p:txBody>
      </p:sp>
    </p:spTree>
    <p:extLst>
      <p:ext uri="{BB962C8B-B14F-4D97-AF65-F5344CB8AC3E}">
        <p14:creationId xmlns:p14="http://schemas.microsoft.com/office/powerpoint/2010/main" val="413784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naïve forecast output is used as a comparison basis or benchmark for other methods.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Any </a:t>
            </a:r>
            <a:r>
              <a:rPr lang="en-US" dirty="0"/>
              <a:t>time we make a forecast using an advanced method we should ask ourselves: is this method more effective than naïve forecasting? Does it produce more accurate forecasts? </a:t>
            </a:r>
          </a:p>
        </p:txBody>
      </p:sp>
    </p:spTree>
    <p:extLst>
      <p:ext uri="{BB962C8B-B14F-4D97-AF65-F5344CB8AC3E}">
        <p14:creationId xmlns:p14="http://schemas.microsoft.com/office/powerpoint/2010/main" val="123953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500" dirty="0" smtClean="0"/>
          </a:p>
          <a:p>
            <a:pPr marL="0" indent="0">
              <a:buNone/>
            </a:pPr>
            <a:r>
              <a:rPr lang="en-US" sz="2500" dirty="0" smtClean="0"/>
              <a:t>1. Methods </a:t>
            </a:r>
            <a:r>
              <a:rPr lang="en-US" sz="2500" dirty="0"/>
              <a:t>that are suitable for series without trend and seasonality, and here we have:</a:t>
            </a:r>
          </a:p>
          <a:p>
            <a:pPr marL="0" indent="0">
              <a:buNone/>
            </a:pPr>
            <a:endParaRPr lang="en-US" sz="25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500" dirty="0"/>
              <a:t>moving average (simple and weighted)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500" dirty="0"/>
              <a:t>simple exponential </a:t>
            </a:r>
            <a:r>
              <a:rPr lang="en-US" sz="2500" dirty="0" smtClean="0"/>
              <a:t>smoothing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46694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400" dirty="0" smtClean="0"/>
              <a:t>2. Methods </a:t>
            </a:r>
            <a:r>
              <a:rPr lang="en-US" sz="1400" dirty="0"/>
              <a:t>that are adequate for series with trend and seasonality. We can divide them into two categories:</a:t>
            </a:r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r>
              <a:rPr lang="en-US" sz="1400" dirty="0" smtClean="0"/>
              <a:t>2.1. Advanced </a:t>
            </a:r>
            <a:r>
              <a:rPr lang="en-US" sz="1400" dirty="0"/>
              <a:t>exponential smoothing techniques:</a:t>
            </a:r>
          </a:p>
          <a:p>
            <a:pPr marL="0" indent="0">
              <a:buNone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Holt – for series with trend only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Holt-Winters – for series with trend and seasonality</a:t>
            </a:r>
          </a:p>
          <a:p>
            <a:pPr marL="0" indent="0">
              <a:buNone/>
            </a:pPr>
            <a:endParaRPr lang="en-US" sz="1400" dirty="0"/>
          </a:p>
          <a:p>
            <a:pPr marL="457200" lvl="1" indent="0">
              <a:buNone/>
            </a:pPr>
            <a:r>
              <a:rPr lang="en-US" sz="1400" dirty="0" smtClean="0"/>
              <a:t>2.2. Extended </a:t>
            </a:r>
            <a:r>
              <a:rPr lang="en-US" sz="1400" dirty="0"/>
              <a:t>exponential smoothing methods, for series with double seasonality:</a:t>
            </a:r>
          </a:p>
          <a:p>
            <a:pPr marL="0" indent="0">
              <a:buNone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TBATS (</a:t>
            </a:r>
            <a:r>
              <a:rPr lang="en-US" sz="1400" b="1" dirty="0"/>
              <a:t>T</a:t>
            </a:r>
            <a:r>
              <a:rPr lang="en-US" sz="1400" dirty="0"/>
              <a:t>rigonometric seasonality, </a:t>
            </a:r>
            <a:r>
              <a:rPr lang="en-US" sz="1400" b="1" dirty="0"/>
              <a:t>B</a:t>
            </a:r>
            <a:r>
              <a:rPr lang="en-US" sz="1400" dirty="0"/>
              <a:t>ox-Cox transformation, </a:t>
            </a:r>
            <a:r>
              <a:rPr lang="en-US" sz="1400" b="1" dirty="0"/>
              <a:t>A</a:t>
            </a:r>
            <a:r>
              <a:rPr lang="en-US" sz="1400" dirty="0"/>
              <a:t>RMA errors, </a:t>
            </a:r>
            <a:r>
              <a:rPr lang="en-US" sz="1400" b="1" dirty="0"/>
              <a:t>T</a:t>
            </a:r>
            <a:r>
              <a:rPr lang="en-US" sz="1400" dirty="0"/>
              <a:t>rend components, </a:t>
            </a:r>
            <a:r>
              <a:rPr lang="en-US" sz="1400" b="1" dirty="0"/>
              <a:t>S</a:t>
            </a:r>
            <a:r>
              <a:rPr lang="en-US" sz="1400" dirty="0"/>
              <a:t>easonal components)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STLM (</a:t>
            </a:r>
            <a:r>
              <a:rPr lang="en-US" sz="1400" b="1" dirty="0"/>
              <a:t>S</a:t>
            </a:r>
            <a:r>
              <a:rPr lang="en-US" sz="1400" dirty="0"/>
              <a:t>easonal components, </a:t>
            </a:r>
            <a:r>
              <a:rPr lang="en-US" sz="1400" b="1" dirty="0"/>
              <a:t>T</a:t>
            </a:r>
            <a:r>
              <a:rPr lang="en-US" sz="1400" dirty="0"/>
              <a:t>rend components, error components computed using the </a:t>
            </a:r>
            <a:r>
              <a:rPr lang="en-US" sz="1400" b="1" dirty="0"/>
              <a:t>L</a:t>
            </a:r>
            <a:r>
              <a:rPr lang="en-US" sz="1400" dirty="0"/>
              <a:t>oess method, AR</a:t>
            </a:r>
            <a:r>
              <a:rPr lang="en-US" sz="1400" b="1" dirty="0"/>
              <a:t>M</a:t>
            </a:r>
            <a:r>
              <a:rPr lang="en-US" sz="1400" dirty="0"/>
              <a:t>A errors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4871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Model-Based Methods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036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Model-based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/>
              <a:t>The model based techniques use a mathematical or statistical method to approximate the time series. If the model is a good fit, we can use it to make forecasts for the future moments in time. </a:t>
            </a:r>
            <a:endParaRPr lang="en-US" sz="2500" dirty="0" smtClean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 smtClean="0"/>
              <a:t>Here’s </a:t>
            </a:r>
            <a:r>
              <a:rPr lang="en-US" sz="2500" dirty="0"/>
              <a:t>an example of a linear model with trend:</a:t>
            </a:r>
          </a:p>
          <a:p>
            <a:pPr marL="0" indent="0">
              <a:buNone/>
            </a:pPr>
            <a:endParaRPr lang="en-US" sz="2500" dirty="0"/>
          </a:p>
          <a:p>
            <a:pPr marL="0" indent="0" algn="ctr">
              <a:buNone/>
            </a:pPr>
            <a:r>
              <a:rPr lang="en-US" sz="2500" dirty="0" err="1"/>
              <a:t>y</a:t>
            </a:r>
            <a:r>
              <a:rPr lang="en-US" sz="2500" baseline="-25000" dirty="0" err="1"/>
              <a:t>t</a:t>
            </a:r>
            <a:r>
              <a:rPr lang="en-US" sz="2500" dirty="0"/>
              <a:t> = β</a:t>
            </a:r>
            <a:r>
              <a:rPr lang="en-US" sz="2500" baseline="-25000" dirty="0"/>
              <a:t>0</a:t>
            </a:r>
            <a:r>
              <a:rPr lang="en-US" sz="2500" dirty="0"/>
              <a:t> + β</a:t>
            </a:r>
            <a:r>
              <a:rPr lang="en-US" sz="2500" baseline="-25000" dirty="0"/>
              <a:t>1</a:t>
            </a:r>
            <a:r>
              <a:rPr lang="en-US" sz="2500" dirty="0"/>
              <a:t>t + e</a:t>
            </a:r>
            <a:r>
              <a:rPr lang="en-US" sz="2500" baseline="-25000" dirty="0"/>
              <a:t>t</a:t>
            </a:r>
            <a:endParaRPr lang="en-US" sz="2500" dirty="0"/>
          </a:p>
          <a:p>
            <a:pPr marL="0" lv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1584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Model-based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These models </a:t>
            </a:r>
            <a:r>
              <a:rPr lang="en-US" sz="2800" dirty="0"/>
              <a:t>are particularly beneficial when our time series is short (doesn’t have enough data points to be appropriate for a data-driven approach).</a:t>
            </a:r>
          </a:p>
          <a:p>
            <a:pPr marL="0" lv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5547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Model-based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Model </a:t>
            </a:r>
            <a:r>
              <a:rPr lang="en-US" sz="2000" dirty="0"/>
              <a:t>based </a:t>
            </a:r>
            <a:r>
              <a:rPr lang="en-US" sz="2000" dirty="0" smtClean="0"/>
              <a:t>techniques: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regression models with linear trend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regression models with non-linear trend (quadratic, cubic and exponential)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regression models with trend and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autoregressive models (ARIMA – </a:t>
            </a:r>
            <a:r>
              <a:rPr lang="en-US" sz="2000" b="1" dirty="0" err="1"/>
              <a:t>A</a:t>
            </a:r>
            <a:r>
              <a:rPr lang="en-US" sz="2000" dirty="0" err="1"/>
              <a:t>uto</a:t>
            </a:r>
            <a:r>
              <a:rPr lang="en-US" sz="2000" b="1" dirty="0" err="1"/>
              <a:t>R</a:t>
            </a:r>
            <a:r>
              <a:rPr lang="en-US" sz="2000" dirty="0" err="1"/>
              <a:t>egressive</a:t>
            </a:r>
            <a:r>
              <a:rPr lang="en-US" sz="2000" dirty="0"/>
              <a:t> </a:t>
            </a:r>
            <a:r>
              <a:rPr lang="en-US" sz="2000" b="1" dirty="0"/>
              <a:t>I</a:t>
            </a:r>
            <a:r>
              <a:rPr lang="en-US" sz="2000" dirty="0"/>
              <a:t>ntegrated </a:t>
            </a:r>
            <a:r>
              <a:rPr lang="en-US" sz="2000" b="1" dirty="0"/>
              <a:t>M</a:t>
            </a:r>
            <a:r>
              <a:rPr lang="en-US" sz="2000" dirty="0"/>
              <a:t>oving </a:t>
            </a:r>
            <a:r>
              <a:rPr lang="en-US" sz="2000" b="1" dirty="0"/>
              <a:t>A</a:t>
            </a:r>
            <a:r>
              <a:rPr lang="en-US" sz="2000" dirty="0"/>
              <a:t>verage)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neural networks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59197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597</Words>
  <Application>Microsoft Office PowerPoint</Application>
  <PresentationFormat>On-screen Show (16:9)</PresentationFormat>
  <Paragraphs>70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Temă Office</vt:lpstr>
      <vt:lpstr>Forecasting Methods:  A Brief Summary</vt:lpstr>
      <vt:lpstr>Forecasting methods</vt:lpstr>
      <vt:lpstr>Data-Driven Methods</vt:lpstr>
      <vt:lpstr>Data-driven methods</vt:lpstr>
      <vt:lpstr>Data-driven methods</vt:lpstr>
      <vt:lpstr>Data-driven methods</vt:lpstr>
      <vt:lpstr>Data-driven methods</vt:lpstr>
      <vt:lpstr>Data-driven methods</vt:lpstr>
      <vt:lpstr>Data-driven methods</vt:lpstr>
      <vt:lpstr>Data-driven methods</vt:lpstr>
      <vt:lpstr>Data-driven methods</vt:lpstr>
      <vt:lpstr>Model-Based Methods</vt:lpstr>
      <vt:lpstr>Model-based methods</vt:lpstr>
      <vt:lpstr>Model-based methods</vt:lpstr>
      <vt:lpstr>Model-based methods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84</cp:revision>
  <dcterms:created xsi:type="dcterms:W3CDTF">2014-10-10T10:38:27Z</dcterms:created>
  <dcterms:modified xsi:type="dcterms:W3CDTF">2022-05-30T08:05:31Z</dcterms:modified>
</cp:coreProperties>
</file>