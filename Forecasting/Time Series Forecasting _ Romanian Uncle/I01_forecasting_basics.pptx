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2"/>
    <p:sldId id="276" r:id="rId2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0" d="100"/>
          <a:sy n="110" d="100"/>
        </p:scale>
        <p:origin x="-658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 smtClean="0"/>
              <a:t>Clic pentru a edita stilul de subtitlu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3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95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57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57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7" name="Substituent dată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8" name="Substituent subsol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stituent număr diapozitiv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1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dată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1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3" name="Substituent subsol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11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2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imagine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60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26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55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90478-133C-46F1-90F4-8C4DA2D1FDEE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17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dirty="0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Forecasting Basics</a:t>
            </a:r>
            <a:endParaRPr lang="en-US" sz="4200" b="1" dirty="0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516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u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…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ubstituent conținut 4"/>
          <p:cNvSpPr>
            <a:spLocks noGrp="1"/>
          </p:cNvSpPr>
          <p:nvPr>
            <p:ph idx="1"/>
          </p:nvPr>
        </p:nvSpPr>
        <p:spPr>
          <a:xfrm>
            <a:off x="457200" y="666750"/>
            <a:ext cx="8229600" cy="39278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Forecasting is a technique that uses historical data to make estimates about the future evolutions (trends).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Through </a:t>
            </a:r>
            <a:r>
              <a:rPr lang="en-US" dirty="0"/>
              <a:t>forecasting we try to predict what will happen in the future based on what happened in the past.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912308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u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…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ubstituent conținut 4"/>
          <p:cNvSpPr>
            <a:spLocks noGrp="1"/>
          </p:cNvSpPr>
          <p:nvPr>
            <p:ph idx="1"/>
          </p:nvPr>
        </p:nvSpPr>
        <p:spPr>
          <a:xfrm>
            <a:off x="457200" y="666750"/>
            <a:ext cx="8229600" cy="392787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Forecasting can be used in any organization (company or institution) that works with quantitative </a:t>
            </a:r>
            <a:r>
              <a:rPr lang="en-US" dirty="0" smtClean="0"/>
              <a:t>data like:</a:t>
            </a:r>
          </a:p>
          <a:p>
            <a:pPr marL="0" indent="0">
              <a:buNone/>
            </a:pPr>
            <a:endParaRPr lang="en-US" dirty="0" smtClean="0"/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production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inventory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number of customers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market demand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sales volume (or sales value)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prices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revenue and profit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costs/expenditures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inflation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unemployment rate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traffic and so on.</a:t>
            </a:r>
          </a:p>
          <a:p>
            <a:pPr marL="0" indent="0"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500728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Forecasting </a:t>
            </a:r>
            <a:r>
              <a:rPr lang="en-US" sz="4200" b="1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S</a:t>
            </a:r>
            <a:r>
              <a:rPr lang="en-US" sz="4200" b="1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teps</a:t>
            </a:r>
            <a:endParaRPr lang="en-US" sz="4200" b="1" dirty="0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61230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Forecasting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300" dirty="0" smtClean="0"/>
              <a:t>Set the forecasting goal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300" dirty="0" smtClean="0"/>
              <a:t>Collect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300" dirty="0" smtClean="0"/>
              <a:t>Explore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300" dirty="0" smtClean="0"/>
              <a:t>Set the forecasting horizon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300" dirty="0" smtClean="0"/>
              <a:t>Choose a forecasting technique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300" dirty="0" smtClean="0"/>
              <a:t>Apply the technique and make forecasts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300" dirty="0" smtClean="0"/>
              <a:t>Evaluate the forecast performance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300" dirty="0" smtClean="0"/>
              <a:t>Adapt or change the forecasting model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3845818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Forecasting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/>
              <a:t>1. Set the forecasting goal</a:t>
            </a:r>
          </a:p>
          <a:p>
            <a:pPr marL="0" indent="0">
              <a:buNone/>
            </a:pPr>
            <a:endParaRPr lang="en-US" sz="2300" dirty="0" smtClean="0"/>
          </a:p>
          <a:p>
            <a:pPr marL="0" indent="0">
              <a:buNone/>
            </a:pPr>
            <a:r>
              <a:rPr lang="en-US" sz="2400" dirty="0" smtClean="0"/>
              <a:t>Determine: </a:t>
            </a: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why </a:t>
            </a:r>
            <a:r>
              <a:rPr lang="en-US" sz="2400" dirty="0"/>
              <a:t>we want to make </a:t>
            </a:r>
            <a:r>
              <a:rPr lang="en-US" sz="2400" dirty="0" smtClean="0"/>
              <a:t>forecasts 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what </a:t>
            </a:r>
            <a:r>
              <a:rPr lang="en-US" sz="2400" dirty="0"/>
              <a:t>type of forecasts we need 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how </a:t>
            </a:r>
            <a:r>
              <a:rPr lang="en-US" sz="2400" dirty="0"/>
              <a:t>we are going to use </a:t>
            </a:r>
            <a:r>
              <a:rPr lang="en-US" sz="2400" dirty="0" smtClean="0"/>
              <a:t>them</a:t>
            </a:r>
            <a:endParaRPr lang="en-US" sz="2300" dirty="0" smtClean="0"/>
          </a:p>
        </p:txBody>
      </p:sp>
    </p:spTree>
    <p:extLst>
      <p:ext uri="{BB962C8B-B14F-4D97-AF65-F5344CB8AC3E}">
        <p14:creationId xmlns:p14="http://schemas.microsoft.com/office/powerpoint/2010/main" val="3200036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Forecasting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700" dirty="0"/>
              <a:t>There are two main goals of using time series data:</a:t>
            </a:r>
          </a:p>
          <a:p>
            <a:pPr marL="0" indent="0">
              <a:buNone/>
            </a:pPr>
            <a:endParaRPr lang="en-US" sz="27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700" dirty="0"/>
              <a:t>predictive goals (time series </a:t>
            </a:r>
            <a:r>
              <a:rPr lang="en-US" sz="2700" i="1" dirty="0"/>
              <a:t>forecasting</a:t>
            </a:r>
            <a:r>
              <a:rPr lang="en-US" sz="2700" dirty="0"/>
              <a:t>)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700" dirty="0"/>
              <a:t>descriptive goals (time series </a:t>
            </a:r>
            <a:r>
              <a:rPr lang="en-US" sz="2700" i="1" dirty="0"/>
              <a:t>analysis</a:t>
            </a:r>
            <a:r>
              <a:rPr lang="en-US" sz="2700" dirty="0"/>
              <a:t>)</a:t>
            </a:r>
          </a:p>
          <a:p>
            <a:pPr marL="0" indent="0">
              <a:buNone/>
            </a:pP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2534172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Forecasting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700" dirty="0"/>
              <a:t>There are two main goals of using time series data:</a:t>
            </a:r>
          </a:p>
          <a:p>
            <a:pPr marL="0" indent="0">
              <a:buNone/>
            </a:pPr>
            <a:endParaRPr lang="en-US" sz="27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700" dirty="0"/>
              <a:t>predictive goals (time series </a:t>
            </a:r>
            <a:r>
              <a:rPr lang="en-US" sz="2700" i="1" dirty="0"/>
              <a:t>forecasting</a:t>
            </a:r>
            <a:r>
              <a:rPr lang="en-US" sz="2700" dirty="0"/>
              <a:t>)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700" dirty="0"/>
              <a:t>descriptive goals (time series </a:t>
            </a:r>
            <a:r>
              <a:rPr lang="en-US" sz="2700" i="1" dirty="0"/>
              <a:t>analysis</a:t>
            </a:r>
            <a:r>
              <a:rPr lang="en-US" sz="2700" dirty="0"/>
              <a:t>)</a:t>
            </a:r>
          </a:p>
          <a:p>
            <a:pPr marL="0" indent="0">
              <a:buNone/>
            </a:pP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2680831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Forecasting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T</a:t>
            </a:r>
            <a:r>
              <a:rPr lang="en-US" sz="2200" dirty="0" smtClean="0"/>
              <a:t>imes </a:t>
            </a:r>
            <a:r>
              <a:rPr lang="en-US" sz="2200" dirty="0"/>
              <a:t>series </a:t>
            </a:r>
            <a:r>
              <a:rPr lang="en-US" sz="2200" i="1" dirty="0"/>
              <a:t>forecasting</a:t>
            </a:r>
            <a:r>
              <a:rPr lang="en-US" sz="2200" dirty="0"/>
              <a:t> aims to predict (estimate) future values using past </a:t>
            </a:r>
            <a:r>
              <a:rPr lang="en-US" sz="2200" dirty="0" smtClean="0"/>
              <a:t>values:</a:t>
            </a:r>
          </a:p>
          <a:p>
            <a:pPr marL="0" indent="0">
              <a:buNone/>
            </a:pPr>
            <a:r>
              <a:rPr lang="en-US" sz="2200" dirty="0"/>
              <a:t> 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200" dirty="0"/>
              <a:t>how will our company sales look in the next few months?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200" dirty="0"/>
              <a:t>what will the oil price be next week?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200" dirty="0"/>
              <a:t>how many paying customers will we have the next month?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200" dirty="0"/>
              <a:t>how will the Apple stock price will change in the next days</a:t>
            </a:r>
            <a:r>
              <a:rPr lang="en-US" sz="2200" dirty="0" smtClean="0"/>
              <a:t>?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109116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Forecasting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700" dirty="0"/>
              <a:t>T</a:t>
            </a:r>
            <a:r>
              <a:rPr lang="en-US" sz="2700" dirty="0" smtClean="0"/>
              <a:t>ime </a:t>
            </a:r>
            <a:r>
              <a:rPr lang="en-US" sz="2700" dirty="0"/>
              <a:t>series </a:t>
            </a:r>
            <a:r>
              <a:rPr lang="en-US" sz="2700" i="1" dirty="0"/>
              <a:t>analysis</a:t>
            </a:r>
            <a:r>
              <a:rPr lang="en-US" sz="2700" dirty="0"/>
              <a:t> tries to describe the series by determining its components (trend, cycles, seasonal patterns, relationship with other data etc</a:t>
            </a:r>
            <a:r>
              <a:rPr lang="en-US" sz="2700" dirty="0" smtClean="0"/>
              <a:t>.).</a:t>
            </a:r>
          </a:p>
          <a:p>
            <a:pPr marL="0" indent="0">
              <a:buNone/>
            </a:pPr>
            <a:endParaRPr lang="en-US" sz="2700" dirty="0"/>
          </a:p>
          <a:p>
            <a:pPr marL="0" indent="0">
              <a:buNone/>
            </a:pPr>
            <a:r>
              <a:rPr lang="en-US" sz="2700" dirty="0" smtClean="0"/>
              <a:t>The </a:t>
            </a:r>
            <a:r>
              <a:rPr lang="en-US" sz="2700" dirty="0"/>
              <a:t>purpose is </a:t>
            </a:r>
            <a:r>
              <a:rPr lang="en-US" sz="2700" b="1" dirty="0"/>
              <a:t>not</a:t>
            </a:r>
            <a:r>
              <a:rPr lang="en-US" sz="2700" dirty="0"/>
              <a:t> forecasting but decision making. </a:t>
            </a:r>
          </a:p>
        </p:txBody>
      </p:sp>
    </p:spTree>
    <p:extLst>
      <p:ext uri="{BB962C8B-B14F-4D97-AF65-F5344CB8AC3E}">
        <p14:creationId xmlns:p14="http://schemas.microsoft.com/office/powerpoint/2010/main" val="1217290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Forecasting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For </a:t>
            </a:r>
            <a:r>
              <a:rPr lang="en-US" sz="2200" dirty="0" smtClean="0"/>
              <a:t>example:</a:t>
            </a:r>
          </a:p>
          <a:p>
            <a:pPr marL="0" indent="0">
              <a:buNone/>
            </a:pPr>
            <a:endParaRPr lang="en-US" sz="22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 smtClean="0"/>
              <a:t>a </a:t>
            </a:r>
            <a:r>
              <a:rPr lang="en-US" sz="2200" dirty="0"/>
              <a:t>retail company could analyze the evolution of its merchandise inventory over the last years to determine the most appropriate supply policies and avoid unwanted situations like </a:t>
            </a:r>
            <a:r>
              <a:rPr lang="en-US" sz="2200" dirty="0" smtClean="0"/>
              <a:t>stock-out </a:t>
            </a:r>
            <a:r>
              <a:rPr lang="en-US" sz="2200" dirty="0"/>
              <a:t>or excess </a:t>
            </a:r>
            <a:r>
              <a:rPr lang="en-US" sz="2200" dirty="0" smtClean="0"/>
              <a:t>inventory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 smtClean="0"/>
              <a:t>a </a:t>
            </a:r>
            <a:r>
              <a:rPr lang="en-US" sz="2200" dirty="0"/>
              <a:t>passenger transportation company could investigate the ridership patterns in different periods of the year for planning the number and capacity of the vehicles to be </a:t>
            </a:r>
            <a:r>
              <a:rPr lang="en-US" sz="2200" dirty="0" smtClean="0"/>
              <a:t>used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30385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Forecasting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en-US" sz="2900" dirty="0" smtClean="0"/>
          </a:p>
          <a:p>
            <a:pPr marL="0" indent="0">
              <a:buNone/>
            </a:pPr>
            <a:endParaRPr lang="en-US" sz="2900" dirty="0"/>
          </a:p>
          <a:p>
            <a:pPr marL="0" indent="0">
              <a:buNone/>
            </a:pPr>
            <a:r>
              <a:rPr lang="en-US" sz="2900" dirty="0" smtClean="0"/>
              <a:t>Forecasting is </a:t>
            </a:r>
            <a:r>
              <a:rPr lang="en-US" sz="2900" i="1" dirty="0"/>
              <a:t>prospective</a:t>
            </a:r>
            <a:r>
              <a:rPr lang="en-US" sz="2900" dirty="0"/>
              <a:t> in nature, analysis is </a:t>
            </a:r>
            <a:r>
              <a:rPr lang="en-US" sz="2900" i="1" dirty="0"/>
              <a:t>retrospective</a:t>
            </a:r>
            <a:r>
              <a:rPr lang="en-US" sz="2900" dirty="0"/>
              <a:t> in nature. </a:t>
            </a:r>
          </a:p>
        </p:txBody>
      </p:sp>
    </p:spTree>
    <p:extLst>
      <p:ext uri="{BB962C8B-B14F-4D97-AF65-F5344CB8AC3E}">
        <p14:creationId xmlns:p14="http://schemas.microsoft.com/office/powerpoint/2010/main" val="843064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Forecasting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/>
              <a:t>2. Collect data</a:t>
            </a:r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</a:t>
            </a:r>
            <a:r>
              <a:rPr lang="en-US" sz="2400" dirty="0" smtClean="0"/>
              <a:t>nternal sources: </a:t>
            </a:r>
            <a:r>
              <a:rPr lang="en-US" sz="2400" dirty="0"/>
              <a:t>various departments of the organization like sales, accounting etc. (examples: sales volume, ridership, monthly </a:t>
            </a:r>
            <a:r>
              <a:rPr lang="en-US" sz="2400" dirty="0" smtClean="0"/>
              <a:t>profits)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e</a:t>
            </a:r>
            <a:r>
              <a:rPr lang="en-US" sz="2400" dirty="0" smtClean="0"/>
              <a:t>xternal sources: for data like </a:t>
            </a:r>
            <a:r>
              <a:rPr lang="en-US" sz="2400" dirty="0"/>
              <a:t>inflation rate, oil prices, market demand, market shares </a:t>
            </a:r>
          </a:p>
        </p:txBody>
      </p:sp>
    </p:spTree>
    <p:extLst>
      <p:ext uri="{BB962C8B-B14F-4D97-AF65-F5344CB8AC3E}">
        <p14:creationId xmlns:p14="http://schemas.microsoft.com/office/powerpoint/2010/main" val="1274909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Forecasting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900" dirty="0"/>
              <a:t>Data quality is essential for time series forecasting, because the sample is small </a:t>
            </a:r>
            <a:r>
              <a:rPr lang="en-US" sz="1900" dirty="0" smtClean="0"/>
              <a:t>(only </a:t>
            </a:r>
            <a:r>
              <a:rPr lang="en-US" sz="1900" dirty="0"/>
              <a:t>a few hundred data points).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Factors that can negatively affect data </a:t>
            </a:r>
            <a:r>
              <a:rPr lang="en-US" sz="1900" dirty="0" smtClean="0"/>
              <a:t>quality: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900" dirty="0"/>
              <a:t>measurement inaccuracy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900" dirty="0"/>
              <a:t>data entry errors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900" dirty="0"/>
              <a:t>missing 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/>
              <a:t>corrupted data (errors appeared during the time of writing, reading, storage, transmission or processing). </a:t>
            </a:r>
            <a:endParaRPr lang="en-US" sz="1900" dirty="0" smtClean="0"/>
          </a:p>
        </p:txBody>
      </p:sp>
    </p:spTree>
    <p:extLst>
      <p:ext uri="{BB962C8B-B14F-4D97-AF65-F5344CB8AC3E}">
        <p14:creationId xmlns:p14="http://schemas.microsoft.com/office/powerpoint/2010/main" val="1848344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Forecasting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 smtClean="0"/>
              <a:t>3. Explore data</a:t>
            </a:r>
            <a:endParaRPr lang="en-US" sz="2000" dirty="0" smtClean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2000" dirty="0"/>
              <a:t>Data exploration is mainly based on visualization. </a:t>
            </a:r>
            <a:r>
              <a:rPr lang="en-US" sz="2000" dirty="0" smtClean="0"/>
              <a:t>This </a:t>
            </a:r>
            <a:r>
              <a:rPr lang="en-US" sz="2000" dirty="0"/>
              <a:t>way we </a:t>
            </a:r>
            <a:r>
              <a:rPr lang="en-US" sz="2000" dirty="0" smtClean="0"/>
              <a:t>can: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/>
              <a:t>see the </a:t>
            </a:r>
            <a:r>
              <a:rPr lang="en-US" sz="2000" dirty="0"/>
              <a:t>general </a:t>
            </a:r>
            <a:r>
              <a:rPr lang="en-US" sz="2000" dirty="0" smtClean="0"/>
              <a:t>trend 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endParaRPr lang="en-US" sz="20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d</a:t>
            </a:r>
            <a:r>
              <a:rPr lang="en-US" sz="2000" dirty="0" smtClean="0"/>
              <a:t>etect cycles </a:t>
            </a:r>
            <a:r>
              <a:rPr lang="en-US" sz="2000" dirty="0"/>
              <a:t>and seasonal </a:t>
            </a:r>
            <a:r>
              <a:rPr lang="en-US" sz="2000" dirty="0" smtClean="0"/>
              <a:t>patterns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/>
              <a:t>identify outliers</a:t>
            </a:r>
            <a:endParaRPr lang="en-US" sz="1900" dirty="0" smtClean="0"/>
          </a:p>
        </p:txBody>
      </p:sp>
    </p:spTree>
    <p:extLst>
      <p:ext uri="{BB962C8B-B14F-4D97-AF65-F5344CB8AC3E}">
        <p14:creationId xmlns:p14="http://schemas.microsoft.com/office/powerpoint/2010/main" val="732731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Forecasting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 smtClean="0"/>
              <a:t>4. Set the forecasting horizon</a:t>
            </a:r>
            <a:endParaRPr lang="en-US" sz="2000" dirty="0" smtClean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2000" dirty="0"/>
              <a:t>Long-term forecasting is often times useful. However, </a:t>
            </a:r>
            <a:r>
              <a:rPr lang="en-US" sz="2000" dirty="0" smtClean="0"/>
              <a:t>the </a:t>
            </a:r>
            <a:r>
              <a:rPr lang="en-US" sz="2000" dirty="0"/>
              <a:t>forecast accuracy will probably diminish if we go far into the future. </a:t>
            </a: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If long-term forecasting is absolutely necessary, it is highly recommended to review our forecasting model on a regular basis by including fresh information as we collect new data.</a:t>
            </a:r>
            <a:endParaRPr lang="en-US" sz="1900" dirty="0" smtClean="0"/>
          </a:p>
        </p:txBody>
      </p:sp>
    </p:spTree>
    <p:extLst>
      <p:ext uri="{BB962C8B-B14F-4D97-AF65-F5344CB8AC3E}">
        <p14:creationId xmlns:p14="http://schemas.microsoft.com/office/powerpoint/2010/main" val="128607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Forecasting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/>
              <a:t>5. Choose a forecasting technique</a:t>
            </a:r>
            <a:endParaRPr lang="en-US" sz="2400" dirty="0" smtClean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Depending on the data pattern, we can </a:t>
            </a:r>
            <a:r>
              <a:rPr lang="en-US" sz="2200" dirty="0" smtClean="0"/>
              <a:t>pick…</a:t>
            </a:r>
          </a:p>
          <a:p>
            <a:pPr marL="0" indent="0">
              <a:buNone/>
            </a:pPr>
            <a:endParaRPr lang="en-US" sz="22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 smtClean="0"/>
              <a:t>a </a:t>
            </a:r>
            <a:r>
              <a:rPr lang="en-US" sz="2200" dirty="0"/>
              <a:t>data-driven forecasting method </a:t>
            </a:r>
            <a:endParaRPr lang="en-US" sz="22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 smtClean="0"/>
              <a:t>a </a:t>
            </a:r>
            <a:r>
              <a:rPr lang="en-US" sz="2200" dirty="0"/>
              <a:t>model-based method </a:t>
            </a:r>
            <a:endParaRPr 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2467660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Forecasting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/>
              <a:t>6. Apply the technique and make forecasts</a:t>
            </a:r>
            <a:endParaRPr lang="en-US" sz="2400" dirty="0" smtClean="0"/>
          </a:p>
          <a:p>
            <a:pPr marL="0" indent="0">
              <a:buNone/>
            </a:pPr>
            <a:endParaRPr lang="en-US" sz="2200" dirty="0" smtClean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400" dirty="0"/>
              <a:t>At this step we </a:t>
            </a:r>
            <a:r>
              <a:rPr lang="en-US" sz="2400" dirty="0" smtClean="0"/>
              <a:t>run </a:t>
            </a:r>
            <a:r>
              <a:rPr lang="en-US" sz="2400" dirty="0"/>
              <a:t>the selected method on our data, using a statistical analysis </a:t>
            </a:r>
            <a:r>
              <a:rPr lang="en-US" sz="2400" dirty="0" smtClean="0"/>
              <a:t>software.</a:t>
            </a:r>
            <a:endParaRPr 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293381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Forecasting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/>
              <a:t>7. Evaluate forecast accuracy</a:t>
            </a:r>
            <a:endParaRPr lang="en-US" sz="2400" dirty="0" smtClean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400" dirty="0"/>
              <a:t>The popular R squared metric, which is used to evaluate goodness-of-fit in the linear regression models, is not very meaningful when it comes to time series forecasting accuracy. </a:t>
            </a: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This </a:t>
            </a:r>
            <a:r>
              <a:rPr lang="en-US" sz="2400" dirty="0"/>
              <a:t>is why several specific measures were developed for this purpose.</a:t>
            </a:r>
            <a:endParaRPr 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1201589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Forecasting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/>
              <a:t>8. Adapt or change the forecasting model</a:t>
            </a:r>
            <a:endParaRPr lang="en-US" sz="2400" dirty="0" smtClean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Depending </a:t>
            </a:r>
            <a:r>
              <a:rPr lang="en-US" sz="2400" dirty="0"/>
              <a:t>of the forecast performance, we might want to tweak the forecasting model, or even change it altogether, if the performance is not at all satisfactory. </a:t>
            </a:r>
            <a:endParaRPr 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3663711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Notations</a:t>
            </a:r>
            <a:endParaRPr lang="en-US" sz="4200" b="1" dirty="0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62265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150"/>
            <a:ext cx="8229600" cy="857250"/>
          </a:xfrm>
        </p:spPr>
        <p:txBody>
          <a:bodyPr/>
          <a:lstStyle/>
          <a:p>
            <a:r>
              <a:rPr lang="en-US" dirty="0" smtClean="0"/>
              <a:t>Notations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866897"/>
              </p:ext>
            </p:extLst>
          </p:nvPr>
        </p:nvGraphicFramePr>
        <p:xfrm>
          <a:off x="685800" y="941218"/>
          <a:ext cx="7772400" cy="40092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09614"/>
                <a:gridCol w="4762786"/>
              </a:tblGrid>
              <a:tr h="781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t = 1, 2, 3…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Time </a:t>
                      </a:r>
                      <a:r>
                        <a:rPr lang="en-US" sz="1600" b="0" dirty="0" smtClean="0">
                          <a:solidFill>
                            <a:schemeClr val="tx1"/>
                          </a:solidFill>
                          <a:effectLst/>
                        </a:rPr>
                        <a:t>periods. These periods can be hours, days, weeks, months</a:t>
                      </a:r>
                      <a:r>
                        <a:rPr lang="en-US" sz="1600" b="0" smtClean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US" sz="1600" b="0" smtClean="0">
                          <a:solidFill>
                            <a:schemeClr val="tx1"/>
                          </a:solidFill>
                          <a:effectLst/>
                        </a:rPr>
                        <a:t>quarters, semesters</a:t>
                      </a:r>
                      <a:r>
                        <a:rPr lang="en-US" sz="1600" b="0" dirty="0" smtClean="0">
                          <a:solidFill>
                            <a:schemeClr val="tx1"/>
                          </a:solidFill>
                          <a:effectLst/>
                        </a:rPr>
                        <a:t>, years…</a:t>
                      </a:r>
                      <a:endParaRPr lang="en-US" sz="1600" b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104182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, y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, y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,, …,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  <a:r>
                        <a:rPr lang="en-US" sz="1600" baseline="-25000" dirty="0" err="1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The time series values, measured over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effectLst/>
                        </a:rPr>
                        <a:t>periods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334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Forecasted (estimated) value for the period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en-US" sz="1600" i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6876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r>
                        <a:rPr lang="en-US" sz="1600" baseline="-25000" dirty="0" err="1">
                          <a:solidFill>
                            <a:schemeClr val="tx1"/>
                          </a:solidFill>
                          <a:effectLst/>
                        </a:rPr>
                        <a:t>t+k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The k-step ahead forecast when the current period is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en-US" sz="1600" i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104182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The forecast error for the period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  <a:effectLst/>
                        </a:rPr>
                        <a:t>,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which is the difference between the actual series value and the forecasted value: </a:t>
                      </a:r>
                      <a:endParaRPr lang="en-US" sz="160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1" dirty="0" err="1" smtClean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  <a:r>
                        <a:rPr lang="en-US" sz="1600" i="1" baseline="-25000" dirty="0" err="1" smtClean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600" i="1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  <a:effectLst/>
                        </a:rPr>
                        <a:t>- F</a:t>
                      </a:r>
                      <a:r>
                        <a:rPr lang="en-US" sz="1600" i="1" baseline="-25000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en-US" sz="1600" i="1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4662354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773</Words>
  <Application>Microsoft Office PowerPoint</Application>
  <PresentationFormat>On-screen Show (16:9)</PresentationFormat>
  <Paragraphs>134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Temă Office</vt:lpstr>
      <vt:lpstr>Forecasting Basics</vt:lpstr>
      <vt:lpstr>…</vt:lpstr>
      <vt:lpstr>…</vt:lpstr>
      <vt:lpstr>Forecasting Steps</vt:lpstr>
      <vt:lpstr>Forecasting steps</vt:lpstr>
      <vt:lpstr>Forecasting steps</vt:lpstr>
      <vt:lpstr>Forecasting steps</vt:lpstr>
      <vt:lpstr>Forecasting steps</vt:lpstr>
      <vt:lpstr>Forecasting steps</vt:lpstr>
      <vt:lpstr>Forecasting steps</vt:lpstr>
      <vt:lpstr>Forecasting steps</vt:lpstr>
      <vt:lpstr>Forecasting steps</vt:lpstr>
      <vt:lpstr>Forecasting steps</vt:lpstr>
      <vt:lpstr>Forecasting steps</vt:lpstr>
      <vt:lpstr>Forecasting steps</vt:lpstr>
      <vt:lpstr>Forecasting steps</vt:lpstr>
      <vt:lpstr>Forecasting steps</vt:lpstr>
      <vt:lpstr>Forecasting steps</vt:lpstr>
      <vt:lpstr>Forecasting steps</vt:lpstr>
      <vt:lpstr>Forecasting steps</vt:lpstr>
      <vt:lpstr>Notations</vt:lpstr>
      <vt:lpstr>Notations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bogdan</dc:creator>
  <cp:lastModifiedBy>bogdan</cp:lastModifiedBy>
  <cp:revision>42</cp:revision>
  <dcterms:created xsi:type="dcterms:W3CDTF">2014-10-10T10:38:27Z</dcterms:created>
  <dcterms:modified xsi:type="dcterms:W3CDTF">2022-05-31T14:03:19Z</dcterms:modified>
</cp:coreProperties>
</file>