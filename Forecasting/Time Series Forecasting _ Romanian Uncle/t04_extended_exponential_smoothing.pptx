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5/30/2022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Extended Exponential Smoothing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dirty="0"/>
              <a:t>In a previous section we have seen that there are time series with multiple seasonal cycles. </a:t>
            </a:r>
            <a:endParaRPr lang="en-US" sz="2300" dirty="0" smtClean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 smtClean="0"/>
              <a:t>A </a:t>
            </a:r>
            <a:r>
              <a:rPr lang="en-US" sz="2300" dirty="0"/>
              <a:t>possible </a:t>
            </a:r>
            <a:r>
              <a:rPr lang="en-US" sz="2300" dirty="0" smtClean="0"/>
              <a:t>example: electricity </a:t>
            </a:r>
            <a:r>
              <a:rPr lang="en-US" sz="2300" dirty="0"/>
              <a:t>consumption, that can have two cycles:</a:t>
            </a:r>
          </a:p>
          <a:p>
            <a:pPr marL="0" indent="0">
              <a:buNone/>
            </a:pPr>
            <a:endParaRPr lang="en-US" sz="2300" dirty="0"/>
          </a:p>
          <a:p>
            <a:pPr lvl="0"/>
            <a:r>
              <a:rPr lang="en-US" sz="2300" dirty="0"/>
              <a:t>a daily one (peaks during the weeks and dips in the weekends)</a:t>
            </a:r>
          </a:p>
          <a:p>
            <a:pPr lvl="0"/>
            <a:r>
              <a:rPr lang="en-US" sz="2300" dirty="0"/>
              <a:t>an hourly one (peaks during the night and dips during the day</a:t>
            </a:r>
            <a:r>
              <a:rPr lang="en-US" sz="2300" dirty="0" smtClean="0"/>
              <a:t>)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/>
              <a:t>number of tourists in a seaside resort could have two cycles: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r>
              <a:rPr lang="en-US" sz="2400" dirty="0"/>
              <a:t>a yearly one (with peaks during the summer)</a:t>
            </a:r>
          </a:p>
          <a:p>
            <a:pPr lvl="0"/>
            <a:r>
              <a:rPr lang="en-US" sz="2400" dirty="0"/>
              <a:t>a weekly one (with peaks in the weekends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70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To handle these situations, a new equation </a:t>
            </a:r>
            <a:r>
              <a:rPr lang="en-US" sz="2500" dirty="0" smtClean="0"/>
              <a:t>can be added </a:t>
            </a:r>
            <a:r>
              <a:rPr lang="en-US" sz="2500" dirty="0"/>
              <a:t>to the Holt-Winter’s model. </a:t>
            </a:r>
            <a:endParaRPr lang="en-US" sz="2500" dirty="0" smtClean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 smtClean="0"/>
              <a:t>This </a:t>
            </a:r>
            <a:r>
              <a:rPr lang="en-US" sz="2500" dirty="0"/>
              <a:t>equation accounts for the second seasonal cycle. The resulted model is called Holt-Winter’s double seasonal model.</a:t>
            </a:r>
          </a:p>
        </p:txBody>
      </p:sp>
    </p:spTree>
    <p:extLst>
      <p:ext uri="{BB962C8B-B14F-4D97-AF65-F5344CB8AC3E}">
        <p14:creationId xmlns:p14="http://schemas.microsoft.com/office/powerpoint/2010/main" val="53271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T</a:t>
            </a:r>
            <a:r>
              <a:rPr lang="en-US" sz="2800" dirty="0" smtClean="0"/>
              <a:t>his </a:t>
            </a:r>
            <a:r>
              <a:rPr lang="en-US" sz="2800" dirty="0"/>
              <a:t>type of model has a drawback: the seasonal cycles must be nested for the model to work. In other words, the length of the greater season must be a multiple of the length of the shorter season.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Many times this condition is not met in </a:t>
            </a:r>
            <a:r>
              <a:rPr lang="en-US" sz="2800" dirty="0" smtClean="0"/>
              <a:t>reality.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49339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To </a:t>
            </a:r>
            <a:r>
              <a:rPr lang="en-US" dirty="0"/>
              <a:t>avoid this problem we can employ </a:t>
            </a:r>
            <a:r>
              <a:rPr lang="en-US" dirty="0" smtClean="0"/>
              <a:t>models </a:t>
            </a:r>
            <a:r>
              <a:rPr lang="en-US" dirty="0"/>
              <a:t>that do </a:t>
            </a:r>
            <a:r>
              <a:rPr lang="en-US" b="1" dirty="0" smtClean="0"/>
              <a:t>not</a:t>
            </a:r>
            <a:r>
              <a:rPr lang="en-US" dirty="0" smtClean="0"/>
              <a:t> </a:t>
            </a:r>
            <a:r>
              <a:rPr lang="en-US" dirty="0"/>
              <a:t>assume nested seasonal </a:t>
            </a:r>
            <a:r>
              <a:rPr lang="en-US" dirty="0" smtClean="0"/>
              <a:t>cycles</a:t>
            </a:r>
            <a:r>
              <a:rPr lang="en-US" sz="2800" dirty="0" smtClean="0"/>
              <a:t>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00201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b="1" dirty="0"/>
              <a:t>TBATS</a:t>
            </a:r>
            <a:r>
              <a:rPr lang="en-US" sz="2300" dirty="0"/>
              <a:t>, which stands for</a:t>
            </a:r>
            <a:r>
              <a:rPr lang="en-US" sz="2300" dirty="0" smtClean="0"/>
              <a:t>:</a:t>
            </a:r>
          </a:p>
          <a:p>
            <a:pPr marL="0" indent="0">
              <a:buNone/>
            </a:pPr>
            <a:endParaRPr lang="en-US" sz="23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300" b="1" dirty="0"/>
              <a:t>T</a:t>
            </a:r>
            <a:r>
              <a:rPr lang="en-US" sz="2300" dirty="0"/>
              <a:t>rigonometric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300" b="1" dirty="0"/>
              <a:t>B</a:t>
            </a:r>
            <a:r>
              <a:rPr lang="en-US" sz="2300" dirty="0"/>
              <a:t>ox-Cox transformation (converts non-normal dependent variables into a normal shape)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300" b="1" dirty="0"/>
              <a:t>A</a:t>
            </a:r>
            <a:r>
              <a:rPr lang="en-US" sz="2300" dirty="0"/>
              <a:t>RMA model to process errors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300" b="1" dirty="0"/>
              <a:t>T</a:t>
            </a:r>
            <a:r>
              <a:rPr lang="en-US" sz="2300" dirty="0"/>
              <a:t>rend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300" b="1" dirty="0"/>
              <a:t>S</a:t>
            </a:r>
            <a:r>
              <a:rPr lang="en-US" sz="2300" dirty="0"/>
              <a:t>easonality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6631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STLM</a:t>
            </a:r>
            <a:r>
              <a:rPr lang="en-US" sz="2400" dirty="0"/>
              <a:t>, which stands for: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b="1" dirty="0"/>
              <a:t>S</a:t>
            </a:r>
            <a:r>
              <a:rPr lang="en-US" sz="2400" dirty="0"/>
              <a:t>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b="1" dirty="0"/>
              <a:t>T</a:t>
            </a:r>
            <a:r>
              <a:rPr lang="en-US" sz="2400" dirty="0"/>
              <a:t>rend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b="1" dirty="0"/>
              <a:t>L</a:t>
            </a:r>
            <a:r>
              <a:rPr lang="en-US" sz="2400" dirty="0"/>
              <a:t>evel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AR</a:t>
            </a:r>
            <a:r>
              <a:rPr lang="en-US" sz="2400" b="1" dirty="0"/>
              <a:t>M</a:t>
            </a:r>
            <a:r>
              <a:rPr lang="en-US" sz="2400" dirty="0"/>
              <a:t>A model to process </a:t>
            </a:r>
            <a:r>
              <a:rPr lang="en-US" sz="2400" dirty="0" smtClean="0"/>
              <a:t>errors</a:t>
            </a:r>
            <a:endParaRPr lang="en-US" sz="24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65526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251</Words>
  <Application>Microsoft Office PowerPoint</Application>
  <PresentationFormat>On-screen Show (16:9)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Temă Office</vt:lpstr>
      <vt:lpstr>Extended Exponential Smoothing</vt:lpstr>
      <vt:lpstr>Extended exponential smoothing</vt:lpstr>
      <vt:lpstr>Extended exponential smoothing</vt:lpstr>
      <vt:lpstr>Extended exponential smoothing</vt:lpstr>
      <vt:lpstr>Extended exponential smoothing</vt:lpstr>
      <vt:lpstr>Extended exponential smoothing</vt:lpstr>
      <vt:lpstr>Extended exponential smoothing</vt:lpstr>
      <vt:lpstr>Extended exponential smoothing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128</cp:revision>
  <dcterms:created xsi:type="dcterms:W3CDTF">2014-10-10T10:38:27Z</dcterms:created>
  <dcterms:modified xsi:type="dcterms:W3CDTF">2022-05-30T09:32:00Z</dcterms:modified>
</cp:coreProperties>
</file>