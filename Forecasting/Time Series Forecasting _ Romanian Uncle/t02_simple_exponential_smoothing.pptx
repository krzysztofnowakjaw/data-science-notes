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80" r:id="rId5"/>
    <p:sldId id="279" r:id="rId6"/>
    <p:sldId id="281" r:id="rId7"/>
    <p:sldId id="282" r:id="rId8"/>
    <p:sldId id="283" r:id="rId9"/>
    <p:sldId id="284" r:id="rId10"/>
    <p:sldId id="293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58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Simple Exponential Smoothing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51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Simple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The exponential smoothing  technique is similar </a:t>
            </a:r>
            <a:r>
              <a:rPr lang="en-US"/>
              <a:t>to </a:t>
            </a:r>
            <a:r>
              <a:rPr lang="en-US" smtClean="0"/>
              <a:t>the moving </a:t>
            </a:r>
            <a:r>
              <a:rPr lang="en-US" dirty="0"/>
              <a:t>average, but with an important difference.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While the moving average uses the values in the most recent </a:t>
            </a:r>
            <a:r>
              <a:rPr lang="en-US" i="1" dirty="0"/>
              <a:t>w </a:t>
            </a:r>
            <a:r>
              <a:rPr lang="en-US" dirty="0"/>
              <a:t>periods, the simple exponential smoothing takes </a:t>
            </a:r>
            <a:r>
              <a:rPr lang="en-US" b="1" i="1" dirty="0"/>
              <a:t>all</a:t>
            </a:r>
            <a:r>
              <a:rPr lang="en-US" i="1" dirty="0"/>
              <a:t> </a:t>
            </a:r>
            <a:r>
              <a:rPr lang="en-US" dirty="0"/>
              <a:t>the values in the series and computes their weighted average, using weights that decrease exponentially into the past.</a:t>
            </a:r>
          </a:p>
        </p:txBody>
      </p:sp>
    </p:spTree>
    <p:extLst>
      <p:ext uri="{BB962C8B-B14F-4D97-AF65-F5344CB8AC3E}">
        <p14:creationId xmlns:p14="http://schemas.microsoft.com/office/powerpoint/2010/main" val="128777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Simple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concept behind the method is to give more weight (more importance) to the recent values when making forecasts, but without discarding the old values.</a:t>
            </a:r>
          </a:p>
        </p:txBody>
      </p:sp>
    </p:spTree>
    <p:extLst>
      <p:ext uri="{BB962C8B-B14F-4D97-AF65-F5344CB8AC3E}">
        <p14:creationId xmlns:p14="http://schemas.microsoft.com/office/powerpoint/2010/main" val="1572703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Simple exponential smoothing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F</a:t>
                </a:r>
                <a:r>
                  <a:rPr lang="en-US" dirty="0" smtClean="0"/>
                  <a:t>orecasted </a:t>
                </a:r>
                <a:r>
                  <a:rPr lang="en-US" dirty="0"/>
                  <a:t>value for the moment </a:t>
                </a:r>
                <a:r>
                  <a:rPr lang="en-US" i="1" dirty="0"/>
                  <a:t>t+1</a:t>
                </a:r>
                <a:r>
                  <a:rPr lang="en-US" dirty="0"/>
                  <a:t> (the one-step ahead forecast</a:t>
                </a:r>
                <a:r>
                  <a:rPr lang="en-US" dirty="0" smtClean="0"/>
                  <a:t>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𝑡</m:t>
                          </m:r>
                          <m:r>
                            <a:rPr lang="en-US" sz="2400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𝛼</m:t>
                      </m:r>
                      <m:sSub>
                        <m:sSubPr>
                          <m:ctrlPr>
                            <a:rPr lang="en-US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i="1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1−</m:t>
                          </m:r>
                          <m:r>
                            <a:rPr lang="en-US" sz="2400" i="1">
                              <a:latin typeface="Cambria Math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𝑡</m:t>
                          </m:r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i="1">
                          <a:latin typeface="Cambria Math"/>
                        </a:rPr>
                        <m:t>𝛼</m:t>
                      </m:r>
                      <m:sSup>
                        <m:sSupPr>
                          <m:ctrlPr>
                            <a:rPr lang="en-US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(1−</m:t>
                          </m:r>
                          <m:r>
                            <a:rPr lang="en-US" sz="2400" i="1">
                              <a:latin typeface="Cambria Math"/>
                            </a:rPr>
                            <m:t>𝛼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𝑡</m:t>
                          </m:r>
                          <m:r>
                            <a:rPr lang="en-US" sz="24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+…+</m:t>
                      </m:r>
                      <m:r>
                        <a:rPr lang="en-US" sz="2400" i="1">
                          <a:latin typeface="Cambria Math"/>
                        </a:rPr>
                        <m:t>𝛼</m:t>
                      </m:r>
                      <m:sSup>
                        <m:sSupPr>
                          <m:ctrlPr>
                            <a:rPr lang="en-US" sz="2400" i="1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𝑝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𝑝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+…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i="1" dirty="0" smtClean="0"/>
                  <a:t>α</a:t>
                </a:r>
                <a:r>
                  <a:rPr lang="en-US" sz="2400" dirty="0" smtClean="0"/>
                  <a:t> – smoothing constant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smtClean="0"/>
                  <a:t>0 &lt; </a:t>
                </a:r>
                <a:r>
                  <a:rPr lang="en-US" sz="2400" i="1" dirty="0" smtClean="0"/>
                  <a:t>α</a:t>
                </a:r>
                <a:r>
                  <a:rPr lang="en-US" sz="2400" dirty="0" smtClean="0"/>
                  <a:t> &lt; 1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3" t="-2693"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902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Simple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his </a:t>
            </a:r>
            <a:r>
              <a:rPr lang="en-US" dirty="0"/>
              <a:t>method is called “simple” because it has only one smoothing parameter.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There </a:t>
            </a:r>
            <a:r>
              <a:rPr lang="en-US" dirty="0"/>
              <a:t>are more advanced exponential smoothing techniques with several </a:t>
            </a:r>
            <a:r>
              <a:rPr lang="en-US" dirty="0" smtClean="0"/>
              <a:t>parameters.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6975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Simple exponential smoothing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627" y="1047750"/>
            <a:ext cx="6122773" cy="3886200"/>
          </a:xfrm>
        </p:spPr>
      </p:pic>
    </p:spTree>
    <p:extLst>
      <p:ext uri="{BB962C8B-B14F-4D97-AF65-F5344CB8AC3E}">
        <p14:creationId xmlns:p14="http://schemas.microsoft.com/office/powerpoint/2010/main" val="359955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Simple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The value of </a:t>
            </a:r>
            <a:r>
              <a:rPr lang="en-US" i="1" dirty="0"/>
              <a:t>α</a:t>
            </a:r>
            <a:r>
              <a:rPr lang="en-US" dirty="0" smtClean="0"/>
              <a:t> </a:t>
            </a:r>
            <a:r>
              <a:rPr lang="en-US" dirty="0"/>
              <a:t>determines the </a:t>
            </a:r>
            <a:r>
              <a:rPr lang="en-US" b="1" i="1" dirty="0"/>
              <a:t>learning rate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if </a:t>
            </a:r>
            <a:r>
              <a:rPr lang="en-US" i="1" dirty="0"/>
              <a:t>α</a:t>
            </a:r>
            <a:r>
              <a:rPr lang="en-US" dirty="0" smtClean="0"/>
              <a:t> </a:t>
            </a:r>
            <a:r>
              <a:rPr lang="en-US" dirty="0"/>
              <a:t>is big (close to 1), the recent values strongly influence the forecast, while the older values have almost no impact – </a:t>
            </a:r>
            <a:r>
              <a:rPr lang="en-US" dirty="0" smtClean="0"/>
              <a:t>our </a:t>
            </a:r>
            <a:r>
              <a:rPr lang="en-US" dirty="0"/>
              <a:t>model is a </a:t>
            </a:r>
            <a:r>
              <a:rPr lang="en-US" i="1" dirty="0"/>
              <a:t>fast </a:t>
            </a:r>
            <a:r>
              <a:rPr lang="en-US" i="1" dirty="0" smtClean="0"/>
              <a:t>learner</a:t>
            </a:r>
            <a:r>
              <a:rPr lang="en-US" dirty="0" smtClean="0"/>
              <a:t> </a:t>
            </a:r>
          </a:p>
          <a:p>
            <a:pPr marL="0" lv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if </a:t>
            </a:r>
            <a:r>
              <a:rPr lang="en-US" i="1" dirty="0"/>
              <a:t>α</a:t>
            </a:r>
            <a:r>
              <a:rPr lang="en-US" dirty="0" smtClean="0"/>
              <a:t> </a:t>
            </a:r>
            <a:r>
              <a:rPr lang="en-US" dirty="0"/>
              <a:t>is small (close to 0) the older values have a big influence on the forecast – </a:t>
            </a:r>
            <a:r>
              <a:rPr lang="en-US" dirty="0" smtClean="0"/>
              <a:t>our </a:t>
            </a:r>
            <a:r>
              <a:rPr lang="en-US" dirty="0"/>
              <a:t>model is a </a:t>
            </a:r>
            <a:r>
              <a:rPr lang="en-US" i="1" dirty="0"/>
              <a:t>slow </a:t>
            </a:r>
            <a:r>
              <a:rPr lang="en-US" i="1" dirty="0" smtClean="0"/>
              <a:t>learner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262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Simple exponential smoothing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18" y="1311275"/>
            <a:ext cx="8113163" cy="3394075"/>
          </a:xfrm>
        </p:spPr>
      </p:pic>
    </p:spTree>
    <p:extLst>
      <p:ext uri="{BB962C8B-B14F-4D97-AF65-F5344CB8AC3E}">
        <p14:creationId xmlns:p14="http://schemas.microsoft.com/office/powerpoint/2010/main" val="331588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Simple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best value for </a:t>
            </a:r>
            <a:r>
              <a:rPr lang="en-US" i="1" dirty="0"/>
              <a:t>α</a:t>
            </a:r>
            <a:r>
              <a:rPr lang="en-US" dirty="0" smtClean="0"/>
              <a:t> </a:t>
            </a:r>
            <a:r>
              <a:rPr lang="en-US" dirty="0"/>
              <a:t>can be obtained through trial and error: try different values and retain the one that ensures the </a:t>
            </a:r>
            <a:r>
              <a:rPr lang="en-US" dirty="0" smtClean="0"/>
              <a:t>highest </a:t>
            </a:r>
            <a:r>
              <a:rPr lang="en-US" dirty="0"/>
              <a:t>prediction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249232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Model Implementation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137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</a:t>
            </a:r>
            <a:r>
              <a:rPr lang="en-US" dirty="0" err="1" smtClean="0"/>
              <a:t>ts</a:t>
            </a:r>
            <a:r>
              <a:rPr lang="en-US" dirty="0" smtClean="0"/>
              <a:t>() function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dirty="0" err="1" smtClean="0"/>
              <a:t>ets</a:t>
            </a:r>
            <a:r>
              <a:rPr lang="en-US" dirty="0" smtClean="0"/>
              <a:t> = </a:t>
            </a:r>
            <a:r>
              <a:rPr lang="en-US" b="1" dirty="0" smtClean="0"/>
              <a:t>e</a:t>
            </a:r>
            <a:r>
              <a:rPr lang="en-US" dirty="0" smtClean="0"/>
              <a:t>rror, </a:t>
            </a:r>
            <a:r>
              <a:rPr lang="en-US" b="1" dirty="0" smtClean="0"/>
              <a:t>t</a:t>
            </a:r>
            <a:r>
              <a:rPr lang="en-US" dirty="0" smtClean="0"/>
              <a:t>rend, </a:t>
            </a:r>
            <a:r>
              <a:rPr lang="en-US" b="1" dirty="0" smtClean="0"/>
              <a:t>s</a:t>
            </a:r>
            <a:r>
              <a:rPr lang="en-US" dirty="0" smtClean="0"/>
              <a:t>easonality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3800" b="1" dirty="0" err="1" smtClean="0"/>
              <a:t>ets</a:t>
            </a:r>
            <a:r>
              <a:rPr lang="en-US" sz="3800" b="1" dirty="0" smtClean="0"/>
              <a:t>(data</a:t>
            </a:r>
            <a:r>
              <a:rPr lang="en-US" sz="3800" b="1" dirty="0"/>
              <a:t>, </a:t>
            </a:r>
            <a:r>
              <a:rPr lang="en-US" sz="4000" b="1" i="1" dirty="0"/>
              <a:t>α</a:t>
            </a:r>
            <a:r>
              <a:rPr lang="en-US" sz="3800" b="1" dirty="0" smtClean="0"/>
              <a:t>, </a:t>
            </a:r>
            <a:r>
              <a:rPr lang="en-US" sz="3800" b="1" dirty="0"/>
              <a:t>method)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1604331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implementation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499467"/>
            <a:ext cx="7391400" cy="2977283"/>
          </a:xfrm>
        </p:spPr>
      </p:pic>
    </p:spTree>
    <p:extLst>
      <p:ext uri="{BB962C8B-B14F-4D97-AF65-F5344CB8AC3E}">
        <p14:creationId xmlns:p14="http://schemas.microsoft.com/office/powerpoint/2010/main" val="1468890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error component can be of two types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pPr lvl="0"/>
            <a:r>
              <a:rPr lang="en-US" i="1" dirty="0"/>
              <a:t>additive</a:t>
            </a:r>
            <a:r>
              <a:rPr lang="en-US" dirty="0"/>
              <a:t>, if the </a:t>
            </a:r>
            <a:r>
              <a:rPr lang="en-US" dirty="0" smtClean="0"/>
              <a:t>errors remain </a:t>
            </a:r>
            <a:r>
              <a:rPr lang="en-US" dirty="0"/>
              <a:t>constant over time</a:t>
            </a:r>
          </a:p>
          <a:p>
            <a:pPr lvl="0"/>
            <a:r>
              <a:rPr lang="en-US" i="1" dirty="0"/>
              <a:t>multiplicative</a:t>
            </a:r>
            <a:r>
              <a:rPr lang="en-US" dirty="0"/>
              <a:t>, if the </a:t>
            </a:r>
            <a:r>
              <a:rPr lang="en-US" dirty="0" smtClean="0"/>
              <a:t>errors tend </a:t>
            </a:r>
            <a:r>
              <a:rPr lang="en-US" dirty="0"/>
              <a:t>to increase when the series values </a:t>
            </a:r>
            <a:r>
              <a:rPr lang="en-US" dirty="0" smtClean="0"/>
              <a:t>increase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7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 the first letter in the method value </a:t>
            </a:r>
            <a:r>
              <a:rPr lang="en-US" dirty="0" smtClean="0"/>
              <a:t>is: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“</a:t>
            </a:r>
            <a:r>
              <a:rPr lang="en-US" dirty="0"/>
              <a:t>A” </a:t>
            </a:r>
            <a:r>
              <a:rPr lang="en-US" dirty="0" smtClean="0"/>
              <a:t>– if </a:t>
            </a:r>
            <a:r>
              <a:rPr lang="en-US" dirty="0"/>
              <a:t>we assume an additive </a:t>
            </a:r>
            <a:r>
              <a:rPr lang="en-US" dirty="0" smtClean="0"/>
              <a:t>error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“</a:t>
            </a:r>
            <a:r>
              <a:rPr lang="en-US" dirty="0"/>
              <a:t>M” </a:t>
            </a:r>
            <a:r>
              <a:rPr lang="en-US" dirty="0" smtClean="0"/>
              <a:t>– if </a:t>
            </a:r>
            <a:r>
              <a:rPr lang="en-US" dirty="0"/>
              <a:t>we assume </a:t>
            </a:r>
            <a:r>
              <a:rPr lang="en-US" dirty="0" smtClean="0"/>
              <a:t>a </a:t>
            </a:r>
            <a:r>
              <a:rPr lang="en-US" dirty="0"/>
              <a:t>multiplicative </a:t>
            </a:r>
            <a:r>
              <a:rPr lang="en-US" dirty="0" smtClean="0"/>
              <a:t>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419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smtClean="0"/>
              <a:t>Method values for trend and seasonality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809750"/>
            <a:ext cx="7562479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4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/>
              <a:t>By combining these letters in the method argument, we can build any type of forecasting models. For instance:</a:t>
            </a:r>
          </a:p>
          <a:p>
            <a:pPr marL="0" indent="0">
              <a:buNone/>
            </a:pPr>
            <a:endParaRPr lang="en-US" sz="2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“AAN” means a model with additive error, additive trend and no seasonality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“MAA” means a model with multiplicative error, additive trend and additive seasonality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“</a:t>
            </a:r>
            <a:r>
              <a:rPr lang="en-US" sz="2800" dirty="0" err="1"/>
              <a:t>MAdA</a:t>
            </a:r>
            <a:r>
              <a:rPr lang="en-US" sz="2800" dirty="0"/>
              <a:t>” means a model with multiplicative error, additive damped trend and additive seasonality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dirty="0"/>
              <a:t>“MMM” means a model with multiplicative error, multiplicative trend and multiplicative seasonality </a:t>
            </a:r>
            <a:r>
              <a:rPr lang="en-US" sz="2800" dirty="0" smtClean="0"/>
              <a:t>etc.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0667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What value should we set for the method </a:t>
            </a:r>
            <a:r>
              <a:rPr lang="en-US" sz="2400" dirty="0" smtClean="0"/>
              <a:t>argument if we build a simple exponential smoothing model?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additive error (A)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n</a:t>
            </a:r>
            <a:r>
              <a:rPr lang="en-US" sz="2400" dirty="0" smtClean="0"/>
              <a:t>o trend (N)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n</a:t>
            </a:r>
            <a:r>
              <a:rPr lang="en-US" sz="2400" dirty="0" smtClean="0"/>
              <a:t>o seasonality (N)</a:t>
            </a:r>
          </a:p>
          <a:p>
            <a:pPr marL="0" indent="0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3600" b="1" dirty="0"/>
              <a:t>m</a:t>
            </a:r>
            <a:r>
              <a:rPr lang="en-US" sz="3600" b="1" dirty="0" smtClean="0"/>
              <a:t>ethod = “ANN”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62607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3000" dirty="0" smtClean="0"/>
              <a:t>If </a:t>
            </a:r>
            <a:r>
              <a:rPr lang="en-US" sz="3000" dirty="0"/>
              <a:t>our time series does have trend and seasonality, it may be more logical to assume that errors increase over time, so we </a:t>
            </a:r>
            <a:r>
              <a:rPr lang="en-US" sz="3000" dirty="0" smtClean="0"/>
              <a:t>could </a:t>
            </a:r>
            <a:r>
              <a:rPr lang="en-US" sz="3000" dirty="0"/>
              <a:t>use a model with a multiplicative error.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1735560992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567</Words>
  <Application>Microsoft Office PowerPoint</Application>
  <PresentationFormat>On-screen Show (16:9)</PresentationFormat>
  <Paragraphs>67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Temă Office</vt:lpstr>
      <vt:lpstr>Simple Exponential Smoothing</vt:lpstr>
      <vt:lpstr>Simple exponential smoothing</vt:lpstr>
      <vt:lpstr>Simple exponential smoothing</vt:lpstr>
      <vt:lpstr>Simple exponential smoothing</vt:lpstr>
      <vt:lpstr>Simple exponential smoothing</vt:lpstr>
      <vt:lpstr>Simple exponential smoothing</vt:lpstr>
      <vt:lpstr>Simple exponential smoothing</vt:lpstr>
      <vt:lpstr>Simple exponential smoothing</vt:lpstr>
      <vt:lpstr>Simple exponential smoothing</vt:lpstr>
      <vt:lpstr>Model Implementation</vt:lpstr>
      <vt:lpstr>Model implementation</vt:lpstr>
      <vt:lpstr>Model implementation</vt:lpstr>
      <vt:lpstr>Model implementation</vt:lpstr>
      <vt:lpstr>Model implementation</vt:lpstr>
      <vt:lpstr>Model implementation</vt:lpstr>
      <vt:lpstr>Model implementation</vt:lpstr>
      <vt:lpstr>Model implementation</vt:lpstr>
      <vt:lpstr>Model implementation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bogdan</dc:creator>
  <cp:lastModifiedBy>bogdan</cp:lastModifiedBy>
  <cp:revision>115</cp:revision>
  <dcterms:created xsi:type="dcterms:W3CDTF">2014-10-10T10:38:27Z</dcterms:created>
  <dcterms:modified xsi:type="dcterms:W3CDTF">2022-09-12T06:56:49Z</dcterms:modified>
</cp:coreProperties>
</file>