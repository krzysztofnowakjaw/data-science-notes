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9" r:id="rId2"/>
    <p:sldId id="277" r:id="rId3"/>
    <p:sldId id="336" r:id="rId4"/>
    <p:sldId id="346" r:id="rId5"/>
    <p:sldId id="279" r:id="rId6"/>
    <p:sldId id="280" r:id="rId7"/>
    <p:sldId id="281" r:id="rId8"/>
    <p:sldId id="282" r:id="rId9"/>
    <p:sldId id="283" r:id="rId10"/>
    <p:sldId id="284" r:id="rId11"/>
    <p:sldId id="285" r:id="rId12"/>
    <p:sldId id="286" r:id="rId13"/>
    <p:sldId id="337" r:id="rId14"/>
    <p:sldId id="287" r:id="rId15"/>
    <p:sldId id="288" r:id="rId16"/>
    <p:sldId id="289" r:id="rId17"/>
    <p:sldId id="290" r:id="rId18"/>
    <p:sldId id="291" r:id="rId19"/>
    <p:sldId id="292" r:id="rId20"/>
    <p:sldId id="293" r:id="rId21"/>
    <p:sldId id="338" r:id="rId22"/>
    <p:sldId id="294" r:id="rId23"/>
    <p:sldId id="295" r:id="rId24"/>
    <p:sldId id="296" r:id="rId25"/>
    <p:sldId id="297" r:id="rId26"/>
    <p:sldId id="298" r:id="rId27"/>
    <p:sldId id="299" r:id="rId28"/>
    <p:sldId id="300" r:id="rId29"/>
    <p:sldId id="301" r:id="rId30"/>
    <p:sldId id="302" r:id="rId31"/>
    <p:sldId id="303" r:id="rId32"/>
    <p:sldId id="344" r:id="rId33"/>
    <p:sldId id="345" r:id="rId34"/>
    <p:sldId id="305" r:id="rId35"/>
    <p:sldId id="306" r:id="rId36"/>
    <p:sldId id="307" r:id="rId37"/>
    <p:sldId id="340" r:id="rId38"/>
    <p:sldId id="308" r:id="rId39"/>
    <p:sldId id="309" r:id="rId40"/>
    <p:sldId id="310" r:id="rId41"/>
    <p:sldId id="311" r:id="rId42"/>
    <p:sldId id="312" r:id="rId43"/>
    <p:sldId id="313" r:id="rId44"/>
    <p:sldId id="341" r:id="rId45"/>
    <p:sldId id="314" r:id="rId46"/>
    <p:sldId id="315" r:id="rId47"/>
    <p:sldId id="316" r:id="rId48"/>
    <p:sldId id="317" r:id="rId49"/>
    <p:sldId id="342" r:id="rId50"/>
    <p:sldId id="318" r:id="rId51"/>
    <p:sldId id="319" r:id="rId52"/>
    <p:sldId id="320" r:id="rId53"/>
    <p:sldId id="321" r:id="rId54"/>
    <p:sldId id="322" r:id="rId55"/>
    <p:sldId id="323" r:id="rId56"/>
    <p:sldId id="324" r:id="rId57"/>
    <p:sldId id="325" r:id="rId58"/>
    <p:sldId id="343" r:id="rId59"/>
    <p:sldId id="326" r:id="rId60"/>
    <p:sldId id="327" r:id="rId61"/>
    <p:sldId id="329" r:id="rId62"/>
    <p:sldId id="330" r:id="rId63"/>
    <p:sldId id="332" r:id="rId64"/>
    <p:sldId id="333" r:id="rId65"/>
    <p:sldId id="334" r:id="rId66"/>
    <p:sldId id="335" r:id="rId6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30" d="100"/>
          <a:sy n="130" d="100"/>
        </p:scale>
        <p:origin x="-82" y="23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zitiv titlu">
    <p:spTree>
      <p:nvGrpSpPr>
        <p:cNvPr id="1" name=""/>
        <p:cNvGrpSpPr/>
        <p:nvPr/>
      </p:nvGrpSpPr>
      <p:grpSpPr>
        <a:xfrm>
          <a:off x="0" y="0"/>
          <a:ext cx="0" cy="0"/>
          <a:chOff x="0" y="0"/>
          <a:chExt cx="0" cy="0"/>
        </a:xfrm>
      </p:grpSpPr>
      <p:sp>
        <p:nvSpPr>
          <p:cNvPr id="2" name="Titlu 1"/>
          <p:cNvSpPr>
            <a:spLocks noGrp="1"/>
          </p:cNvSpPr>
          <p:nvPr>
            <p:ph type="ctrTitle"/>
          </p:nvPr>
        </p:nvSpPr>
        <p:spPr>
          <a:xfrm>
            <a:off x="685800" y="1597819"/>
            <a:ext cx="7772400" cy="1102519"/>
          </a:xfrm>
        </p:spPr>
        <p:txBody>
          <a:bodyPr/>
          <a:lstStyle/>
          <a:p>
            <a:r>
              <a:rPr lang="ro-RO" smtClean="0"/>
              <a:t>Clic pentru editare stil titlu</a:t>
            </a:r>
            <a:endParaRPr lang="en-US"/>
          </a:p>
        </p:txBody>
      </p:sp>
      <p:sp>
        <p:nvSpPr>
          <p:cNvPr id="3" name="Subtitlu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o-RO" smtClean="0"/>
              <a:t>Clic pentru a edita stilul de subtitlu</a:t>
            </a:r>
            <a:endParaRPr lang="en-US"/>
          </a:p>
        </p:txBody>
      </p:sp>
      <p:sp>
        <p:nvSpPr>
          <p:cNvPr id="4" name="Substituent dată 3"/>
          <p:cNvSpPr>
            <a:spLocks noGrp="1"/>
          </p:cNvSpPr>
          <p:nvPr>
            <p:ph type="dt" sz="half" idx="10"/>
          </p:nvPr>
        </p:nvSpPr>
        <p:spPr/>
        <p:txBody>
          <a:bodyPr/>
          <a:lstStyle/>
          <a:p>
            <a:fld id="{C9490478-133C-46F1-90F4-8C4DA2D1FDEE}" type="datetimeFigureOut">
              <a:rPr lang="en-US" smtClean="0"/>
              <a:t>9/12/2022</a:t>
            </a:fld>
            <a:endParaRPr lang="en-US"/>
          </a:p>
        </p:txBody>
      </p:sp>
      <p:sp>
        <p:nvSpPr>
          <p:cNvPr id="5" name="Substituent subsol 4"/>
          <p:cNvSpPr>
            <a:spLocks noGrp="1"/>
          </p:cNvSpPr>
          <p:nvPr>
            <p:ph type="ftr" sz="quarter" idx="11"/>
          </p:nvPr>
        </p:nvSpPr>
        <p:spPr/>
        <p:txBody>
          <a:bodyPr/>
          <a:lstStyle/>
          <a:p>
            <a:endParaRPr lang="en-US"/>
          </a:p>
        </p:txBody>
      </p:sp>
      <p:sp>
        <p:nvSpPr>
          <p:cNvPr id="6" name="Substituent număr diapozitiv 5"/>
          <p:cNvSpPr>
            <a:spLocks noGrp="1"/>
          </p:cNvSpPr>
          <p:nvPr>
            <p:ph type="sldNum" sz="quarter" idx="12"/>
          </p:nvPr>
        </p:nvSpPr>
        <p:spPr/>
        <p:txBody>
          <a:bodyPr/>
          <a:lstStyle/>
          <a:p>
            <a:fld id="{585AE3AD-3339-4CC0-BAFD-E0A16E3F6F2B}" type="slidenum">
              <a:rPr lang="en-US" smtClean="0"/>
              <a:t>‹#›</a:t>
            </a:fld>
            <a:endParaRPr lang="en-US"/>
          </a:p>
        </p:txBody>
      </p:sp>
    </p:spTree>
    <p:extLst>
      <p:ext uri="{BB962C8B-B14F-4D97-AF65-F5344CB8AC3E}">
        <p14:creationId xmlns:p14="http://schemas.microsoft.com/office/powerpoint/2010/main" val="2564430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smtClean="0"/>
              <a:t>Clic pentru editare stil titlu</a:t>
            </a:r>
            <a:endParaRPr lang="en-US"/>
          </a:p>
        </p:txBody>
      </p:sp>
      <p:sp>
        <p:nvSpPr>
          <p:cNvPr id="3" name="Substituent conținut 2"/>
          <p:cNvSpPr>
            <a:spLocks noGrp="1"/>
          </p:cNvSpPr>
          <p:nvPr>
            <p:ph idx="1"/>
          </p:nvPr>
        </p:nvSpPr>
        <p:spPr/>
        <p:txBody>
          <a:body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a:p>
        </p:txBody>
      </p:sp>
      <p:sp>
        <p:nvSpPr>
          <p:cNvPr id="4" name="Substituent dată 3"/>
          <p:cNvSpPr>
            <a:spLocks noGrp="1"/>
          </p:cNvSpPr>
          <p:nvPr>
            <p:ph type="dt" sz="half" idx="10"/>
          </p:nvPr>
        </p:nvSpPr>
        <p:spPr/>
        <p:txBody>
          <a:bodyPr/>
          <a:lstStyle/>
          <a:p>
            <a:fld id="{C9490478-133C-46F1-90F4-8C4DA2D1FDEE}" type="datetimeFigureOut">
              <a:rPr lang="en-US" smtClean="0"/>
              <a:t>9/12/2022</a:t>
            </a:fld>
            <a:endParaRPr lang="en-US"/>
          </a:p>
        </p:txBody>
      </p:sp>
      <p:sp>
        <p:nvSpPr>
          <p:cNvPr id="5" name="Substituent subsol 4"/>
          <p:cNvSpPr>
            <a:spLocks noGrp="1"/>
          </p:cNvSpPr>
          <p:nvPr>
            <p:ph type="ftr" sz="quarter" idx="11"/>
          </p:nvPr>
        </p:nvSpPr>
        <p:spPr/>
        <p:txBody>
          <a:bodyPr/>
          <a:lstStyle/>
          <a:p>
            <a:endParaRPr lang="en-US"/>
          </a:p>
        </p:txBody>
      </p:sp>
      <p:sp>
        <p:nvSpPr>
          <p:cNvPr id="6" name="Substituent număr diapozitiv 5"/>
          <p:cNvSpPr>
            <a:spLocks noGrp="1"/>
          </p:cNvSpPr>
          <p:nvPr>
            <p:ph type="sldNum" sz="quarter" idx="12"/>
          </p:nvPr>
        </p:nvSpPr>
        <p:spPr/>
        <p:txBody>
          <a:bodyPr/>
          <a:lstStyle/>
          <a:p>
            <a:fld id="{585AE3AD-3339-4CC0-BAFD-E0A16E3F6F2B}" type="slidenum">
              <a:rPr lang="en-US" smtClean="0"/>
              <a:t>‹#›</a:t>
            </a:fld>
            <a:endParaRPr lang="en-US"/>
          </a:p>
        </p:txBody>
      </p:sp>
    </p:spTree>
    <p:extLst>
      <p:ext uri="{BB962C8B-B14F-4D97-AF65-F5344CB8AC3E}">
        <p14:creationId xmlns:p14="http://schemas.microsoft.com/office/powerpoint/2010/main" val="346195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ntet secțiune">
    <p:spTree>
      <p:nvGrpSpPr>
        <p:cNvPr id="1" name=""/>
        <p:cNvGrpSpPr/>
        <p:nvPr/>
      </p:nvGrpSpPr>
      <p:grpSpPr>
        <a:xfrm>
          <a:off x="0" y="0"/>
          <a:ext cx="0" cy="0"/>
          <a:chOff x="0" y="0"/>
          <a:chExt cx="0" cy="0"/>
        </a:xfrm>
      </p:grpSpPr>
      <p:sp>
        <p:nvSpPr>
          <p:cNvPr id="2" name="Titlu 1"/>
          <p:cNvSpPr>
            <a:spLocks noGrp="1"/>
          </p:cNvSpPr>
          <p:nvPr>
            <p:ph type="title"/>
          </p:nvPr>
        </p:nvSpPr>
        <p:spPr>
          <a:xfrm>
            <a:off x="722313" y="3305176"/>
            <a:ext cx="7772400" cy="1021556"/>
          </a:xfrm>
        </p:spPr>
        <p:txBody>
          <a:bodyPr anchor="t"/>
          <a:lstStyle>
            <a:lvl1pPr algn="l">
              <a:defRPr sz="4000" b="1" cap="all"/>
            </a:lvl1pPr>
          </a:lstStyle>
          <a:p>
            <a:r>
              <a:rPr lang="ro-RO" smtClean="0"/>
              <a:t>Clic pentru editare stil titlu</a:t>
            </a:r>
            <a:endParaRPr lang="en-US"/>
          </a:p>
        </p:txBody>
      </p:sp>
      <p:sp>
        <p:nvSpPr>
          <p:cNvPr id="3" name="Substituent text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o-RO" smtClean="0"/>
              <a:t>Clic pentru editare stiluri text Coordonator</a:t>
            </a:r>
          </a:p>
        </p:txBody>
      </p:sp>
      <p:sp>
        <p:nvSpPr>
          <p:cNvPr id="4" name="Substituent dată 3"/>
          <p:cNvSpPr>
            <a:spLocks noGrp="1"/>
          </p:cNvSpPr>
          <p:nvPr>
            <p:ph type="dt" sz="half" idx="10"/>
          </p:nvPr>
        </p:nvSpPr>
        <p:spPr/>
        <p:txBody>
          <a:bodyPr/>
          <a:lstStyle/>
          <a:p>
            <a:fld id="{C9490478-133C-46F1-90F4-8C4DA2D1FDEE}" type="datetimeFigureOut">
              <a:rPr lang="en-US" smtClean="0"/>
              <a:t>9/12/2022</a:t>
            </a:fld>
            <a:endParaRPr lang="en-US"/>
          </a:p>
        </p:txBody>
      </p:sp>
      <p:sp>
        <p:nvSpPr>
          <p:cNvPr id="5" name="Substituent subsol 4"/>
          <p:cNvSpPr>
            <a:spLocks noGrp="1"/>
          </p:cNvSpPr>
          <p:nvPr>
            <p:ph type="ftr" sz="quarter" idx="11"/>
          </p:nvPr>
        </p:nvSpPr>
        <p:spPr/>
        <p:txBody>
          <a:bodyPr/>
          <a:lstStyle/>
          <a:p>
            <a:endParaRPr lang="en-US"/>
          </a:p>
        </p:txBody>
      </p:sp>
      <p:sp>
        <p:nvSpPr>
          <p:cNvPr id="6" name="Substituent număr diapozitiv 5"/>
          <p:cNvSpPr>
            <a:spLocks noGrp="1"/>
          </p:cNvSpPr>
          <p:nvPr>
            <p:ph type="sldNum" sz="quarter" idx="12"/>
          </p:nvPr>
        </p:nvSpPr>
        <p:spPr/>
        <p:txBody>
          <a:bodyPr/>
          <a:lstStyle/>
          <a:p>
            <a:fld id="{585AE3AD-3339-4CC0-BAFD-E0A16E3F6F2B}" type="slidenum">
              <a:rPr lang="en-US" smtClean="0"/>
              <a:t>‹#›</a:t>
            </a:fld>
            <a:endParaRPr lang="en-US"/>
          </a:p>
        </p:txBody>
      </p:sp>
    </p:spTree>
    <p:extLst>
      <p:ext uri="{BB962C8B-B14F-4D97-AF65-F5344CB8AC3E}">
        <p14:creationId xmlns:p14="http://schemas.microsoft.com/office/powerpoint/2010/main" val="1153357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smtClean="0"/>
              <a:t>Clic pentru editare stil titlu</a:t>
            </a:r>
            <a:endParaRPr lang="en-US"/>
          </a:p>
        </p:txBody>
      </p:sp>
      <p:sp>
        <p:nvSpPr>
          <p:cNvPr id="3" name="Substituent conținut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a:p>
        </p:txBody>
      </p:sp>
      <p:sp>
        <p:nvSpPr>
          <p:cNvPr id="4" name="Substituent conținut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a:p>
        </p:txBody>
      </p:sp>
      <p:sp>
        <p:nvSpPr>
          <p:cNvPr id="5" name="Substituent dată 4"/>
          <p:cNvSpPr>
            <a:spLocks noGrp="1"/>
          </p:cNvSpPr>
          <p:nvPr>
            <p:ph type="dt" sz="half" idx="10"/>
          </p:nvPr>
        </p:nvSpPr>
        <p:spPr/>
        <p:txBody>
          <a:bodyPr/>
          <a:lstStyle/>
          <a:p>
            <a:fld id="{C9490478-133C-46F1-90F4-8C4DA2D1FDEE}" type="datetimeFigureOut">
              <a:rPr lang="en-US" smtClean="0"/>
              <a:t>9/12/2022</a:t>
            </a:fld>
            <a:endParaRPr lang="en-US"/>
          </a:p>
        </p:txBody>
      </p:sp>
      <p:sp>
        <p:nvSpPr>
          <p:cNvPr id="6" name="Substituent subsol 5"/>
          <p:cNvSpPr>
            <a:spLocks noGrp="1"/>
          </p:cNvSpPr>
          <p:nvPr>
            <p:ph type="ftr" sz="quarter" idx="11"/>
          </p:nvPr>
        </p:nvSpPr>
        <p:spPr/>
        <p:txBody>
          <a:bodyPr/>
          <a:lstStyle/>
          <a:p>
            <a:endParaRPr lang="en-US"/>
          </a:p>
        </p:txBody>
      </p:sp>
      <p:sp>
        <p:nvSpPr>
          <p:cNvPr id="7" name="Substituent număr diapozitiv 6"/>
          <p:cNvSpPr>
            <a:spLocks noGrp="1"/>
          </p:cNvSpPr>
          <p:nvPr>
            <p:ph type="sldNum" sz="quarter" idx="12"/>
          </p:nvPr>
        </p:nvSpPr>
        <p:spPr/>
        <p:txBody>
          <a:bodyPr/>
          <a:lstStyle/>
          <a:p>
            <a:fld id="{585AE3AD-3339-4CC0-BAFD-E0A16E3F6F2B}" type="slidenum">
              <a:rPr lang="en-US" smtClean="0"/>
              <a:t>‹#›</a:t>
            </a:fld>
            <a:endParaRPr lang="en-US"/>
          </a:p>
        </p:txBody>
      </p:sp>
    </p:spTree>
    <p:extLst>
      <p:ext uri="{BB962C8B-B14F-4D97-AF65-F5344CB8AC3E}">
        <p14:creationId xmlns:p14="http://schemas.microsoft.com/office/powerpoint/2010/main" val="2142657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lvl1pPr>
              <a:defRPr/>
            </a:lvl1pPr>
          </a:lstStyle>
          <a:p>
            <a:r>
              <a:rPr lang="ro-RO" smtClean="0"/>
              <a:t>Clic pentru editare stil titlu</a:t>
            </a:r>
            <a:endParaRPr lang="en-US"/>
          </a:p>
        </p:txBody>
      </p:sp>
      <p:sp>
        <p:nvSpPr>
          <p:cNvPr id="3" name="Substituent text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smtClean="0"/>
              <a:t>Clic pentru editare stiluri text Coordonator</a:t>
            </a:r>
          </a:p>
        </p:txBody>
      </p:sp>
      <p:sp>
        <p:nvSpPr>
          <p:cNvPr id="4" name="Substituent conținut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a:p>
        </p:txBody>
      </p:sp>
      <p:sp>
        <p:nvSpPr>
          <p:cNvPr id="5" name="Substituent text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smtClean="0"/>
              <a:t>Clic pentru editare stiluri text Coordonator</a:t>
            </a:r>
          </a:p>
        </p:txBody>
      </p:sp>
      <p:sp>
        <p:nvSpPr>
          <p:cNvPr id="6" name="Substituent conținut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a:p>
        </p:txBody>
      </p:sp>
      <p:sp>
        <p:nvSpPr>
          <p:cNvPr id="7" name="Substituent dată 6"/>
          <p:cNvSpPr>
            <a:spLocks noGrp="1"/>
          </p:cNvSpPr>
          <p:nvPr>
            <p:ph type="dt" sz="half" idx="10"/>
          </p:nvPr>
        </p:nvSpPr>
        <p:spPr/>
        <p:txBody>
          <a:bodyPr/>
          <a:lstStyle/>
          <a:p>
            <a:fld id="{C9490478-133C-46F1-90F4-8C4DA2D1FDEE}" type="datetimeFigureOut">
              <a:rPr lang="en-US" smtClean="0"/>
              <a:t>9/12/2022</a:t>
            </a:fld>
            <a:endParaRPr lang="en-US"/>
          </a:p>
        </p:txBody>
      </p:sp>
      <p:sp>
        <p:nvSpPr>
          <p:cNvPr id="8" name="Substituent subsol 7"/>
          <p:cNvSpPr>
            <a:spLocks noGrp="1"/>
          </p:cNvSpPr>
          <p:nvPr>
            <p:ph type="ftr" sz="quarter" idx="11"/>
          </p:nvPr>
        </p:nvSpPr>
        <p:spPr/>
        <p:txBody>
          <a:bodyPr/>
          <a:lstStyle/>
          <a:p>
            <a:endParaRPr lang="en-US"/>
          </a:p>
        </p:txBody>
      </p:sp>
      <p:sp>
        <p:nvSpPr>
          <p:cNvPr id="9" name="Substituent număr diapozitiv 8"/>
          <p:cNvSpPr>
            <a:spLocks noGrp="1"/>
          </p:cNvSpPr>
          <p:nvPr>
            <p:ph type="sldNum" sz="quarter" idx="12"/>
          </p:nvPr>
        </p:nvSpPr>
        <p:spPr/>
        <p:txBody>
          <a:bodyPr/>
          <a:lstStyle/>
          <a:p>
            <a:fld id="{585AE3AD-3339-4CC0-BAFD-E0A16E3F6F2B}" type="slidenum">
              <a:rPr lang="en-US" smtClean="0"/>
              <a:t>‹#›</a:t>
            </a:fld>
            <a:endParaRPr lang="en-US"/>
          </a:p>
        </p:txBody>
      </p:sp>
    </p:spTree>
    <p:extLst>
      <p:ext uri="{BB962C8B-B14F-4D97-AF65-F5344CB8AC3E}">
        <p14:creationId xmlns:p14="http://schemas.microsoft.com/office/powerpoint/2010/main" val="403411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smtClean="0"/>
              <a:t>Clic pentru editare stil titlu</a:t>
            </a:r>
            <a:endParaRPr lang="en-US"/>
          </a:p>
        </p:txBody>
      </p:sp>
      <p:sp>
        <p:nvSpPr>
          <p:cNvPr id="3" name="Substituent dată 2"/>
          <p:cNvSpPr>
            <a:spLocks noGrp="1"/>
          </p:cNvSpPr>
          <p:nvPr>
            <p:ph type="dt" sz="half" idx="10"/>
          </p:nvPr>
        </p:nvSpPr>
        <p:spPr/>
        <p:txBody>
          <a:bodyPr/>
          <a:lstStyle/>
          <a:p>
            <a:fld id="{C9490478-133C-46F1-90F4-8C4DA2D1FDEE}" type="datetimeFigureOut">
              <a:rPr lang="en-US" smtClean="0"/>
              <a:t>9/12/2022</a:t>
            </a:fld>
            <a:endParaRPr lang="en-US"/>
          </a:p>
        </p:txBody>
      </p:sp>
      <p:sp>
        <p:nvSpPr>
          <p:cNvPr id="4" name="Substituent subsol 3"/>
          <p:cNvSpPr>
            <a:spLocks noGrp="1"/>
          </p:cNvSpPr>
          <p:nvPr>
            <p:ph type="ftr" sz="quarter" idx="11"/>
          </p:nvPr>
        </p:nvSpPr>
        <p:spPr/>
        <p:txBody>
          <a:bodyPr/>
          <a:lstStyle/>
          <a:p>
            <a:endParaRPr lang="en-US"/>
          </a:p>
        </p:txBody>
      </p:sp>
      <p:sp>
        <p:nvSpPr>
          <p:cNvPr id="5" name="Substituent număr diapozitiv 4"/>
          <p:cNvSpPr>
            <a:spLocks noGrp="1"/>
          </p:cNvSpPr>
          <p:nvPr>
            <p:ph type="sldNum" sz="quarter" idx="12"/>
          </p:nvPr>
        </p:nvSpPr>
        <p:spPr/>
        <p:txBody>
          <a:bodyPr/>
          <a:lstStyle/>
          <a:p>
            <a:fld id="{585AE3AD-3339-4CC0-BAFD-E0A16E3F6F2B}" type="slidenum">
              <a:rPr lang="en-US" smtClean="0"/>
              <a:t>‹#›</a:t>
            </a:fld>
            <a:endParaRPr lang="en-US"/>
          </a:p>
        </p:txBody>
      </p:sp>
    </p:spTree>
    <p:extLst>
      <p:ext uri="{BB962C8B-B14F-4D97-AF65-F5344CB8AC3E}">
        <p14:creationId xmlns:p14="http://schemas.microsoft.com/office/powerpoint/2010/main" val="795816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ecompletat">
    <p:spTree>
      <p:nvGrpSpPr>
        <p:cNvPr id="1" name=""/>
        <p:cNvGrpSpPr/>
        <p:nvPr/>
      </p:nvGrpSpPr>
      <p:grpSpPr>
        <a:xfrm>
          <a:off x="0" y="0"/>
          <a:ext cx="0" cy="0"/>
          <a:chOff x="0" y="0"/>
          <a:chExt cx="0" cy="0"/>
        </a:xfrm>
      </p:grpSpPr>
      <p:sp>
        <p:nvSpPr>
          <p:cNvPr id="2" name="Substituent dată 1"/>
          <p:cNvSpPr>
            <a:spLocks noGrp="1"/>
          </p:cNvSpPr>
          <p:nvPr>
            <p:ph type="dt" sz="half" idx="10"/>
          </p:nvPr>
        </p:nvSpPr>
        <p:spPr/>
        <p:txBody>
          <a:bodyPr/>
          <a:lstStyle/>
          <a:p>
            <a:fld id="{C9490478-133C-46F1-90F4-8C4DA2D1FDEE}" type="datetimeFigureOut">
              <a:rPr lang="en-US" smtClean="0"/>
              <a:t>9/12/2022</a:t>
            </a:fld>
            <a:endParaRPr lang="en-US"/>
          </a:p>
        </p:txBody>
      </p:sp>
      <p:sp>
        <p:nvSpPr>
          <p:cNvPr id="3" name="Substituent subsol 2"/>
          <p:cNvSpPr>
            <a:spLocks noGrp="1"/>
          </p:cNvSpPr>
          <p:nvPr>
            <p:ph type="ftr" sz="quarter" idx="11"/>
          </p:nvPr>
        </p:nvSpPr>
        <p:spPr/>
        <p:txBody>
          <a:bodyPr/>
          <a:lstStyle/>
          <a:p>
            <a:endParaRPr lang="en-US"/>
          </a:p>
        </p:txBody>
      </p:sp>
      <p:sp>
        <p:nvSpPr>
          <p:cNvPr id="4" name="Substituent număr diapozitiv 3"/>
          <p:cNvSpPr>
            <a:spLocks noGrp="1"/>
          </p:cNvSpPr>
          <p:nvPr>
            <p:ph type="sldNum" sz="quarter" idx="12"/>
          </p:nvPr>
        </p:nvSpPr>
        <p:spPr/>
        <p:txBody>
          <a:bodyPr/>
          <a:lstStyle/>
          <a:p>
            <a:fld id="{585AE3AD-3339-4CC0-BAFD-E0A16E3F6F2B}" type="slidenum">
              <a:rPr lang="en-US" smtClean="0"/>
              <a:t>‹#›</a:t>
            </a:fld>
            <a:endParaRPr lang="en-US"/>
          </a:p>
        </p:txBody>
      </p:sp>
    </p:spTree>
    <p:extLst>
      <p:ext uri="{BB962C8B-B14F-4D97-AF65-F5344CB8AC3E}">
        <p14:creationId xmlns:p14="http://schemas.microsoft.com/office/powerpoint/2010/main" val="2624911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457201" y="204787"/>
            <a:ext cx="3008313" cy="871538"/>
          </a:xfrm>
        </p:spPr>
        <p:txBody>
          <a:bodyPr anchor="b"/>
          <a:lstStyle>
            <a:lvl1pPr algn="l">
              <a:defRPr sz="2000" b="1"/>
            </a:lvl1pPr>
          </a:lstStyle>
          <a:p>
            <a:r>
              <a:rPr lang="ro-RO" smtClean="0"/>
              <a:t>Clic pentru editare stil titlu</a:t>
            </a:r>
            <a:endParaRPr lang="en-US"/>
          </a:p>
        </p:txBody>
      </p:sp>
      <p:sp>
        <p:nvSpPr>
          <p:cNvPr id="3" name="Substituent conținut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a:p>
        </p:txBody>
      </p:sp>
      <p:sp>
        <p:nvSpPr>
          <p:cNvPr id="4" name="Substituent text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smtClean="0"/>
              <a:t>Clic pentru editare stiluri text Coordonator</a:t>
            </a:r>
          </a:p>
        </p:txBody>
      </p:sp>
      <p:sp>
        <p:nvSpPr>
          <p:cNvPr id="5" name="Substituent dată 4"/>
          <p:cNvSpPr>
            <a:spLocks noGrp="1"/>
          </p:cNvSpPr>
          <p:nvPr>
            <p:ph type="dt" sz="half" idx="10"/>
          </p:nvPr>
        </p:nvSpPr>
        <p:spPr/>
        <p:txBody>
          <a:bodyPr/>
          <a:lstStyle/>
          <a:p>
            <a:fld id="{C9490478-133C-46F1-90F4-8C4DA2D1FDEE}" type="datetimeFigureOut">
              <a:rPr lang="en-US" smtClean="0"/>
              <a:t>9/12/2022</a:t>
            </a:fld>
            <a:endParaRPr lang="en-US"/>
          </a:p>
        </p:txBody>
      </p:sp>
      <p:sp>
        <p:nvSpPr>
          <p:cNvPr id="6" name="Substituent subsol 5"/>
          <p:cNvSpPr>
            <a:spLocks noGrp="1"/>
          </p:cNvSpPr>
          <p:nvPr>
            <p:ph type="ftr" sz="quarter" idx="11"/>
          </p:nvPr>
        </p:nvSpPr>
        <p:spPr/>
        <p:txBody>
          <a:bodyPr/>
          <a:lstStyle/>
          <a:p>
            <a:endParaRPr lang="en-US"/>
          </a:p>
        </p:txBody>
      </p:sp>
      <p:sp>
        <p:nvSpPr>
          <p:cNvPr id="7" name="Substituent număr diapozitiv 6"/>
          <p:cNvSpPr>
            <a:spLocks noGrp="1"/>
          </p:cNvSpPr>
          <p:nvPr>
            <p:ph type="sldNum" sz="quarter" idx="12"/>
          </p:nvPr>
        </p:nvSpPr>
        <p:spPr/>
        <p:txBody>
          <a:bodyPr/>
          <a:lstStyle/>
          <a:p>
            <a:fld id="{585AE3AD-3339-4CC0-BAFD-E0A16E3F6F2B}" type="slidenum">
              <a:rPr lang="en-US" smtClean="0"/>
              <a:t>‹#›</a:t>
            </a:fld>
            <a:endParaRPr lang="en-US"/>
          </a:p>
        </p:txBody>
      </p:sp>
    </p:spTree>
    <p:extLst>
      <p:ext uri="{BB962C8B-B14F-4D97-AF65-F5344CB8AC3E}">
        <p14:creationId xmlns:p14="http://schemas.microsoft.com/office/powerpoint/2010/main" val="371292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1792288" y="3600450"/>
            <a:ext cx="5486400" cy="425054"/>
          </a:xfrm>
        </p:spPr>
        <p:txBody>
          <a:bodyPr anchor="b"/>
          <a:lstStyle>
            <a:lvl1pPr algn="l">
              <a:defRPr sz="2000" b="1"/>
            </a:lvl1pPr>
          </a:lstStyle>
          <a:p>
            <a:r>
              <a:rPr lang="ro-RO" smtClean="0"/>
              <a:t>Clic pentru editare stil titlu</a:t>
            </a:r>
            <a:endParaRPr lang="en-US"/>
          </a:p>
        </p:txBody>
      </p:sp>
      <p:sp>
        <p:nvSpPr>
          <p:cNvPr id="3" name="Substituent imagine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Substituent text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smtClean="0"/>
              <a:t>Clic pentru editare stiluri text Coordonator</a:t>
            </a:r>
          </a:p>
        </p:txBody>
      </p:sp>
      <p:sp>
        <p:nvSpPr>
          <p:cNvPr id="5" name="Substituent dată 4"/>
          <p:cNvSpPr>
            <a:spLocks noGrp="1"/>
          </p:cNvSpPr>
          <p:nvPr>
            <p:ph type="dt" sz="half" idx="10"/>
          </p:nvPr>
        </p:nvSpPr>
        <p:spPr/>
        <p:txBody>
          <a:bodyPr/>
          <a:lstStyle/>
          <a:p>
            <a:fld id="{C9490478-133C-46F1-90F4-8C4DA2D1FDEE}" type="datetimeFigureOut">
              <a:rPr lang="en-US" smtClean="0"/>
              <a:t>9/12/2022</a:t>
            </a:fld>
            <a:endParaRPr lang="en-US"/>
          </a:p>
        </p:txBody>
      </p:sp>
      <p:sp>
        <p:nvSpPr>
          <p:cNvPr id="6" name="Substituent subsol 5"/>
          <p:cNvSpPr>
            <a:spLocks noGrp="1"/>
          </p:cNvSpPr>
          <p:nvPr>
            <p:ph type="ftr" sz="quarter" idx="11"/>
          </p:nvPr>
        </p:nvSpPr>
        <p:spPr/>
        <p:txBody>
          <a:bodyPr/>
          <a:lstStyle/>
          <a:p>
            <a:endParaRPr lang="en-US"/>
          </a:p>
        </p:txBody>
      </p:sp>
      <p:sp>
        <p:nvSpPr>
          <p:cNvPr id="7" name="Substituent număr diapozitiv 6"/>
          <p:cNvSpPr>
            <a:spLocks noGrp="1"/>
          </p:cNvSpPr>
          <p:nvPr>
            <p:ph type="sldNum" sz="quarter" idx="12"/>
          </p:nvPr>
        </p:nvSpPr>
        <p:spPr/>
        <p:txBody>
          <a:bodyPr/>
          <a:lstStyle/>
          <a:p>
            <a:fld id="{585AE3AD-3339-4CC0-BAFD-E0A16E3F6F2B}" type="slidenum">
              <a:rPr lang="en-US" smtClean="0"/>
              <a:t>‹#›</a:t>
            </a:fld>
            <a:endParaRPr lang="en-US"/>
          </a:p>
        </p:txBody>
      </p:sp>
    </p:spTree>
    <p:extLst>
      <p:ext uri="{BB962C8B-B14F-4D97-AF65-F5344CB8AC3E}">
        <p14:creationId xmlns:p14="http://schemas.microsoft.com/office/powerpoint/2010/main" val="2828460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smtClean="0"/>
              <a:t>Clic pentru editare stil titlu</a:t>
            </a:r>
            <a:endParaRPr lang="en-US"/>
          </a:p>
        </p:txBody>
      </p:sp>
      <p:sp>
        <p:nvSpPr>
          <p:cNvPr id="3" name="Substituent text vertical 2"/>
          <p:cNvSpPr>
            <a:spLocks noGrp="1"/>
          </p:cNvSpPr>
          <p:nvPr>
            <p:ph type="body" orient="vert" idx="1"/>
          </p:nvPr>
        </p:nvSpPr>
        <p:spPr/>
        <p:txBody>
          <a:bodyPr vert="eaVert"/>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a:p>
        </p:txBody>
      </p:sp>
      <p:sp>
        <p:nvSpPr>
          <p:cNvPr id="4" name="Substituent dată 3"/>
          <p:cNvSpPr>
            <a:spLocks noGrp="1"/>
          </p:cNvSpPr>
          <p:nvPr>
            <p:ph type="dt" sz="half" idx="10"/>
          </p:nvPr>
        </p:nvSpPr>
        <p:spPr/>
        <p:txBody>
          <a:bodyPr/>
          <a:lstStyle/>
          <a:p>
            <a:fld id="{C9490478-133C-46F1-90F4-8C4DA2D1FDEE}" type="datetimeFigureOut">
              <a:rPr lang="en-US" smtClean="0"/>
              <a:t>9/12/2022</a:t>
            </a:fld>
            <a:endParaRPr lang="en-US"/>
          </a:p>
        </p:txBody>
      </p:sp>
      <p:sp>
        <p:nvSpPr>
          <p:cNvPr id="5" name="Substituent subsol 4"/>
          <p:cNvSpPr>
            <a:spLocks noGrp="1"/>
          </p:cNvSpPr>
          <p:nvPr>
            <p:ph type="ftr" sz="quarter" idx="11"/>
          </p:nvPr>
        </p:nvSpPr>
        <p:spPr/>
        <p:txBody>
          <a:bodyPr/>
          <a:lstStyle/>
          <a:p>
            <a:endParaRPr lang="en-US"/>
          </a:p>
        </p:txBody>
      </p:sp>
      <p:sp>
        <p:nvSpPr>
          <p:cNvPr id="6" name="Substituent număr diapozitiv 5"/>
          <p:cNvSpPr>
            <a:spLocks noGrp="1"/>
          </p:cNvSpPr>
          <p:nvPr>
            <p:ph type="sldNum" sz="quarter" idx="12"/>
          </p:nvPr>
        </p:nvSpPr>
        <p:spPr/>
        <p:txBody>
          <a:bodyPr/>
          <a:lstStyle/>
          <a:p>
            <a:fld id="{585AE3AD-3339-4CC0-BAFD-E0A16E3F6F2B}" type="slidenum">
              <a:rPr lang="en-US" smtClean="0"/>
              <a:t>‹#›</a:t>
            </a:fld>
            <a:endParaRPr lang="en-US"/>
          </a:p>
        </p:txBody>
      </p:sp>
    </p:spTree>
    <p:extLst>
      <p:ext uri="{BB962C8B-B14F-4D97-AF65-F5344CB8AC3E}">
        <p14:creationId xmlns:p14="http://schemas.microsoft.com/office/powerpoint/2010/main" val="1848826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6629400" y="205979"/>
            <a:ext cx="2057400" cy="4388644"/>
          </a:xfrm>
        </p:spPr>
        <p:txBody>
          <a:bodyPr vert="eaVert"/>
          <a:lstStyle/>
          <a:p>
            <a:r>
              <a:rPr lang="ro-RO" smtClean="0"/>
              <a:t>Clic pentru editare stil titlu</a:t>
            </a:r>
            <a:endParaRPr lang="en-US"/>
          </a:p>
        </p:txBody>
      </p:sp>
      <p:sp>
        <p:nvSpPr>
          <p:cNvPr id="3" name="Substituent text vertical 2"/>
          <p:cNvSpPr>
            <a:spLocks noGrp="1"/>
          </p:cNvSpPr>
          <p:nvPr>
            <p:ph type="body" orient="vert" idx="1"/>
          </p:nvPr>
        </p:nvSpPr>
        <p:spPr>
          <a:xfrm>
            <a:off x="457200" y="205979"/>
            <a:ext cx="6019800" cy="4388644"/>
          </a:xfrm>
        </p:spPr>
        <p:txBody>
          <a:bodyPr vert="eaVert"/>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a:p>
        </p:txBody>
      </p:sp>
      <p:sp>
        <p:nvSpPr>
          <p:cNvPr id="4" name="Substituent dată 3"/>
          <p:cNvSpPr>
            <a:spLocks noGrp="1"/>
          </p:cNvSpPr>
          <p:nvPr>
            <p:ph type="dt" sz="half" idx="10"/>
          </p:nvPr>
        </p:nvSpPr>
        <p:spPr/>
        <p:txBody>
          <a:bodyPr/>
          <a:lstStyle/>
          <a:p>
            <a:fld id="{C9490478-133C-46F1-90F4-8C4DA2D1FDEE}" type="datetimeFigureOut">
              <a:rPr lang="en-US" smtClean="0"/>
              <a:t>9/12/2022</a:t>
            </a:fld>
            <a:endParaRPr lang="en-US"/>
          </a:p>
        </p:txBody>
      </p:sp>
      <p:sp>
        <p:nvSpPr>
          <p:cNvPr id="5" name="Substituent subsol 4"/>
          <p:cNvSpPr>
            <a:spLocks noGrp="1"/>
          </p:cNvSpPr>
          <p:nvPr>
            <p:ph type="ftr" sz="quarter" idx="11"/>
          </p:nvPr>
        </p:nvSpPr>
        <p:spPr/>
        <p:txBody>
          <a:bodyPr/>
          <a:lstStyle/>
          <a:p>
            <a:endParaRPr lang="en-US"/>
          </a:p>
        </p:txBody>
      </p:sp>
      <p:sp>
        <p:nvSpPr>
          <p:cNvPr id="6" name="Substituent număr diapozitiv 5"/>
          <p:cNvSpPr>
            <a:spLocks noGrp="1"/>
          </p:cNvSpPr>
          <p:nvPr>
            <p:ph type="sldNum" sz="quarter" idx="12"/>
          </p:nvPr>
        </p:nvSpPr>
        <p:spPr/>
        <p:txBody>
          <a:bodyPr/>
          <a:lstStyle/>
          <a:p>
            <a:fld id="{585AE3AD-3339-4CC0-BAFD-E0A16E3F6F2B}" type="slidenum">
              <a:rPr lang="en-US" smtClean="0"/>
              <a:t>‹#›</a:t>
            </a:fld>
            <a:endParaRPr lang="en-US"/>
          </a:p>
        </p:txBody>
      </p:sp>
    </p:spTree>
    <p:extLst>
      <p:ext uri="{BB962C8B-B14F-4D97-AF65-F5344CB8AC3E}">
        <p14:creationId xmlns:p14="http://schemas.microsoft.com/office/powerpoint/2010/main" val="3424555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titlu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ro-RO" smtClean="0"/>
              <a:t>Clic pentru editare stil titlu</a:t>
            </a:r>
            <a:endParaRPr lang="en-US"/>
          </a:p>
        </p:txBody>
      </p:sp>
      <p:sp>
        <p:nvSpPr>
          <p:cNvPr id="3" name="Substituent text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a:p>
        </p:txBody>
      </p:sp>
      <p:sp>
        <p:nvSpPr>
          <p:cNvPr id="4" name="Substituent dată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C9490478-133C-46F1-90F4-8C4DA2D1FDEE}" type="datetimeFigureOut">
              <a:rPr lang="en-US" smtClean="0"/>
              <a:t>9/12/2022</a:t>
            </a:fld>
            <a:endParaRPr lang="en-US"/>
          </a:p>
        </p:txBody>
      </p:sp>
      <p:sp>
        <p:nvSpPr>
          <p:cNvPr id="5" name="Substituent subsol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ubstituent număr diapozitiv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585AE3AD-3339-4CC0-BAFD-E0A16E3F6F2B}" type="slidenum">
              <a:rPr lang="en-US" smtClean="0"/>
              <a:t>‹#›</a:t>
            </a:fld>
            <a:endParaRPr lang="en-US"/>
          </a:p>
        </p:txBody>
      </p:sp>
    </p:spTree>
    <p:extLst>
      <p:ext uri="{BB962C8B-B14F-4D97-AF65-F5344CB8AC3E}">
        <p14:creationId xmlns:p14="http://schemas.microsoft.com/office/powerpoint/2010/main" val="2399517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a:noAutofit/>
          </a:bodyPr>
          <a:lstStyle/>
          <a:p>
            <a:r>
              <a:rPr lang="en-US" sz="4200" b="1" smtClean="0">
                <a:ln>
                  <a:solidFill>
                    <a:schemeClr val="tx1">
                      <a:alpha val="70000"/>
                    </a:schemeClr>
                  </a:solidFill>
                </a:ln>
                <a:solidFill>
                  <a:srgbClr val="FF0000"/>
                </a:solidFill>
                <a:effectLst>
                  <a:outerShdw blurRad="50800" dist="38100" dir="2700000" algn="tl" rotWithShape="0">
                    <a:prstClr val="black">
                      <a:alpha val="23000"/>
                    </a:prstClr>
                  </a:outerShdw>
                </a:effectLst>
              </a:rPr>
              <a:t>Autoregressive Models</a:t>
            </a:r>
            <a:endParaRPr lang="en-US" sz="4200" b="1">
              <a:ln>
                <a:solidFill>
                  <a:schemeClr val="tx1">
                    <a:alpha val="70000"/>
                  </a:schemeClr>
                </a:solidFill>
              </a:ln>
              <a:solidFill>
                <a:srgbClr val="FF0000"/>
              </a:solidFill>
              <a:effectLst>
                <a:outerShdw blurRad="50800" dist="38100" dir="2700000" algn="tl" rotWithShape="0">
                  <a:prstClr val="black">
                    <a:alpha val="23000"/>
                  </a:prstClr>
                </a:outerShdw>
              </a:effectLst>
            </a:endParaRPr>
          </a:p>
        </p:txBody>
      </p:sp>
    </p:spTree>
    <p:extLst>
      <p:ext uri="{BB962C8B-B14F-4D97-AF65-F5344CB8AC3E}">
        <p14:creationId xmlns:p14="http://schemas.microsoft.com/office/powerpoint/2010/main" val="40564427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Autoregressive models</a:t>
            </a:r>
            <a:endParaRPr lang="en-US"/>
          </a:p>
        </p:txBody>
      </p:sp>
      <p:sp>
        <p:nvSpPr>
          <p:cNvPr id="3" name="Content Placeholder 2"/>
          <p:cNvSpPr>
            <a:spLocks noGrp="1"/>
          </p:cNvSpPr>
          <p:nvPr>
            <p:ph idx="1"/>
          </p:nvPr>
        </p:nvSpPr>
        <p:spPr/>
        <p:txBody>
          <a:bodyPr>
            <a:noAutofit/>
          </a:bodyPr>
          <a:lstStyle/>
          <a:p>
            <a:endParaRPr lang="en-US" sz="2700" smtClean="0"/>
          </a:p>
          <a:p>
            <a:r>
              <a:rPr lang="en-US" sz="2700" smtClean="0"/>
              <a:t>Autocorrelation</a:t>
            </a:r>
          </a:p>
          <a:p>
            <a:r>
              <a:rPr lang="en-US" sz="2700" smtClean="0"/>
              <a:t>Stationarity</a:t>
            </a:r>
          </a:p>
          <a:p>
            <a:r>
              <a:rPr lang="en-US" sz="2700" smtClean="0"/>
              <a:t>Differencing</a:t>
            </a:r>
          </a:p>
          <a:p>
            <a:r>
              <a:rPr lang="en-US" sz="2700" smtClean="0"/>
              <a:t>The autoregressive (AR) process</a:t>
            </a:r>
          </a:p>
          <a:p>
            <a:r>
              <a:rPr lang="en-US" sz="2700" smtClean="0"/>
              <a:t>The moving average (MA) process</a:t>
            </a:r>
          </a:p>
          <a:p>
            <a:r>
              <a:rPr lang="en-US" sz="2700" smtClean="0"/>
              <a:t>The ARIMA model</a:t>
            </a:r>
            <a:endParaRPr lang="en-US" sz="2700"/>
          </a:p>
        </p:txBody>
      </p:sp>
    </p:spTree>
    <p:extLst>
      <p:ext uri="{BB962C8B-B14F-4D97-AF65-F5344CB8AC3E}">
        <p14:creationId xmlns:p14="http://schemas.microsoft.com/office/powerpoint/2010/main" val="1287778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a:noAutofit/>
          </a:bodyPr>
          <a:lstStyle/>
          <a:p>
            <a:r>
              <a:rPr lang="en-US" sz="4200" b="1" smtClean="0">
                <a:ln>
                  <a:solidFill>
                    <a:schemeClr val="tx1">
                      <a:alpha val="70000"/>
                    </a:schemeClr>
                  </a:solidFill>
                </a:ln>
                <a:solidFill>
                  <a:srgbClr val="FF0000"/>
                </a:solidFill>
                <a:effectLst>
                  <a:outerShdw blurRad="50800" dist="38100" dir="2700000" algn="tl" rotWithShape="0">
                    <a:prstClr val="black">
                      <a:alpha val="23000"/>
                    </a:prstClr>
                  </a:outerShdw>
                </a:effectLst>
              </a:rPr>
              <a:t>Autocorrelation</a:t>
            </a:r>
            <a:endParaRPr lang="en-US" sz="4200" b="1">
              <a:ln>
                <a:solidFill>
                  <a:schemeClr val="tx1">
                    <a:alpha val="70000"/>
                  </a:schemeClr>
                </a:solidFill>
              </a:ln>
              <a:solidFill>
                <a:srgbClr val="FF0000"/>
              </a:solidFill>
              <a:effectLst>
                <a:outerShdw blurRad="50800" dist="38100" dir="2700000" algn="tl" rotWithShape="0">
                  <a:prstClr val="black">
                    <a:alpha val="23000"/>
                  </a:prstClr>
                </a:outerShdw>
              </a:effectLst>
            </a:endParaRPr>
          </a:p>
        </p:txBody>
      </p:sp>
    </p:spTree>
    <p:extLst>
      <p:ext uri="{BB962C8B-B14F-4D97-AF65-F5344CB8AC3E}">
        <p14:creationId xmlns:p14="http://schemas.microsoft.com/office/powerpoint/2010/main" val="41568490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Autocorrelation</a:t>
            </a:r>
            <a:endParaRPr lang="en-US"/>
          </a:p>
        </p:txBody>
      </p:sp>
      <p:sp>
        <p:nvSpPr>
          <p:cNvPr id="3" name="Content Placeholder 2"/>
          <p:cNvSpPr>
            <a:spLocks noGrp="1"/>
          </p:cNvSpPr>
          <p:nvPr>
            <p:ph idx="1"/>
          </p:nvPr>
        </p:nvSpPr>
        <p:spPr/>
        <p:txBody>
          <a:bodyPr>
            <a:noAutofit/>
          </a:bodyPr>
          <a:lstStyle/>
          <a:p>
            <a:pPr marL="0" indent="0">
              <a:buNone/>
            </a:pPr>
            <a:r>
              <a:rPr lang="en-US"/>
              <a:t>Autocorrelation, also known as serial correlation, represents the correlation between a time series and a delayed version of itself. </a:t>
            </a:r>
            <a:endParaRPr lang="en-US" smtClean="0"/>
          </a:p>
          <a:p>
            <a:pPr marL="0" indent="0">
              <a:buNone/>
            </a:pPr>
            <a:endParaRPr lang="en-US"/>
          </a:p>
          <a:p>
            <a:pPr marL="0" indent="0">
              <a:buNone/>
            </a:pPr>
            <a:r>
              <a:rPr lang="en-US" smtClean="0"/>
              <a:t>The </a:t>
            </a:r>
            <a:r>
              <a:rPr lang="en-US"/>
              <a:t>delayed variables are also called lags.</a:t>
            </a:r>
          </a:p>
        </p:txBody>
      </p:sp>
    </p:spTree>
    <p:extLst>
      <p:ext uri="{BB962C8B-B14F-4D97-AF65-F5344CB8AC3E}">
        <p14:creationId xmlns:p14="http://schemas.microsoft.com/office/powerpoint/2010/main" val="3260424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Autocorrelation</a:t>
            </a:r>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3783" y="1200150"/>
            <a:ext cx="7283417" cy="3581400"/>
          </a:xfrm>
        </p:spPr>
      </p:pic>
    </p:spTree>
    <p:extLst>
      <p:ext uri="{BB962C8B-B14F-4D97-AF65-F5344CB8AC3E}">
        <p14:creationId xmlns:p14="http://schemas.microsoft.com/office/powerpoint/2010/main" val="792051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Autocorrelation</a:t>
            </a:r>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a:t>The presence of autocorrelation in a series </a:t>
            </a:r>
            <a:r>
              <a:rPr lang="en-US" smtClean="0"/>
              <a:t>can </a:t>
            </a:r>
            <a:r>
              <a:rPr lang="en-US"/>
              <a:t>help us improve forecasts. For </a:t>
            </a:r>
            <a:r>
              <a:rPr lang="en-US" smtClean="0"/>
              <a:t>example:</a:t>
            </a:r>
          </a:p>
          <a:p>
            <a:pPr marL="0" indent="0">
              <a:buNone/>
            </a:pPr>
            <a:endParaRPr lang="en-US" smtClean="0"/>
          </a:p>
          <a:p>
            <a:pPr>
              <a:buFont typeface="Wingdings" panose="05000000000000000000" pitchFamily="2" charset="2"/>
              <a:buChar char="Ø"/>
            </a:pPr>
            <a:r>
              <a:rPr lang="en-US" smtClean="0"/>
              <a:t>a positive </a:t>
            </a:r>
            <a:r>
              <a:rPr lang="en-US"/>
              <a:t>autocorrelation means that successive values in our series are </a:t>
            </a:r>
            <a:r>
              <a:rPr lang="en-US" smtClean="0"/>
              <a:t>similar </a:t>
            </a:r>
          </a:p>
          <a:p>
            <a:pPr>
              <a:buFont typeface="Wingdings" panose="05000000000000000000" pitchFamily="2" charset="2"/>
              <a:buChar char="Ø"/>
            </a:pPr>
            <a:endParaRPr lang="en-US"/>
          </a:p>
          <a:p>
            <a:pPr>
              <a:buFont typeface="Wingdings" panose="05000000000000000000" pitchFamily="2" charset="2"/>
              <a:buChar char="Ø"/>
            </a:pPr>
            <a:r>
              <a:rPr lang="en-US" smtClean="0"/>
              <a:t>a </a:t>
            </a:r>
            <a:r>
              <a:rPr lang="en-US"/>
              <a:t>negative autocorrelation means that successive values tend to be </a:t>
            </a:r>
            <a:r>
              <a:rPr lang="en-US" smtClean="0"/>
              <a:t>different</a:t>
            </a:r>
            <a:endParaRPr lang="en-US"/>
          </a:p>
        </p:txBody>
      </p:sp>
    </p:spTree>
    <p:extLst>
      <p:ext uri="{BB962C8B-B14F-4D97-AF65-F5344CB8AC3E}">
        <p14:creationId xmlns:p14="http://schemas.microsoft.com/office/powerpoint/2010/main" val="864688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Autocorrelation</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a:t>The formula of the lag-k </a:t>
                </a:r>
                <a:r>
                  <a:rPr lang="en-US" smtClean="0"/>
                  <a:t>autocorrelation:</a:t>
                </a:r>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a:rPr>
                            <m:t>𝑟</m:t>
                          </m:r>
                        </m:e>
                        <m:sub>
                          <m:r>
                            <a:rPr lang="en-US" i="1">
                              <a:latin typeface="Cambria Math"/>
                            </a:rPr>
                            <m:t>𝑘</m:t>
                          </m:r>
                        </m:sub>
                      </m:sSub>
                      <m:r>
                        <a:rPr lang="en-US" i="1">
                          <a:latin typeface="Cambria Math"/>
                        </a:rPr>
                        <m:t>=</m:t>
                      </m:r>
                      <m:f>
                        <m:fPr>
                          <m:ctrlPr>
                            <a:rPr lang="en-US" i="1">
                              <a:latin typeface="Cambria Math"/>
                            </a:rPr>
                          </m:ctrlPr>
                        </m:fPr>
                        <m:num>
                          <m:nary>
                            <m:naryPr>
                              <m:chr m:val="∑"/>
                              <m:limLoc m:val="subSup"/>
                              <m:ctrlPr>
                                <a:rPr lang="en-US" i="1">
                                  <a:latin typeface="Cambria Math"/>
                                </a:rPr>
                              </m:ctrlPr>
                            </m:naryPr>
                            <m:sub>
                              <m:r>
                                <a:rPr lang="en-US" i="1">
                                  <a:latin typeface="Cambria Math"/>
                                </a:rPr>
                                <m:t>𝑡</m:t>
                              </m:r>
                              <m:r>
                                <a:rPr lang="en-US" i="1">
                                  <a:latin typeface="Cambria Math"/>
                                </a:rPr>
                                <m:t>−</m:t>
                              </m:r>
                              <m:r>
                                <a:rPr lang="en-US" i="1">
                                  <a:latin typeface="Cambria Math"/>
                                </a:rPr>
                                <m:t>𝑘</m:t>
                              </m:r>
                              <m:r>
                                <a:rPr lang="en-US" i="1">
                                  <a:latin typeface="Cambria Math"/>
                                </a:rPr>
                                <m:t>+1</m:t>
                              </m:r>
                            </m:sub>
                            <m:sup>
                              <m:r>
                                <a:rPr lang="en-US" i="1">
                                  <a:latin typeface="Cambria Math"/>
                                </a:rPr>
                                <m:t>𝑛</m:t>
                              </m:r>
                              <m:r>
                                <a:rPr lang="en-US" i="1">
                                  <a:latin typeface="Cambria Math"/>
                                </a:rPr>
                                <m:t>−</m:t>
                              </m:r>
                              <m:r>
                                <a:rPr lang="en-US" i="1">
                                  <a:latin typeface="Cambria Math"/>
                                </a:rPr>
                                <m:t>𝑘</m:t>
                              </m:r>
                            </m:sup>
                            <m:e>
                              <m:r>
                                <a:rPr lang="en-US" i="1">
                                  <a:latin typeface="Cambria Math"/>
                                </a:rPr>
                                <m:t>(</m:t>
                              </m:r>
                              <m:sSub>
                                <m:sSubPr>
                                  <m:ctrlPr>
                                    <a:rPr lang="en-US" i="1">
                                      <a:latin typeface="Cambria Math"/>
                                    </a:rPr>
                                  </m:ctrlPr>
                                </m:sSubPr>
                                <m:e>
                                  <m:r>
                                    <a:rPr lang="en-US" i="1">
                                      <a:latin typeface="Cambria Math"/>
                                    </a:rPr>
                                    <m:t>𝑦</m:t>
                                  </m:r>
                                </m:e>
                                <m:sub>
                                  <m:r>
                                    <a:rPr lang="en-US" i="1">
                                      <a:latin typeface="Cambria Math"/>
                                    </a:rPr>
                                    <m:t>𝑡</m:t>
                                  </m:r>
                                  <m:r>
                                    <a:rPr lang="en-US" i="1">
                                      <a:latin typeface="Cambria Math"/>
                                    </a:rPr>
                                    <m:t>−</m:t>
                                  </m:r>
                                  <m:r>
                                    <a:rPr lang="en-US" i="1">
                                      <a:latin typeface="Cambria Math"/>
                                    </a:rPr>
                                    <m:t>𝑘</m:t>
                                  </m:r>
                                </m:sub>
                              </m:sSub>
                              <m:r>
                                <a:rPr lang="en-US" i="1">
                                  <a:latin typeface="Cambria Math"/>
                                </a:rPr>
                                <m:t>−</m:t>
                              </m:r>
                              <m:acc>
                                <m:accPr>
                                  <m:chr m:val="̅"/>
                                  <m:ctrlPr>
                                    <a:rPr lang="en-US" i="1">
                                      <a:latin typeface="Cambria Math"/>
                                    </a:rPr>
                                  </m:ctrlPr>
                                </m:accPr>
                                <m:e>
                                  <m:r>
                                    <a:rPr lang="en-US" i="1">
                                      <a:latin typeface="Cambria Math"/>
                                    </a:rPr>
                                    <m:t>𝑦</m:t>
                                  </m:r>
                                </m:e>
                              </m:acc>
                              <m:r>
                                <a:rPr lang="en-US" i="1">
                                  <a:latin typeface="Cambria Math"/>
                                </a:rPr>
                                <m:t>)(</m:t>
                              </m:r>
                              <m:sSub>
                                <m:sSubPr>
                                  <m:ctrlPr>
                                    <a:rPr lang="en-US" i="1">
                                      <a:latin typeface="Cambria Math"/>
                                    </a:rPr>
                                  </m:ctrlPr>
                                </m:sSubPr>
                                <m:e>
                                  <m:r>
                                    <a:rPr lang="en-US" i="1">
                                      <a:latin typeface="Cambria Math"/>
                                    </a:rPr>
                                    <m:t>𝑦</m:t>
                                  </m:r>
                                </m:e>
                                <m:sub>
                                  <m:r>
                                    <a:rPr lang="en-US" i="1">
                                      <a:latin typeface="Cambria Math"/>
                                    </a:rPr>
                                    <m:t>𝑡</m:t>
                                  </m:r>
                                </m:sub>
                              </m:sSub>
                              <m:r>
                                <a:rPr lang="en-US" i="1">
                                  <a:latin typeface="Cambria Math"/>
                                </a:rPr>
                                <m:t>−</m:t>
                              </m:r>
                              <m:acc>
                                <m:accPr>
                                  <m:chr m:val="̅"/>
                                  <m:ctrlPr>
                                    <a:rPr lang="en-US" i="1">
                                      <a:latin typeface="Cambria Math"/>
                                    </a:rPr>
                                  </m:ctrlPr>
                                </m:accPr>
                                <m:e>
                                  <m:r>
                                    <a:rPr lang="en-US" i="1">
                                      <a:latin typeface="Cambria Math"/>
                                    </a:rPr>
                                    <m:t>𝑦</m:t>
                                  </m:r>
                                </m:e>
                              </m:acc>
                              <m:r>
                                <a:rPr lang="en-US" i="1">
                                  <a:latin typeface="Cambria Math"/>
                                </a:rPr>
                                <m:t>)</m:t>
                              </m:r>
                            </m:e>
                          </m:nary>
                        </m:num>
                        <m:den>
                          <m:nary>
                            <m:naryPr>
                              <m:chr m:val="∑"/>
                              <m:limLoc m:val="subSup"/>
                              <m:ctrlPr>
                                <a:rPr lang="en-US" i="1">
                                  <a:latin typeface="Cambria Math"/>
                                </a:rPr>
                              </m:ctrlPr>
                            </m:naryPr>
                            <m:sub>
                              <m:r>
                                <a:rPr lang="en-US" i="1">
                                  <a:latin typeface="Cambria Math"/>
                                </a:rPr>
                                <m:t>𝑡</m:t>
                              </m:r>
                              <m:r>
                                <a:rPr lang="en-US" i="1">
                                  <a:latin typeface="Cambria Math"/>
                                </a:rPr>
                                <m:t>−1</m:t>
                              </m:r>
                            </m:sub>
                            <m:sup>
                              <m:r>
                                <a:rPr lang="en-US" i="1">
                                  <a:latin typeface="Cambria Math"/>
                                </a:rPr>
                                <m:t>𝑛</m:t>
                              </m:r>
                            </m:sup>
                            <m:e>
                              <m:sSup>
                                <m:sSupPr>
                                  <m:ctrlPr>
                                    <a:rPr lang="en-US" i="1">
                                      <a:latin typeface="Cambria Math"/>
                                    </a:rPr>
                                  </m:ctrlPr>
                                </m:sSupPr>
                                <m:e>
                                  <m:r>
                                    <a:rPr lang="en-US" i="1">
                                      <a:latin typeface="Cambria Math"/>
                                    </a:rPr>
                                    <m:t>(</m:t>
                                  </m:r>
                                  <m:sSub>
                                    <m:sSubPr>
                                      <m:ctrlPr>
                                        <a:rPr lang="en-US" i="1">
                                          <a:latin typeface="Cambria Math"/>
                                        </a:rPr>
                                      </m:ctrlPr>
                                    </m:sSubPr>
                                    <m:e>
                                      <m:r>
                                        <a:rPr lang="en-US" i="1">
                                          <a:latin typeface="Cambria Math"/>
                                        </a:rPr>
                                        <m:t>𝑦</m:t>
                                      </m:r>
                                    </m:e>
                                    <m:sub>
                                      <m:r>
                                        <a:rPr lang="en-US" i="1">
                                          <a:latin typeface="Cambria Math"/>
                                        </a:rPr>
                                        <m:t>𝑡</m:t>
                                      </m:r>
                                    </m:sub>
                                  </m:sSub>
                                  <m:r>
                                    <a:rPr lang="en-US" i="1">
                                      <a:latin typeface="Cambria Math"/>
                                    </a:rPr>
                                    <m:t>−</m:t>
                                  </m:r>
                                  <m:acc>
                                    <m:accPr>
                                      <m:chr m:val="̅"/>
                                      <m:ctrlPr>
                                        <a:rPr lang="en-US" i="1">
                                          <a:latin typeface="Cambria Math"/>
                                        </a:rPr>
                                      </m:ctrlPr>
                                    </m:accPr>
                                    <m:e>
                                      <m:r>
                                        <a:rPr lang="en-US" i="1">
                                          <a:latin typeface="Cambria Math"/>
                                        </a:rPr>
                                        <m:t>𝑦</m:t>
                                      </m:r>
                                    </m:e>
                                  </m:acc>
                                  <m:r>
                                    <a:rPr lang="en-US" i="1">
                                      <a:latin typeface="Cambria Math"/>
                                    </a:rPr>
                                    <m:t>)</m:t>
                                  </m:r>
                                </m:e>
                                <m:sup>
                                  <m:r>
                                    <a:rPr lang="en-US" i="1">
                                      <a:latin typeface="Cambria Math"/>
                                    </a:rPr>
                                    <m:t>2</m:t>
                                  </m:r>
                                </m:sup>
                              </m:sSup>
                            </m:e>
                          </m:nary>
                        </m:den>
                      </m:f>
                    </m:oMath>
                  </m:oMathPara>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2334"/>
                </a:stretch>
              </a:blipFill>
            </p:spPr>
            <p:txBody>
              <a:bodyPr/>
              <a:lstStyle/>
              <a:p>
                <a:r>
                  <a:rPr lang="en-US">
                    <a:noFill/>
                  </a:rPr>
                  <a:t> </a:t>
                </a:r>
              </a:p>
            </p:txBody>
          </p:sp>
        </mc:Fallback>
      </mc:AlternateContent>
    </p:spTree>
    <p:extLst>
      <p:ext uri="{BB962C8B-B14F-4D97-AF65-F5344CB8AC3E}">
        <p14:creationId xmlns:p14="http://schemas.microsoft.com/office/powerpoint/2010/main" val="1609260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Autocorrelation</a:t>
            </a:r>
            <a:endParaRPr lang="en-US"/>
          </a:p>
        </p:txBody>
      </p:sp>
      <p:sp>
        <p:nvSpPr>
          <p:cNvPr id="3" name="Content Placeholder 2"/>
          <p:cNvSpPr>
            <a:spLocks noGrp="1"/>
          </p:cNvSpPr>
          <p:nvPr>
            <p:ph idx="1"/>
          </p:nvPr>
        </p:nvSpPr>
        <p:spPr/>
        <p:txBody>
          <a:bodyPr>
            <a:normAutofit/>
          </a:bodyPr>
          <a:lstStyle/>
          <a:p>
            <a:pPr marL="0" indent="0">
              <a:buNone/>
            </a:pPr>
            <a:r>
              <a:rPr lang="en-US" sz="2000"/>
              <a:t>To visualize autocorrelation at various lags, we can use a special function called autocorrelation function (ACF</a:t>
            </a:r>
            <a:r>
              <a:rPr lang="en-US" sz="2000" smtClean="0"/>
              <a:t>).</a:t>
            </a:r>
          </a:p>
          <a:p>
            <a:pPr marL="0" indent="0">
              <a:buNone/>
            </a:pPr>
            <a:endParaRPr lang="en-US" sz="2400"/>
          </a:p>
          <a:p>
            <a:pPr marL="0" indent="0">
              <a:buNone/>
            </a:pPr>
            <a:endParaRPr lang="en-US" sz="240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25436" y="1962150"/>
            <a:ext cx="3710819" cy="2971800"/>
          </a:xfrm>
          <a:prstGeom prst="rect">
            <a:avLst/>
          </a:prstGeom>
        </p:spPr>
      </p:pic>
    </p:spTree>
    <p:extLst>
      <p:ext uri="{BB962C8B-B14F-4D97-AF65-F5344CB8AC3E}">
        <p14:creationId xmlns:p14="http://schemas.microsoft.com/office/powerpoint/2010/main" val="3835439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Autocorrelation</a:t>
            </a:r>
            <a:endParaRPr lang="en-US"/>
          </a:p>
        </p:txBody>
      </p:sp>
      <p:sp>
        <p:nvSpPr>
          <p:cNvPr id="3" name="Content Placeholder 2"/>
          <p:cNvSpPr>
            <a:spLocks noGrp="1"/>
          </p:cNvSpPr>
          <p:nvPr>
            <p:ph idx="1"/>
          </p:nvPr>
        </p:nvSpPr>
        <p:spPr/>
        <p:txBody>
          <a:bodyPr>
            <a:normAutofit/>
          </a:bodyPr>
          <a:lstStyle/>
          <a:p>
            <a:pPr marL="0" indent="0">
              <a:buNone/>
            </a:pPr>
            <a:endParaRPr lang="en-US" sz="2400"/>
          </a:p>
          <a:p>
            <a:pPr marL="0" indent="0">
              <a:buNone/>
            </a:pPr>
            <a:endParaRPr lang="en-US" sz="240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8488" y="1470025"/>
            <a:ext cx="5772912" cy="3006725"/>
          </a:xfrm>
          <a:prstGeom prst="rect">
            <a:avLst/>
          </a:prstGeom>
        </p:spPr>
      </p:pic>
    </p:spTree>
    <p:extLst>
      <p:ext uri="{BB962C8B-B14F-4D97-AF65-F5344CB8AC3E}">
        <p14:creationId xmlns:p14="http://schemas.microsoft.com/office/powerpoint/2010/main" val="2462953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Autocorrelation</a:t>
            </a:r>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a:t>The partial autocorrelation function (PACF) compute the lag-k autocorrelation by removing the effects of lags 1 up to k-1. </a:t>
            </a:r>
            <a:endParaRPr lang="en-US" smtClean="0"/>
          </a:p>
          <a:p>
            <a:pPr marL="0" indent="0">
              <a:buNone/>
            </a:pPr>
            <a:endParaRPr lang="en-US"/>
          </a:p>
          <a:p>
            <a:pPr marL="0" indent="0">
              <a:buNone/>
            </a:pPr>
            <a:r>
              <a:rPr lang="en-US" smtClean="0"/>
              <a:t>So </a:t>
            </a:r>
            <a:r>
              <a:rPr lang="en-US"/>
              <a:t>we are talking about a direct correlation between the time series and the lag-k, after eliminating the correlation between the </a:t>
            </a:r>
            <a:r>
              <a:rPr lang="en-US" smtClean="0"/>
              <a:t>same series </a:t>
            </a:r>
            <a:r>
              <a:rPr lang="en-US"/>
              <a:t>and the lags 1, 2, 3 and so on, up to k – 1.</a:t>
            </a:r>
          </a:p>
        </p:txBody>
      </p:sp>
    </p:spTree>
    <p:extLst>
      <p:ext uri="{BB962C8B-B14F-4D97-AF65-F5344CB8AC3E}">
        <p14:creationId xmlns:p14="http://schemas.microsoft.com/office/powerpoint/2010/main" val="1952137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Autocorrelation</a:t>
            </a:r>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13688" y="1200150"/>
            <a:ext cx="6516624" cy="3394075"/>
          </a:xfrm>
        </p:spPr>
      </p:pic>
    </p:spTree>
    <p:extLst>
      <p:ext uri="{BB962C8B-B14F-4D97-AF65-F5344CB8AC3E}">
        <p14:creationId xmlns:p14="http://schemas.microsoft.com/office/powerpoint/2010/main" val="3188514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Autocorrelation</a:t>
            </a:r>
            <a:endParaRPr 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13688" y="1200150"/>
            <a:ext cx="6516624" cy="3394075"/>
          </a:xfrm>
        </p:spPr>
      </p:pic>
    </p:spTree>
    <p:extLst>
      <p:ext uri="{BB962C8B-B14F-4D97-AF65-F5344CB8AC3E}">
        <p14:creationId xmlns:p14="http://schemas.microsoft.com/office/powerpoint/2010/main" val="4105845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a:noAutofit/>
          </a:bodyPr>
          <a:lstStyle/>
          <a:p>
            <a:r>
              <a:rPr lang="en-US" sz="4200" b="1" smtClean="0">
                <a:ln>
                  <a:solidFill>
                    <a:schemeClr val="tx1">
                      <a:alpha val="70000"/>
                    </a:schemeClr>
                  </a:solidFill>
                </a:ln>
                <a:solidFill>
                  <a:srgbClr val="FF0000"/>
                </a:solidFill>
                <a:effectLst>
                  <a:outerShdw blurRad="50800" dist="38100" dir="2700000" algn="tl" rotWithShape="0">
                    <a:prstClr val="black">
                      <a:alpha val="23000"/>
                    </a:prstClr>
                  </a:outerShdw>
                </a:effectLst>
              </a:rPr>
              <a:t>Stationarity</a:t>
            </a:r>
            <a:endParaRPr lang="en-US" sz="4200" b="1">
              <a:ln>
                <a:solidFill>
                  <a:schemeClr val="tx1">
                    <a:alpha val="70000"/>
                  </a:schemeClr>
                </a:solidFill>
              </a:ln>
              <a:solidFill>
                <a:srgbClr val="FF0000"/>
              </a:solidFill>
              <a:effectLst>
                <a:outerShdw blurRad="50800" dist="38100" dir="2700000" algn="tl" rotWithShape="0">
                  <a:prstClr val="black">
                    <a:alpha val="23000"/>
                  </a:prstClr>
                </a:outerShdw>
              </a:effectLst>
            </a:endParaRPr>
          </a:p>
        </p:txBody>
      </p:sp>
    </p:spTree>
    <p:extLst>
      <p:ext uri="{BB962C8B-B14F-4D97-AF65-F5344CB8AC3E}">
        <p14:creationId xmlns:p14="http://schemas.microsoft.com/office/powerpoint/2010/main" val="2767798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Stationarity</a:t>
            </a:r>
            <a:endParaRPr lang="en-US"/>
          </a:p>
        </p:txBody>
      </p:sp>
      <p:sp>
        <p:nvSpPr>
          <p:cNvPr id="3" name="Content Placeholder 2"/>
          <p:cNvSpPr>
            <a:spLocks noGrp="1"/>
          </p:cNvSpPr>
          <p:nvPr>
            <p:ph idx="1"/>
          </p:nvPr>
        </p:nvSpPr>
        <p:spPr/>
        <p:txBody>
          <a:bodyPr>
            <a:normAutofit lnSpcReduction="10000"/>
          </a:bodyPr>
          <a:lstStyle/>
          <a:p>
            <a:pPr marL="0" indent="0">
              <a:buNone/>
            </a:pPr>
            <a:r>
              <a:rPr lang="en-US"/>
              <a:t>A stationary series is a series with the following property: its mean, variance and autocorrelation do not change over time.</a:t>
            </a:r>
          </a:p>
          <a:p>
            <a:pPr marL="0" indent="0">
              <a:buNone/>
            </a:pPr>
            <a:endParaRPr lang="en-US"/>
          </a:p>
          <a:p>
            <a:pPr marL="0" indent="0">
              <a:buNone/>
            </a:pPr>
            <a:r>
              <a:rPr lang="en-US"/>
              <a:t>So a stationary series does not have any trend or seasonality. Moreover, variance and autocorrelation are constant over time.</a:t>
            </a:r>
          </a:p>
        </p:txBody>
      </p:sp>
    </p:spTree>
    <p:extLst>
      <p:ext uri="{BB962C8B-B14F-4D97-AF65-F5344CB8AC3E}">
        <p14:creationId xmlns:p14="http://schemas.microsoft.com/office/powerpoint/2010/main" val="996565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Stationarity</a:t>
            </a:r>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09800" y="1005426"/>
            <a:ext cx="4724400" cy="3783523"/>
          </a:xfrm>
        </p:spPr>
      </p:pic>
    </p:spTree>
    <p:extLst>
      <p:ext uri="{BB962C8B-B14F-4D97-AF65-F5344CB8AC3E}">
        <p14:creationId xmlns:p14="http://schemas.microsoft.com/office/powerpoint/2010/main" val="4167992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Stationarity</a:t>
            </a:r>
            <a:endParaRPr 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52948" y="1200150"/>
            <a:ext cx="4238104" cy="3394075"/>
          </a:xfrm>
        </p:spPr>
      </p:pic>
    </p:spTree>
    <p:extLst>
      <p:ext uri="{BB962C8B-B14F-4D97-AF65-F5344CB8AC3E}">
        <p14:creationId xmlns:p14="http://schemas.microsoft.com/office/powerpoint/2010/main" val="4223181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Stationarity</a:t>
            </a:r>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52948" y="1200150"/>
            <a:ext cx="4238104" cy="3394075"/>
          </a:xfrm>
        </p:spPr>
      </p:pic>
    </p:spTree>
    <p:extLst>
      <p:ext uri="{BB962C8B-B14F-4D97-AF65-F5344CB8AC3E}">
        <p14:creationId xmlns:p14="http://schemas.microsoft.com/office/powerpoint/2010/main" val="1839819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Stationarity</a:t>
            </a:r>
            <a:endParaRPr 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62650" y="1116551"/>
            <a:ext cx="4671550" cy="3741199"/>
          </a:xfrm>
        </p:spPr>
      </p:pic>
    </p:spTree>
    <p:extLst>
      <p:ext uri="{BB962C8B-B14F-4D97-AF65-F5344CB8AC3E}">
        <p14:creationId xmlns:p14="http://schemas.microsoft.com/office/powerpoint/2010/main" val="419567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Stationarity</a:t>
            </a:r>
            <a:endParaRPr lang="en-US"/>
          </a:p>
        </p:txBody>
      </p:sp>
      <p:sp>
        <p:nvSpPr>
          <p:cNvPr id="3" name="Content Placeholder 2"/>
          <p:cNvSpPr>
            <a:spLocks noGrp="1"/>
          </p:cNvSpPr>
          <p:nvPr>
            <p:ph idx="1"/>
          </p:nvPr>
        </p:nvSpPr>
        <p:spPr/>
        <p:txBody>
          <a:bodyPr/>
          <a:lstStyle/>
          <a:p>
            <a:pPr marL="0" indent="0">
              <a:buNone/>
            </a:pPr>
            <a:r>
              <a:rPr lang="en-US"/>
              <a:t>The first method </a:t>
            </a:r>
            <a:r>
              <a:rPr lang="en-US" smtClean="0"/>
              <a:t>to </a:t>
            </a:r>
            <a:r>
              <a:rPr lang="en-US"/>
              <a:t>check </a:t>
            </a:r>
            <a:r>
              <a:rPr lang="en-US" smtClean="0"/>
              <a:t>stationarity: </a:t>
            </a:r>
            <a:r>
              <a:rPr lang="en-US"/>
              <a:t>examine the </a:t>
            </a:r>
            <a:r>
              <a:rPr lang="en-US" smtClean="0"/>
              <a:t>plot. </a:t>
            </a:r>
          </a:p>
          <a:p>
            <a:pPr marL="0" indent="0">
              <a:buNone/>
            </a:pPr>
            <a:endParaRPr lang="en-US"/>
          </a:p>
          <a:p>
            <a:pPr marL="0" indent="0">
              <a:buNone/>
            </a:pPr>
            <a:r>
              <a:rPr lang="en-US" smtClean="0"/>
              <a:t>If </a:t>
            </a:r>
            <a:r>
              <a:rPr lang="en-US"/>
              <a:t>our series presents a dominant trend, or seasonal patterns, or big variations in the data </a:t>
            </a:r>
            <a:r>
              <a:rPr lang="en-US" smtClean="0"/>
              <a:t>values or variance</a:t>
            </a:r>
            <a:r>
              <a:rPr lang="en-US"/>
              <a:t>, it is </a:t>
            </a:r>
            <a:r>
              <a:rPr lang="en-US" b="1" smtClean="0"/>
              <a:t>not</a:t>
            </a:r>
            <a:r>
              <a:rPr lang="en-US" smtClean="0"/>
              <a:t> </a:t>
            </a:r>
            <a:r>
              <a:rPr lang="en-US"/>
              <a:t>stationary.</a:t>
            </a:r>
          </a:p>
        </p:txBody>
      </p:sp>
    </p:spTree>
    <p:extLst>
      <p:ext uri="{BB962C8B-B14F-4D97-AF65-F5344CB8AC3E}">
        <p14:creationId xmlns:p14="http://schemas.microsoft.com/office/powerpoint/2010/main" val="2325858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Stationarity</a:t>
            </a:r>
            <a:endParaRPr lang="en-US"/>
          </a:p>
        </p:txBody>
      </p:sp>
      <p:sp>
        <p:nvSpPr>
          <p:cNvPr id="3" name="Content Placeholder 2"/>
          <p:cNvSpPr>
            <a:spLocks noGrp="1"/>
          </p:cNvSpPr>
          <p:nvPr>
            <p:ph idx="1"/>
          </p:nvPr>
        </p:nvSpPr>
        <p:spPr/>
        <p:txBody>
          <a:bodyPr>
            <a:noAutofit/>
          </a:bodyPr>
          <a:lstStyle/>
          <a:p>
            <a:pPr marL="0" indent="0">
              <a:buNone/>
            </a:pPr>
            <a:r>
              <a:rPr lang="en-US" sz="1900"/>
              <a:t>The </a:t>
            </a:r>
            <a:r>
              <a:rPr lang="en-US" sz="1900" smtClean="0"/>
              <a:t>second method (more precise): the augmented Dickey-Fuller test (aka unit root test).</a:t>
            </a:r>
          </a:p>
          <a:p>
            <a:pPr marL="0" indent="0">
              <a:buNone/>
            </a:pPr>
            <a:endParaRPr lang="en-US" sz="1900"/>
          </a:p>
          <a:p>
            <a:pPr marL="0" indent="0" algn="ctr">
              <a:buNone/>
            </a:pPr>
            <a:r>
              <a:rPr lang="en-US" sz="1900" smtClean="0"/>
              <a:t>H0: the series is </a:t>
            </a:r>
            <a:r>
              <a:rPr lang="en-US" sz="1900"/>
              <a:t>non-stationary (explosive)</a:t>
            </a:r>
          </a:p>
          <a:p>
            <a:pPr marL="0" indent="0" algn="ctr">
              <a:buNone/>
            </a:pPr>
            <a:r>
              <a:rPr lang="en-US" sz="1900" smtClean="0"/>
              <a:t>H1</a:t>
            </a:r>
            <a:r>
              <a:rPr lang="en-US" sz="1900"/>
              <a:t>: the series </a:t>
            </a:r>
            <a:r>
              <a:rPr lang="en-US" sz="1900" smtClean="0"/>
              <a:t>is stationary</a:t>
            </a:r>
          </a:p>
          <a:p>
            <a:pPr marL="0" indent="0">
              <a:buNone/>
            </a:pPr>
            <a:endParaRPr lang="en-US" sz="1900" smtClean="0"/>
          </a:p>
          <a:p>
            <a:pPr marL="0" indent="0">
              <a:buNone/>
            </a:pPr>
            <a:endParaRPr lang="en-US" sz="1900"/>
          </a:p>
          <a:p>
            <a:pPr marL="0" indent="0">
              <a:buNone/>
            </a:pPr>
            <a:r>
              <a:rPr lang="en-US" sz="1900" smtClean="0"/>
              <a:t>p &lt; 0.05 - we </a:t>
            </a:r>
            <a:r>
              <a:rPr lang="en-US" sz="1900"/>
              <a:t>reject the null </a:t>
            </a:r>
            <a:r>
              <a:rPr lang="en-US" sz="1900" smtClean="0"/>
              <a:t>hypothesis</a:t>
            </a:r>
          </a:p>
          <a:p>
            <a:pPr marL="0" indent="0">
              <a:buNone/>
            </a:pPr>
            <a:endParaRPr lang="en-US" sz="1000"/>
          </a:p>
          <a:p>
            <a:pPr marL="0" indent="0">
              <a:buNone/>
            </a:pPr>
            <a:r>
              <a:rPr lang="en-US" sz="1900" smtClean="0"/>
              <a:t>p ≥ 0.05 – we accept the null hypothesis</a:t>
            </a:r>
          </a:p>
        </p:txBody>
      </p:sp>
    </p:spTree>
    <p:extLst>
      <p:ext uri="{BB962C8B-B14F-4D97-AF65-F5344CB8AC3E}">
        <p14:creationId xmlns:p14="http://schemas.microsoft.com/office/powerpoint/2010/main" val="1437900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a:noAutofit/>
          </a:bodyPr>
          <a:lstStyle/>
          <a:p>
            <a:r>
              <a:rPr lang="en-US" sz="4200" b="1" smtClean="0">
                <a:ln>
                  <a:solidFill>
                    <a:schemeClr val="tx1">
                      <a:alpha val="70000"/>
                    </a:schemeClr>
                  </a:solidFill>
                </a:ln>
                <a:solidFill>
                  <a:srgbClr val="FF0000"/>
                </a:solidFill>
                <a:effectLst>
                  <a:outerShdw blurRad="50800" dist="38100" dir="2700000" algn="tl" rotWithShape="0">
                    <a:prstClr val="black">
                      <a:alpha val="23000"/>
                    </a:prstClr>
                  </a:outerShdw>
                </a:effectLst>
              </a:rPr>
              <a:t>Differencing</a:t>
            </a:r>
            <a:endParaRPr lang="en-US" sz="4200" b="1">
              <a:ln>
                <a:solidFill>
                  <a:schemeClr val="tx1">
                    <a:alpha val="70000"/>
                  </a:schemeClr>
                </a:solidFill>
              </a:ln>
              <a:solidFill>
                <a:srgbClr val="FF0000"/>
              </a:solidFill>
              <a:effectLst>
                <a:outerShdw blurRad="50800" dist="38100" dir="2700000" algn="tl" rotWithShape="0">
                  <a:prstClr val="black">
                    <a:alpha val="23000"/>
                  </a:prstClr>
                </a:outerShdw>
              </a:effectLst>
            </a:endParaRPr>
          </a:p>
        </p:txBody>
      </p:sp>
    </p:spTree>
    <p:extLst>
      <p:ext uri="{BB962C8B-B14F-4D97-AF65-F5344CB8AC3E}">
        <p14:creationId xmlns:p14="http://schemas.microsoft.com/office/powerpoint/2010/main" val="8857962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Differencing</a:t>
            </a:r>
            <a:endParaRPr lang="en-US"/>
          </a:p>
        </p:txBody>
      </p:sp>
      <p:sp>
        <p:nvSpPr>
          <p:cNvPr id="3" name="Content Placeholder 2"/>
          <p:cNvSpPr>
            <a:spLocks noGrp="1"/>
          </p:cNvSpPr>
          <p:nvPr>
            <p:ph idx="1"/>
          </p:nvPr>
        </p:nvSpPr>
        <p:spPr/>
        <p:txBody>
          <a:bodyPr>
            <a:noAutofit/>
          </a:bodyPr>
          <a:lstStyle/>
          <a:p>
            <a:pPr marL="0" indent="0">
              <a:buNone/>
            </a:pPr>
            <a:r>
              <a:rPr lang="en-US" sz="3000"/>
              <a:t>The vast majority of the time series in the real world are </a:t>
            </a:r>
            <a:r>
              <a:rPr lang="en-US" sz="3000" smtClean="0"/>
              <a:t>non-stationary (there </a:t>
            </a:r>
            <a:r>
              <a:rPr lang="en-US" sz="3000"/>
              <a:t>are very few </a:t>
            </a:r>
            <a:r>
              <a:rPr lang="en-US" sz="3000" smtClean="0"/>
              <a:t>exceptions).</a:t>
            </a:r>
          </a:p>
          <a:p>
            <a:pPr marL="0" indent="0">
              <a:buNone/>
            </a:pPr>
            <a:endParaRPr lang="en-US" sz="3000"/>
          </a:p>
          <a:p>
            <a:pPr marL="0" indent="0">
              <a:buNone/>
            </a:pPr>
            <a:r>
              <a:rPr lang="en-US" sz="3000" smtClean="0"/>
              <a:t>Question: </a:t>
            </a:r>
            <a:r>
              <a:rPr lang="en-US" sz="3000"/>
              <a:t>how can we convert a non-stationary series into a stationary one?</a:t>
            </a:r>
            <a:endParaRPr lang="en-US" sz="3000" smtClean="0"/>
          </a:p>
        </p:txBody>
      </p:sp>
    </p:spTree>
    <p:extLst>
      <p:ext uri="{BB962C8B-B14F-4D97-AF65-F5344CB8AC3E}">
        <p14:creationId xmlns:p14="http://schemas.microsoft.com/office/powerpoint/2010/main" val="1700238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Differencing</a:t>
            </a:r>
            <a:endParaRPr lang="en-US"/>
          </a:p>
        </p:txBody>
      </p:sp>
      <p:sp>
        <p:nvSpPr>
          <p:cNvPr id="3" name="Content Placeholder 2"/>
          <p:cNvSpPr>
            <a:spLocks noGrp="1"/>
          </p:cNvSpPr>
          <p:nvPr>
            <p:ph idx="1"/>
          </p:nvPr>
        </p:nvSpPr>
        <p:spPr/>
        <p:txBody>
          <a:bodyPr>
            <a:noAutofit/>
          </a:bodyPr>
          <a:lstStyle/>
          <a:p>
            <a:pPr marL="0" indent="0">
              <a:buNone/>
            </a:pPr>
            <a:r>
              <a:rPr lang="en-US" sz="2800" i="1" smtClean="0"/>
              <a:t>Differencing (de-trending)</a:t>
            </a:r>
            <a:r>
              <a:rPr lang="en-US" sz="2800" smtClean="0"/>
              <a:t> </a:t>
            </a:r>
            <a:r>
              <a:rPr lang="en-US" sz="2800"/>
              <a:t>means computing the differences between consecutive values in the series. </a:t>
            </a:r>
            <a:endParaRPr lang="en-US" sz="2800" smtClean="0"/>
          </a:p>
          <a:p>
            <a:pPr marL="0" indent="0">
              <a:buNone/>
            </a:pPr>
            <a:endParaRPr lang="en-US" sz="2800"/>
          </a:p>
          <a:p>
            <a:pPr marL="0" indent="0">
              <a:buNone/>
            </a:pPr>
            <a:r>
              <a:rPr lang="en-US" sz="2800" smtClean="0"/>
              <a:t>After </a:t>
            </a:r>
            <a:r>
              <a:rPr lang="en-US" sz="2800"/>
              <a:t>de-trending, the mean of our time series stabilizes, becomes constant, so chances are our new time series is stationary.</a:t>
            </a:r>
            <a:endParaRPr lang="en-US" sz="3000" smtClean="0"/>
          </a:p>
        </p:txBody>
      </p:sp>
    </p:spTree>
    <p:extLst>
      <p:ext uri="{BB962C8B-B14F-4D97-AF65-F5344CB8AC3E}">
        <p14:creationId xmlns:p14="http://schemas.microsoft.com/office/powerpoint/2010/main" val="2783682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Differencing</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0" indent="0">
                  <a:buNone/>
                </a:pPr>
                <a:r>
                  <a:rPr lang="en-US" sz="2300"/>
                  <a:t>The first order (or first degree) </a:t>
                </a:r>
                <a:r>
                  <a:rPr lang="en-US" sz="2300" smtClean="0"/>
                  <a:t>difference:</a:t>
                </a:r>
                <a:endParaRPr lang="en-US" sz="2300"/>
              </a:p>
              <a:p>
                <a:pPr marL="0" indent="0">
                  <a:buNone/>
                </a:pPr>
                <a:endParaRPr lang="en-US" sz="2300"/>
              </a:p>
              <a:p>
                <a:pPr marL="0" indent="0">
                  <a:buNone/>
                </a:pPr>
                <a14:m>
                  <m:oMathPara xmlns:m="http://schemas.openxmlformats.org/officeDocument/2006/math">
                    <m:oMathParaPr>
                      <m:jc m:val="centerGroup"/>
                    </m:oMathParaPr>
                    <m:oMath xmlns:m="http://schemas.openxmlformats.org/officeDocument/2006/math">
                      <m:sSubSup>
                        <m:sSubSupPr>
                          <m:ctrlPr>
                            <a:rPr lang="en-US" sz="2300" i="1">
                              <a:latin typeface="Cambria Math"/>
                            </a:rPr>
                          </m:ctrlPr>
                        </m:sSubSupPr>
                        <m:e>
                          <m:r>
                            <a:rPr lang="en-US" sz="2300" i="1">
                              <a:latin typeface="Cambria Math"/>
                            </a:rPr>
                            <m:t>𝑦</m:t>
                          </m:r>
                        </m:e>
                        <m:sub>
                          <m:r>
                            <a:rPr lang="en-US" sz="2300" i="1">
                              <a:latin typeface="Cambria Math"/>
                            </a:rPr>
                            <m:t>𝑡</m:t>
                          </m:r>
                        </m:sub>
                        <m:sup>
                          <m:r>
                            <a:rPr lang="en-US" sz="2300" i="1">
                              <a:latin typeface="Cambria Math"/>
                            </a:rPr>
                            <m:t>′</m:t>
                          </m:r>
                        </m:sup>
                      </m:sSubSup>
                      <m:r>
                        <a:rPr lang="en-US" sz="2300" i="1">
                          <a:latin typeface="Cambria Math"/>
                        </a:rPr>
                        <m:t>=</m:t>
                      </m:r>
                      <m:sSub>
                        <m:sSubPr>
                          <m:ctrlPr>
                            <a:rPr lang="en-US" sz="2300" i="1">
                              <a:latin typeface="Cambria Math"/>
                            </a:rPr>
                          </m:ctrlPr>
                        </m:sSubPr>
                        <m:e>
                          <m:r>
                            <a:rPr lang="en-US" sz="2300" i="1">
                              <a:latin typeface="Cambria Math"/>
                            </a:rPr>
                            <m:t>𝑦</m:t>
                          </m:r>
                        </m:e>
                        <m:sub>
                          <m:r>
                            <a:rPr lang="en-US" sz="2300" i="1">
                              <a:latin typeface="Cambria Math"/>
                            </a:rPr>
                            <m:t>𝑡</m:t>
                          </m:r>
                        </m:sub>
                      </m:sSub>
                      <m:r>
                        <a:rPr lang="en-US" sz="2300" i="1">
                          <a:latin typeface="Cambria Math"/>
                        </a:rPr>
                        <m:t>−</m:t>
                      </m:r>
                      <m:sSub>
                        <m:sSubPr>
                          <m:ctrlPr>
                            <a:rPr lang="en-US" sz="2300" i="1">
                              <a:latin typeface="Cambria Math"/>
                            </a:rPr>
                          </m:ctrlPr>
                        </m:sSubPr>
                        <m:e>
                          <m:r>
                            <a:rPr lang="en-US" sz="2300" i="1">
                              <a:latin typeface="Cambria Math"/>
                            </a:rPr>
                            <m:t>𝑦</m:t>
                          </m:r>
                        </m:e>
                        <m:sub>
                          <m:r>
                            <a:rPr lang="en-US" sz="2300" i="1">
                              <a:latin typeface="Cambria Math"/>
                            </a:rPr>
                            <m:t>𝑡</m:t>
                          </m:r>
                          <m:r>
                            <a:rPr lang="en-US" sz="2300" i="1">
                              <a:latin typeface="Cambria Math"/>
                            </a:rPr>
                            <m:t>−1</m:t>
                          </m:r>
                        </m:sub>
                      </m:sSub>
                    </m:oMath>
                  </m:oMathPara>
                </a14:m>
                <a:endParaRPr lang="en-US" sz="2300"/>
              </a:p>
              <a:p>
                <a:pPr marL="0" indent="0">
                  <a:buNone/>
                </a:pPr>
                <a:r>
                  <a:rPr lang="en-US" sz="2300"/>
                  <a:t> </a:t>
                </a:r>
              </a:p>
              <a:p>
                <a:pPr marL="0" indent="0">
                  <a:buNone/>
                </a:pPr>
                <a:r>
                  <a:rPr lang="en-US" sz="2300"/>
                  <a:t>The second order </a:t>
                </a:r>
                <a:r>
                  <a:rPr lang="en-US" sz="2300" smtClean="0"/>
                  <a:t>difference:</a:t>
                </a:r>
              </a:p>
              <a:p>
                <a:pPr marL="0" indent="0">
                  <a:buNone/>
                </a:pPr>
                <a:endParaRPr lang="en-US" sz="2300"/>
              </a:p>
              <a:p>
                <a:pPr marL="0" indent="0">
                  <a:buNone/>
                </a:pPr>
                <a14:m>
                  <m:oMathPara xmlns:m="http://schemas.openxmlformats.org/officeDocument/2006/math">
                    <m:oMathParaPr>
                      <m:jc m:val="centerGroup"/>
                    </m:oMathParaPr>
                    <m:oMath xmlns:m="http://schemas.openxmlformats.org/officeDocument/2006/math">
                      <m:sSubSup>
                        <m:sSubSupPr>
                          <m:ctrlPr>
                            <a:rPr lang="en-US" sz="2300" i="1">
                              <a:latin typeface="Cambria Math"/>
                            </a:rPr>
                          </m:ctrlPr>
                        </m:sSubSupPr>
                        <m:e>
                          <m:r>
                            <a:rPr lang="en-US" sz="2300" i="1">
                              <a:latin typeface="Cambria Math"/>
                            </a:rPr>
                            <m:t>𝑦</m:t>
                          </m:r>
                        </m:e>
                        <m:sub>
                          <m:r>
                            <a:rPr lang="en-US" sz="2300" i="1">
                              <a:latin typeface="Cambria Math"/>
                            </a:rPr>
                            <m:t>𝑡</m:t>
                          </m:r>
                        </m:sub>
                        <m:sup>
                          <m:r>
                            <a:rPr lang="en-US" sz="2300" i="1">
                              <a:latin typeface="Cambria Math"/>
                            </a:rPr>
                            <m:t>′′</m:t>
                          </m:r>
                        </m:sup>
                      </m:sSubSup>
                      <m:r>
                        <a:rPr lang="en-US" sz="2300" i="1">
                          <a:latin typeface="Cambria Math"/>
                        </a:rPr>
                        <m:t>=</m:t>
                      </m:r>
                      <m:sSubSup>
                        <m:sSubSupPr>
                          <m:ctrlPr>
                            <a:rPr lang="en-US" sz="2300" i="1">
                              <a:latin typeface="Cambria Math"/>
                            </a:rPr>
                          </m:ctrlPr>
                        </m:sSubSupPr>
                        <m:e>
                          <m:r>
                            <a:rPr lang="en-US" sz="2300" i="1">
                              <a:latin typeface="Cambria Math"/>
                            </a:rPr>
                            <m:t>𝑦</m:t>
                          </m:r>
                        </m:e>
                        <m:sub>
                          <m:r>
                            <a:rPr lang="en-US" sz="2300" i="1">
                              <a:latin typeface="Cambria Math"/>
                            </a:rPr>
                            <m:t>𝑡</m:t>
                          </m:r>
                        </m:sub>
                        <m:sup>
                          <m:r>
                            <a:rPr lang="en-US" sz="2300" i="1">
                              <a:latin typeface="Cambria Math"/>
                            </a:rPr>
                            <m:t>′</m:t>
                          </m:r>
                        </m:sup>
                      </m:sSubSup>
                      <m:r>
                        <a:rPr lang="en-US" sz="2300" i="1">
                          <a:latin typeface="Cambria Math"/>
                        </a:rPr>
                        <m:t>−</m:t>
                      </m:r>
                      <m:sSubSup>
                        <m:sSubSupPr>
                          <m:ctrlPr>
                            <a:rPr lang="en-US" sz="2300" i="1">
                              <a:latin typeface="Cambria Math"/>
                            </a:rPr>
                          </m:ctrlPr>
                        </m:sSubSupPr>
                        <m:e>
                          <m:r>
                            <a:rPr lang="en-US" sz="2300" i="1">
                              <a:latin typeface="Cambria Math"/>
                            </a:rPr>
                            <m:t>𝑦</m:t>
                          </m:r>
                        </m:e>
                        <m:sub>
                          <m:r>
                            <a:rPr lang="en-US" sz="2300" i="1">
                              <a:latin typeface="Cambria Math"/>
                            </a:rPr>
                            <m:t>𝑡</m:t>
                          </m:r>
                          <m:r>
                            <a:rPr lang="en-US" sz="2300" i="1">
                              <a:latin typeface="Cambria Math"/>
                            </a:rPr>
                            <m:t>−1</m:t>
                          </m:r>
                        </m:sub>
                        <m:sup>
                          <m:r>
                            <a:rPr lang="en-US" sz="2300" i="1">
                              <a:latin typeface="Cambria Math"/>
                            </a:rPr>
                            <m:t>′</m:t>
                          </m:r>
                        </m:sup>
                      </m:sSubSup>
                      <m:r>
                        <a:rPr lang="en-US" sz="2300" i="1">
                          <a:latin typeface="Cambria Math"/>
                        </a:rPr>
                        <m:t>=</m:t>
                      </m:r>
                      <m:d>
                        <m:dPr>
                          <m:ctrlPr>
                            <a:rPr lang="en-US" sz="2300" i="1">
                              <a:latin typeface="Cambria Math"/>
                            </a:rPr>
                          </m:ctrlPr>
                        </m:dPr>
                        <m:e>
                          <m:sSub>
                            <m:sSubPr>
                              <m:ctrlPr>
                                <a:rPr lang="en-US" sz="2300" i="1">
                                  <a:latin typeface="Cambria Math"/>
                                </a:rPr>
                              </m:ctrlPr>
                            </m:sSubPr>
                            <m:e>
                              <m:r>
                                <a:rPr lang="en-US" sz="2300" i="1">
                                  <a:latin typeface="Cambria Math"/>
                                </a:rPr>
                                <m:t>𝑦</m:t>
                              </m:r>
                            </m:e>
                            <m:sub>
                              <m:r>
                                <a:rPr lang="en-US" sz="2300" i="1">
                                  <a:latin typeface="Cambria Math"/>
                                </a:rPr>
                                <m:t>𝑡</m:t>
                              </m:r>
                            </m:sub>
                          </m:sSub>
                          <m:r>
                            <a:rPr lang="en-US" sz="2300" i="1">
                              <a:latin typeface="Cambria Math"/>
                            </a:rPr>
                            <m:t>−</m:t>
                          </m:r>
                          <m:sSub>
                            <m:sSubPr>
                              <m:ctrlPr>
                                <a:rPr lang="en-US" sz="2300" i="1">
                                  <a:latin typeface="Cambria Math"/>
                                </a:rPr>
                              </m:ctrlPr>
                            </m:sSubPr>
                            <m:e>
                              <m:r>
                                <a:rPr lang="en-US" sz="2300" i="1">
                                  <a:latin typeface="Cambria Math"/>
                                </a:rPr>
                                <m:t>𝑦</m:t>
                              </m:r>
                            </m:e>
                            <m:sub>
                              <m:r>
                                <a:rPr lang="en-US" sz="2300" i="1">
                                  <a:latin typeface="Cambria Math"/>
                                </a:rPr>
                                <m:t>𝑡</m:t>
                              </m:r>
                              <m:r>
                                <a:rPr lang="en-US" sz="2300" i="1">
                                  <a:latin typeface="Cambria Math"/>
                                </a:rPr>
                                <m:t>−1</m:t>
                              </m:r>
                            </m:sub>
                          </m:sSub>
                        </m:e>
                      </m:d>
                      <m:r>
                        <a:rPr lang="en-US" sz="2300" i="1">
                          <a:latin typeface="Cambria Math"/>
                        </a:rPr>
                        <m:t>−</m:t>
                      </m:r>
                      <m:d>
                        <m:dPr>
                          <m:ctrlPr>
                            <a:rPr lang="en-US" sz="2300" i="1">
                              <a:latin typeface="Cambria Math"/>
                            </a:rPr>
                          </m:ctrlPr>
                        </m:dPr>
                        <m:e>
                          <m:sSub>
                            <m:sSubPr>
                              <m:ctrlPr>
                                <a:rPr lang="en-US" sz="2300" i="1">
                                  <a:latin typeface="Cambria Math"/>
                                </a:rPr>
                              </m:ctrlPr>
                            </m:sSubPr>
                            <m:e>
                              <m:r>
                                <a:rPr lang="en-US" sz="2300" i="1">
                                  <a:latin typeface="Cambria Math"/>
                                </a:rPr>
                                <m:t>𝑦</m:t>
                              </m:r>
                            </m:e>
                            <m:sub>
                              <m:r>
                                <a:rPr lang="en-US" sz="2300" i="1">
                                  <a:latin typeface="Cambria Math"/>
                                </a:rPr>
                                <m:t>𝑡</m:t>
                              </m:r>
                              <m:r>
                                <a:rPr lang="en-US" sz="2300" i="1">
                                  <a:latin typeface="Cambria Math"/>
                                </a:rPr>
                                <m:t>−1</m:t>
                              </m:r>
                            </m:sub>
                          </m:sSub>
                          <m:r>
                            <a:rPr lang="en-US" sz="2300" i="1">
                              <a:latin typeface="Cambria Math"/>
                            </a:rPr>
                            <m:t>−</m:t>
                          </m:r>
                          <m:sSub>
                            <m:sSubPr>
                              <m:ctrlPr>
                                <a:rPr lang="en-US" sz="2300" i="1">
                                  <a:latin typeface="Cambria Math"/>
                                </a:rPr>
                              </m:ctrlPr>
                            </m:sSubPr>
                            <m:e>
                              <m:r>
                                <a:rPr lang="en-US" sz="2300" i="1">
                                  <a:latin typeface="Cambria Math"/>
                                </a:rPr>
                                <m:t>𝑦</m:t>
                              </m:r>
                            </m:e>
                            <m:sub>
                              <m:r>
                                <a:rPr lang="en-US" sz="2300" i="1">
                                  <a:latin typeface="Cambria Math"/>
                                </a:rPr>
                                <m:t>𝑡</m:t>
                              </m:r>
                              <m:r>
                                <a:rPr lang="en-US" sz="2300" i="1">
                                  <a:latin typeface="Cambria Math"/>
                                </a:rPr>
                                <m:t>−2</m:t>
                              </m:r>
                            </m:sub>
                          </m:sSub>
                        </m:e>
                      </m:d>
                      <m:r>
                        <a:rPr lang="en-US" sz="2300" i="1">
                          <a:latin typeface="Cambria Math"/>
                        </a:rPr>
                        <m:t>= </m:t>
                      </m:r>
                      <m:sSub>
                        <m:sSubPr>
                          <m:ctrlPr>
                            <a:rPr lang="en-US" sz="2300" i="1">
                              <a:latin typeface="Cambria Math"/>
                            </a:rPr>
                          </m:ctrlPr>
                        </m:sSubPr>
                        <m:e>
                          <m:r>
                            <a:rPr lang="en-US" sz="2300" i="1">
                              <a:latin typeface="Cambria Math"/>
                            </a:rPr>
                            <m:t>𝑦</m:t>
                          </m:r>
                        </m:e>
                        <m:sub>
                          <m:r>
                            <a:rPr lang="en-US" sz="2300" i="1">
                              <a:latin typeface="Cambria Math"/>
                            </a:rPr>
                            <m:t>𝑡</m:t>
                          </m:r>
                        </m:sub>
                      </m:sSub>
                      <m:r>
                        <a:rPr lang="en-US" sz="2300" i="1">
                          <a:latin typeface="Cambria Math"/>
                        </a:rPr>
                        <m:t>−2</m:t>
                      </m:r>
                      <m:sSub>
                        <m:sSubPr>
                          <m:ctrlPr>
                            <a:rPr lang="en-US" sz="2300" i="1">
                              <a:latin typeface="Cambria Math"/>
                            </a:rPr>
                          </m:ctrlPr>
                        </m:sSubPr>
                        <m:e>
                          <m:r>
                            <a:rPr lang="en-US" sz="2300" i="1">
                              <a:latin typeface="Cambria Math"/>
                            </a:rPr>
                            <m:t>𝑦</m:t>
                          </m:r>
                        </m:e>
                        <m:sub>
                          <m:r>
                            <a:rPr lang="en-US" sz="2300" i="1">
                              <a:latin typeface="Cambria Math"/>
                            </a:rPr>
                            <m:t>𝑡</m:t>
                          </m:r>
                          <m:r>
                            <a:rPr lang="en-US" sz="2300" i="1">
                              <a:latin typeface="Cambria Math"/>
                            </a:rPr>
                            <m:t>−1</m:t>
                          </m:r>
                        </m:sub>
                      </m:sSub>
                      <m:r>
                        <a:rPr lang="en-US" sz="2300" i="1">
                          <a:latin typeface="Cambria Math"/>
                        </a:rPr>
                        <m:t>+</m:t>
                      </m:r>
                      <m:sSub>
                        <m:sSubPr>
                          <m:ctrlPr>
                            <a:rPr lang="en-US" sz="2300" i="1">
                              <a:latin typeface="Cambria Math"/>
                            </a:rPr>
                          </m:ctrlPr>
                        </m:sSubPr>
                        <m:e>
                          <m:r>
                            <a:rPr lang="en-US" sz="2300" i="1">
                              <a:latin typeface="Cambria Math"/>
                            </a:rPr>
                            <m:t>𝑦</m:t>
                          </m:r>
                        </m:e>
                        <m:sub>
                          <m:r>
                            <a:rPr lang="en-US" sz="2300" i="1">
                              <a:latin typeface="Cambria Math"/>
                            </a:rPr>
                            <m:t>𝑡</m:t>
                          </m:r>
                          <m:r>
                            <a:rPr lang="en-US" sz="2300" i="1">
                              <a:latin typeface="Cambria Math"/>
                            </a:rPr>
                            <m:t>−2</m:t>
                          </m:r>
                        </m:sub>
                      </m:sSub>
                    </m:oMath>
                  </m:oMathPara>
                </a14:m>
                <a:endParaRPr lang="en-US" sz="23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037" t="-1257"/>
                </a:stretch>
              </a:blipFill>
            </p:spPr>
            <p:txBody>
              <a:bodyPr/>
              <a:lstStyle/>
              <a:p>
                <a:r>
                  <a:rPr lang="en-US">
                    <a:noFill/>
                  </a:rPr>
                  <a:t> </a:t>
                </a:r>
              </a:p>
            </p:txBody>
          </p:sp>
        </mc:Fallback>
      </mc:AlternateContent>
    </p:spTree>
    <p:extLst>
      <p:ext uri="{BB962C8B-B14F-4D97-AF65-F5344CB8AC3E}">
        <p14:creationId xmlns:p14="http://schemas.microsoft.com/office/powerpoint/2010/main" val="38804145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Differencing</a:t>
            </a:r>
            <a:endParaRPr lang="en-US"/>
          </a:p>
        </p:txBody>
      </p:sp>
      <p:sp>
        <p:nvSpPr>
          <p:cNvPr id="3" name="Content Placeholder 2"/>
          <p:cNvSpPr>
            <a:spLocks noGrp="1"/>
          </p:cNvSpPr>
          <p:nvPr>
            <p:ph idx="1"/>
          </p:nvPr>
        </p:nvSpPr>
        <p:spPr/>
        <p:txBody>
          <a:bodyPr>
            <a:noAutofit/>
          </a:bodyPr>
          <a:lstStyle/>
          <a:p>
            <a:pPr marL="0" indent="0">
              <a:buNone/>
            </a:pPr>
            <a:r>
              <a:rPr lang="en-US" sz="3000"/>
              <a:t>After each operation of differencing we can use the augmented Dickey-Fuller test to check stationarity. </a:t>
            </a:r>
            <a:endParaRPr lang="en-US" sz="3000" smtClean="0"/>
          </a:p>
          <a:p>
            <a:pPr marL="0" indent="0">
              <a:buNone/>
            </a:pPr>
            <a:endParaRPr lang="en-US" sz="3000"/>
          </a:p>
          <a:p>
            <a:pPr marL="0" indent="0">
              <a:buNone/>
            </a:pPr>
            <a:r>
              <a:rPr lang="en-US" sz="3000" smtClean="0"/>
              <a:t>Many </a:t>
            </a:r>
            <a:r>
              <a:rPr lang="en-US" sz="3000"/>
              <a:t>time series become stationary after one or two differencing steps, at maximum.</a:t>
            </a:r>
          </a:p>
        </p:txBody>
      </p:sp>
    </p:spTree>
    <p:extLst>
      <p:ext uri="{BB962C8B-B14F-4D97-AF65-F5344CB8AC3E}">
        <p14:creationId xmlns:p14="http://schemas.microsoft.com/office/powerpoint/2010/main" val="496623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Differencing</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Autofit/>
              </a:bodyPr>
              <a:lstStyle/>
              <a:p>
                <a:pPr marL="0" indent="0">
                  <a:buNone/>
                </a:pPr>
                <a:r>
                  <a:rPr lang="en-US" sz="2800"/>
                  <a:t>Another type of </a:t>
                </a:r>
                <a:r>
                  <a:rPr lang="en-US" sz="2800" smtClean="0"/>
                  <a:t>differencing </a:t>
                </a:r>
                <a:r>
                  <a:rPr lang="en-US" sz="2800"/>
                  <a:t>is the seasonal </a:t>
                </a:r>
                <a:r>
                  <a:rPr lang="en-US" sz="2800" smtClean="0"/>
                  <a:t>differencing, </a:t>
                </a:r>
                <a:r>
                  <a:rPr lang="en-US" sz="2800"/>
                  <a:t>used for the series with strong seasonal patters. The first order seasonal </a:t>
                </a:r>
                <a:r>
                  <a:rPr lang="en-US" sz="2800" smtClean="0"/>
                  <a:t>differencing:</a:t>
                </a:r>
                <a:endParaRPr lang="en-US" sz="2800" smtClean="0"/>
              </a:p>
              <a:p>
                <a:pPr marL="0" indent="0">
                  <a:buNone/>
                </a:pPr>
                <a:endParaRPr lang="en-US" sz="2800"/>
              </a:p>
              <a:p>
                <a:pPr marL="0" indent="0">
                  <a:buNone/>
                </a:pPr>
                <a14:m>
                  <m:oMathPara xmlns:m="http://schemas.openxmlformats.org/officeDocument/2006/math">
                    <m:oMathParaPr>
                      <m:jc m:val="centerGroup"/>
                    </m:oMathParaPr>
                    <m:oMath xmlns:m="http://schemas.openxmlformats.org/officeDocument/2006/math">
                      <m:sSubSup>
                        <m:sSubSupPr>
                          <m:ctrlPr>
                            <a:rPr lang="en-US" sz="2800" i="1">
                              <a:latin typeface="Cambria Math"/>
                            </a:rPr>
                          </m:ctrlPr>
                        </m:sSubSupPr>
                        <m:e>
                          <m:r>
                            <a:rPr lang="en-US" sz="2800" i="1">
                              <a:latin typeface="Cambria Math"/>
                            </a:rPr>
                            <m:t>𝑦</m:t>
                          </m:r>
                        </m:e>
                        <m:sub>
                          <m:r>
                            <a:rPr lang="en-US" sz="2800" i="1">
                              <a:latin typeface="Cambria Math"/>
                            </a:rPr>
                            <m:t>𝑡</m:t>
                          </m:r>
                        </m:sub>
                        <m:sup>
                          <m:r>
                            <a:rPr lang="en-US" sz="2800" i="1">
                              <a:latin typeface="Cambria Math"/>
                            </a:rPr>
                            <m:t>′</m:t>
                          </m:r>
                        </m:sup>
                      </m:sSubSup>
                      <m:r>
                        <a:rPr lang="en-US" sz="2800" i="1">
                          <a:latin typeface="Cambria Math"/>
                        </a:rPr>
                        <m:t>=</m:t>
                      </m:r>
                      <m:sSub>
                        <m:sSubPr>
                          <m:ctrlPr>
                            <a:rPr lang="en-US" sz="2800" i="1">
                              <a:latin typeface="Cambria Math"/>
                            </a:rPr>
                          </m:ctrlPr>
                        </m:sSubPr>
                        <m:e>
                          <m:r>
                            <a:rPr lang="en-US" sz="2800" i="1">
                              <a:latin typeface="Cambria Math"/>
                            </a:rPr>
                            <m:t>𝑦</m:t>
                          </m:r>
                        </m:e>
                        <m:sub>
                          <m:r>
                            <a:rPr lang="en-US" sz="2800" i="1">
                              <a:latin typeface="Cambria Math"/>
                            </a:rPr>
                            <m:t>𝑡</m:t>
                          </m:r>
                        </m:sub>
                      </m:sSub>
                      <m:r>
                        <a:rPr lang="en-US" sz="2800" i="1">
                          <a:latin typeface="Cambria Math"/>
                        </a:rPr>
                        <m:t>−</m:t>
                      </m:r>
                      <m:sSub>
                        <m:sSubPr>
                          <m:ctrlPr>
                            <a:rPr lang="en-US" sz="2800" i="1">
                              <a:latin typeface="Cambria Math"/>
                            </a:rPr>
                          </m:ctrlPr>
                        </m:sSubPr>
                        <m:e>
                          <m:r>
                            <a:rPr lang="en-US" sz="2800" i="1">
                              <a:latin typeface="Cambria Math"/>
                            </a:rPr>
                            <m:t>𝑦</m:t>
                          </m:r>
                        </m:e>
                        <m:sub>
                          <m:r>
                            <a:rPr lang="en-US" sz="2800" i="1">
                              <a:latin typeface="Cambria Math"/>
                            </a:rPr>
                            <m:t>𝑡</m:t>
                          </m:r>
                          <m:r>
                            <a:rPr lang="en-US" sz="2800" i="1">
                              <a:latin typeface="Cambria Math"/>
                            </a:rPr>
                            <m:t>−</m:t>
                          </m:r>
                          <m:r>
                            <a:rPr lang="en-US" sz="2800" i="1">
                              <a:latin typeface="Cambria Math"/>
                            </a:rPr>
                            <m:t>𝑀</m:t>
                          </m:r>
                        </m:sub>
                      </m:sSub>
                    </m:oMath>
                  </m:oMathPara>
                </a14:m>
                <a:endParaRPr lang="en-US" sz="2800"/>
              </a:p>
              <a:p>
                <a:pPr marL="0" indent="0">
                  <a:buNone/>
                </a:pPr>
                <a:endParaRPr lang="en-US" sz="2800"/>
              </a:p>
              <a:p>
                <a:pPr marL="0" indent="0">
                  <a:buNone/>
                </a:pPr>
                <a:r>
                  <a:rPr lang="en-US" sz="2800" i="1" smtClean="0"/>
                  <a:t>M</a:t>
                </a:r>
                <a:r>
                  <a:rPr lang="en-US" sz="2800" smtClean="0"/>
                  <a:t> – the </a:t>
                </a:r>
                <a:r>
                  <a:rPr lang="en-US" sz="2800"/>
                  <a:t>number of seasons.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481" t="-1616" b="-3411"/>
                </a:stretch>
              </a:blipFill>
            </p:spPr>
            <p:txBody>
              <a:bodyPr/>
              <a:lstStyle/>
              <a:p>
                <a:r>
                  <a:rPr lang="en-US">
                    <a:noFill/>
                  </a:rPr>
                  <a:t> </a:t>
                </a:r>
              </a:p>
            </p:txBody>
          </p:sp>
        </mc:Fallback>
      </mc:AlternateContent>
    </p:spTree>
    <p:extLst>
      <p:ext uri="{BB962C8B-B14F-4D97-AF65-F5344CB8AC3E}">
        <p14:creationId xmlns:p14="http://schemas.microsoft.com/office/powerpoint/2010/main" val="29457089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Differencing</a:t>
            </a:r>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52948" y="1387475"/>
            <a:ext cx="4238104" cy="3394075"/>
          </a:xfrm>
        </p:spPr>
      </p:pic>
    </p:spTree>
    <p:extLst>
      <p:ext uri="{BB962C8B-B14F-4D97-AF65-F5344CB8AC3E}">
        <p14:creationId xmlns:p14="http://schemas.microsoft.com/office/powerpoint/2010/main" val="4701878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Differencing</a:t>
            </a:r>
            <a:endParaRPr 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09800" y="1200150"/>
            <a:ext cx="4376863" cy="3505200"/>
          </a:xfrm>
        </p:spPr>
      </p:pic>
    </p:spTree>
    <p:extLst>
      <p:ext uri="{BB962C8B-B14F-4D97-AF65-F5344CB8AC3E}">
        <p14:creationId xmlns:p14="http://schemas.microsoft.com/office/powerpoint/2010/main" val="1300716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Differencing</a:t>
            </a:r>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52948" y="1200150"/>
            <a:ext cx="4238104" cy="3394075"/>
          </a:xfrm>
        </p:spPr>
      </p:pic>
    </p:spTree>
    <p:extLst>
      <p:ext uri="{BB962C8B-B14F-4D97-AF65-F5344CB8AC3E}">
        <p14:creationId xmlns:p14="http://schemas.microsoft.com/office/powerpoint/2010/main" val="4688303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Differencing</a:t>
            </a:r>
            <a:endParaRPr lang="en-US"/>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09800" y="1268951"/>
            <a:ext cx="4481252" cy="3588799"/>
          </a:xfrm>
        </p:spPr>
      </p:pic>
    </p:spTree>
    <p:extLst>
      <p:ext uri="{BB962C8B-B14F-4D97-AF65-F5344CB8AC3E}">
        <p14:creationId xmlns:p14="http://schemas.microsoft.com/office/powerpoint/2010/main" val="33554706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Differencing</a:t>
            </a:r>
            <a:endParaRPr lang="en-US"/>
          </a:p>
        </p:txBody>
      </p:sp>
      <p:sp>
        <p:nvSpPr>
          <p:cNvPr id="3" name="Content Placeholder 2"/>
          <p:cNvSpPr>
            <a:spLocks noGrp="1"/>
          </p:cNvSpPr>
          <p:nvPr>
            <p:ph idx="1"/>
          </p:nvPr>
        </p:nvSpPr>
        <p:spPr/>
        <p:txBody>
          <a:bodyPr/>
          <a:lstStyle/>
          <a:p>
            <a:pPr marL="0" indent="0">
              <a:buNone/>
            </a:pPr>
            <a:r>
              <a:rPr lang="en-US"/>
              <a:t>B</a:t>
            </a:r>
            <a:r>
              <a:rPr lang="en-US" smtClean="0"/>
              <a:t>efore </a:t>
            </a:r>
            <a:r>
              <a:rPr lang="en-US"/>
              <a:t>making the actual forecasts, we have to convert the stationary series back to the original </a:t>
            </a:r>
            <a:r>
              <a:rPr lang="en-US" smtClean="0"/>
              <a:t>series (the </a:t>
            </a:r>
            <a:r>
              <a:rPr lang="en-US"/>
              <a:t>R program algorithms will do that for us </a:t>
            </a:r>
            <a:r>
              <a:rPr lang="en-US" smtClean="0"/>
              <a:t>automatically).</a:t>
            </a:r>
            <a:endParaRPr lang="en-US"/>
          </a:p>
        </p:txBody>
      </p:sp>
    </p:spTree>
    <p:extLst>
      <p:ext uri="{BB962C8B-B14F-4D97-AF65-F5344CB8AC3E}">
        <p14:creationId xmlns:p14="http://schemas.microsoft.com/office/powerpoint/2010/main" val="3472499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a:noAutofit/>
          </a:bodyPr>
          <a:lstStyle/>
          <a:p>
            <a:r>
              <a:rPr lang="en-US" sz="4200" b="1" smtClean="0">
                <a:ln>
                  <a:solidFill>
                    <a:schemeClr val="tx1">
                      <a:alpha val="70000"/>
                    </a:schemeClr>
                  </a:solidFill>
                </a:ln>
                <a:solidFill>
                  <a:srgbClr val="FF0000"/>
                </a:solidFill>
                <a:effectLst>
                  <a:outerShdw blurRad="50800" dist="38100" dir="2700000" algn="tl" rotWithShape="0">
                    <a:prstClr val="black">
                      <a:alpha val="23000"/>
                    </a:prstClr>
                  </a:outerShdw>
                </a:effectLst>
              </a:rPr>
              <a:t>The AR Process</a:t>
            </a:r>
            <a:endParaRPr lang="en-US" sz="4200" b="1">
              <a:ln>
                <a:solidFill>
                  <a:schemeClr val="tx1">
                    <a:alpha val="70000"/>
                  </a:schemeClr>
                </a:solidFill>
              </a:ln>
              <a:solidFill>
                <a:srgbClr val="FF0000"/>
              </a:solidFill>
              <a:effectLst>
                <a:outerShdw blurRad="50800" dist="38100" dir="2700000" algn="tl" rotWithShape="0">
                  <a:prstClr val="black">
                    <a:alpha val="23000"/>
                  </a:prstClr>
                </a:outerShdw>
              </a:effectLst>
            </a:endParaRPr>
          </a:p>
        </p:txBody>
      </p:sp>
    </p:spTree>
    <p:extLst>
      <p:ext uri="{BB962C8B-B14F-4D97-AF65-F5344CB8AC3E}">
        <p14:creationId xmlns:p14="http://schemas.microsoft.com/office/powerpoint/2010/main" val="165628543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 process</a:t>
            </a:r>
            <a:endParaRPr lang="en-US"/>
          </a:p>
        </p:txBody>
      </p:sp>
      <p:sp>
        <p:nvSpPr>
          <p:cNvPr id="3" name="Content Placeholder 2"/>
          <p:cNvSpPr>
            <a:spLocks noGrp="1"/>
          </p:cNvSpPr>
          <p:nvPr>
            <p:ph idx="1"/>
          </p:nvPr>
        </p:nvSpPr>
        <p:spPr/>
        <p:txBody>
          <a:bodyPr/>
          <a:lstStyle/>
          <a:p>
            <a:pPr marL="0" indent="0">
              <a:buNone/>
            </a:pPr>
            <a:r>
              <a:rPr lang="en-US" sz="3500"/>
              <a:t>A</a:t>
            </a:r>
            <a:r>
              <a:rPr lang="en-US" sz="3500" smtClean="0"/>
              <a:t> </a:t>
            </a:r>
            <a:r>
              <a:rPr lang="en-US" sz="3500" i="1"/>
              <a:t>p</a:t>
            </a:r>
            <a:r>
              <a:rPr lang="en-US" sz="3500"/>
              <a:t> order autoregressive (AR) process specifies the current values of the time series </a:t>
            </a:r>
            <a:r>
              <a:rPr lang="en-US" sz="3500" smtClean="0"/>
              <a:t>(</a:t>
            </a:r>
            <a:r>
              <a:rPr lang="en-US" sz="3500" i="1" err="1"/>
              <a:t>y</a:t>
            </a:r>
            <a:r>
              <a:rPr lang="en-US" sz="3500" i="1" baseline="-25000" err="1"/>
              <a:t>t</a:t>
            </a:r>
            <a:r>
              <a:rPr lang="en-US" sz="3500" smtClean="0"/>
              <a:t>) </a:t>
            </a:r>
            <a:r>
              <a:rPr lang="en-US" sz="3500"/>
              <a:t>as being a linear combination of the previous </a:t>
            </a:r>
            <a:r>
              <a:rPr lang="en-US" sz="3500" i="1"/>
              <a:t>p</a:t>
            </a:r>
            <a:r>
              <a:rPr lang="en-US" sz="3500"/>
              <a:t> lags</a:t>
            </a:r>
            <a:r>
              <a:rPr lang="en-US" sz="3500" smtClean="0"/>
              <a:t>.</a:t>
            </a:r>
          </a:p>
          <a:p>
            <a:pPr marL="0" indent="0">
              <a:buNone/>
            </a:pPr>
            <a:endParaRPr lang="en-US"/>
          </a:p>
          <a:p>
            <a:pPr marL="0" indent="0">
              <a:buNone/>
            </a:pPr>
            <a:endParaRPr lang="en-US"/>
          </a:p>
        </p:txBody>
      </p:sp>
    </p:spTree>
    <p:extLst>
      <p:ext uri="{BB962C8B-B14F-4D97-AF65-F5344CB8AC3E}">
        <p14:creationId xmlns:p14="http://schemas.microsoft.com/office/powerpoint/2010/main" val="1840225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 process</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indent="0">
                  <a:buNone/>
                </a:pPr>
                <a14:m>
                  <m:oMathPara xmlns:m="http://schemas.openxmlformats.org/officeDocument/2006/math">
                    <m:oMathParaPr>
                      <m:jc m:val="centerGroup"/>
                    </m:oMathParaPr>
                    <m:oMath xmlns:m="http://schemas.openxmlformats.org/officeDocument/2006/math">
                      <m:sSub>
                        <m:sSubPr>
                          <m:ctrlPr>
                            <a:rPr lang="en-US" sz="2800" i="1">
                              <a:latin typeface="Cambria Math"/>
                            </a:rPr>
                          </m:ctrlPr>
                        </m:sSubPr>
                        <m:e>
                          <m:r>
                            <a:rPr lang="en-US" sz="2800" i="1">
                              <a:latin typeface="Cambria Math"/>
                            </a:rPr>
                            <m:t>𝑦</m:t>
                          </m:r>
                        </m:e>
                        <m:sub>
                          <m:r>
                            <a:rPr lang="en-US" sz="2800" i="1">
                              <a:latin typeface="Cambria Math"/>
                            </a:rPr>
                            <m:t>𝑡</m:t>
                          </m:r>
                        </m:sub>
                      </m:sSub>
                      <m:r>
                        <a:rPr lang="en-US" sz="2800" i="1">
                          <a:latin typeface="Cambria Math"/>
                        </a:rPr>
                        <m:t>=</m:t>
                      </m:r>
                      <m:r>
                        <a:rPr lang="en-US" sz="2800" i="1">
                          <a:latin typeface="Cambria Math"/>
                        </a:rPr>
                        <m:t>𝑐</m:t>
                      </m:r>
                      <m:r>
                        <a:rPr lang="en-US" sz="2800" i="1">
                          <a:latin typeface="Cambria Math"/>
                        </a:rPr>
                        <m:t>+</m:t>
                      </m:r>
                      <m:sSub>
                        <m:sSubPr>
                          <m:ctrlPr>
                            <a:rPr lang="en-US" sz="2800" i="1">
                              <a:latin typeface="Cambria Math"/>
                            </a:rPr>
                          </m:ctrlPr>
                        </m:sSubPr>
                        <m:e>
                          <m:r>
                            <a:rPr lang="en-US" sz="2800" i="1">
                              <a:latin typeface="Cambria Math"/>
                            </a:rPr>
                            <m:t>𝜑</m:t>
                          </m:r>
                        </m:e>
                        <m:sub>
                          <m:r>
                            <a:rPr lang="en-US" sz="2800" i="1">
                              <a:latin typeface="Cambria Math"/>
                            </a:rPr>
                            <m:t>1</m:t>
                          </m:r>
                        </m:sub>
                      </m:sSub>
                      <m:sSub>
                        <m:sSubPr>
                          <m:ctrlPr>
                            <a:rPr lang="en-US" sz="2800" i="1">
                              <a:latin typeface="Cambria Math"/>
                            </a:rPr>
                          </m:ctrlPr>
                        </m:sSubPr>
                        <m:e>
                          <m:r>
                            <a:rPr lang="en-US" sz="2800" i="1">
                              <a:latin typeface="Cambria Math"/>
                            </a:rPr>
                            <m:t>𝑦</m:t>
                          </m:r>
                        </m:e>
                        <m:sub>
                          <m:r>
                            <a:rPr lang="en-US" sz="2800" i="1">
                              <a:latin typeface="Cambria Math"/>
                            </a:rPr>
                            <m:t>𝑡</m:t>
                          </m:r>
                          <m:r>
                            <a:rPr lang="en-US" sz="2800" i="1">
                              <a:latin typeface="Cambria Math"/>
                            </a:rPr>
                            <m:t>−1</m:t>
                          </m:r>
                        </m:sub>
                      </m:sSub>
                      <m:r>
                        <a:rPr lang="en-US" sz="2800" i="1">
                          <a:latin typeface="Cambria Math"/>
                        </a:rPr>
                        <m:t>+</m:t>
                      </m:r>
                      <m:sSub>
                        <m:sSubPr>
                          <m:ctrlPr>
                            <a:rPr lang="en-US" sz="2800" i="1">
                              <a:latin typeface="Cambria Math"/>
                            </a:rPr>
                          </m:ctrlPr>
                        </m:sSubPr>
                        <m:e>
                          <m:r>
                            <a:rPr lang="en-US" sz="2800" i="1">
                              <a:latin typeface="Cambria Math"/>
                            </a:rPr>
                            <m:t>𝜑</m:t>
                          </m:r>
                        </m:e>
                        <m:sub>
                          <m:r>
                            <a:rPr lang="en-US" sz="2800" i="1">
                              <a:latin typeface="Cambria Math"/>
                            </a:rPr>
                            <m:t>2</m:t>
                          </m:r>
                        </m:sub>
                      </m:sSub>
                      <m:sSub>
                        <m:sSubPr>
                          <m:ctrlPr>
                            <a:rPr lang="en-US" sz="2800" i="1">
                              <a:latin typeface="Cambria Math"/>
                            </a:rPr>
                          </m:ctrlPr>
                        </m:sSubPr>
                        <m:e>
                          <m:r>
                            <a:rPr lang="en-US" sz="2800" i="1">
                              <a:latin typeface="Cambria Math"/>
                            </a:rPr>
                            <m:t>𝑦</m:t>
                          </m:r>
                        </m:e>
                        <m:sub>
                          <m:r>
                            <a:rPr lang="en-US" sz="2800" i="1">
                              <a:latin typeface="Cambria Math"/>
                            </a:rPr>
                            <m:t>𝑡</m:t>
                          </m:r>
                          <m:r>
                            <a:rPr lang="en-US" sz="2800" i="1">
                              <a:latin typeface="Cambria Math"/>
                            </a:rPr>
                            <m:t>−2</m:t>
                          </m:r>
                        </m:sub>
                      </m:sSub>
                      <m:r>
                        <a:rPr lang="en-US" sz="2800" i="1">
                          <a:latin typeface="Cambria Math"/>
                        </a:rPr>
                        <m:t>+…+</m:t>
                      </m:r>
                      <m:sSub>
                        <m:sSubPr>
                          <m:ctrlPr>
                            <a:rPr lang="en-US" sz="2800" i="1">
                              <a:latin typeface="Cambria Math"/>
                            </a:rPr>
                          </m:ctrlPr>
                        </m:sSubPr>
                        <m:e>
                          <m:r>
                            <a:rPr lang="en-US" sz="2800" i="1">
                              <a:latin typeface="Cambria Math"/>
                            </a:rPr>
                            <m:t>𝜑</m:t>
                          </m:r>
                        </m:e>
                        <m:sub>
                          <m:r>
                            <a:rPr lang="en-US" sz="2800" i="1">
                              <a:latin typeface="Cambria Math"/>
                            </a:rPr>
                            <m:t>𝑝</m:t>
                          </m:r>
                        </m:sub>
                      </m:sSub>
                      <m:sSub>
                        <m:sSubPr>
                          <m:ctrlPr>
                            <a:rPr lang="en-US" sz="2800" i="1">
                              <a:latin typeface="Cambria Math"/>
                            </a:rPr>
                          </m:ctrlPr>
                        </m:sSubPr>
                        <m:e>
                          <m:r>
                            <a:rPr lang="en-US" sz="2800" i="1">
                              <a:latin typeface="Cambria Math"/>
                            </a:rPr>
                            <m:t>𝑦</m:t>
                          </m:r>
                        </m:e>
                        <m:sub>
                          <m:r>
                            <a:rPr lang="en-US" sz="2800" i="1">
                              <a:latin typeface="Cambria Math"/>
                            </a:rPr>
                            <m:t>𝑡</m:t>
                          </m:r>
                          <m:r>
                            <a:rPr lang="en-US" sz="2800" i="1">
                              <a:latin typeface="Cambria Math"/>
                            </a:rPr>
                            <m:t>−</m:t>
                          </m:r>
                          <m:r>
                            <a:rPr lang="en-US" sz="2800" i="1">
                              <a:latin typeface="Cambria Math"/>
                            </a:rPr>
                            <m:t>𝑝</m:t>
                          </m:r>
                        </m:sub>
                      </m:sSub>
                      <m:r>
                        <a:rPr lang="en-US" sz="2800" i="1">
                          <a:latin typeface="Cambria Math"/>
                        </a:rPr>
                        <m:t>+</m:t>
                      </m:r>
                      <m:sSub>
                        <m:sSubPr>
                          <m:ctrlPr>
                            <a:rPr lang="en-US" sz="2800" i="1">
                              <a:latin typeface="Cambria Math"/>
                            </a:rPr>
                          </m:ctrlPr>
                        </m:sSubPr>
                        <m:e>
                          <m:r>
                            <a:rPr lang="en-US" sz="2800" i="1">
                              <a:latin typeface="Cambria Math"/>
                            </a:rPr>
                            <m:t>𝜀</m:t>
                          </m:r>
                        </m:e>
                        <m:sub>
                          <m:r>
                            <a:rPr lang="en-US" sz="2800" i="1">
                              <a:latin typeface="Cambria Math"/>
                            </a:rPr>
                            <m:t>𝑡</m:t>
                          </m:r>
                        </m:sub>
                      </m:sSub>
                    </m:oMath>
                  </m:oMathPara>
                </a14:m>
                <a:endParaRPr lang="en-US" sz="2800" smtClean="0"/>
              </a:p>
              <a:p>
                <a:pPr marL="0" indent="0">
                  <a:buNone/>
                </a:pPr>
                <a:endParaRPr lang="en-US" sz="2800"/>
              </a:p>
              <a:p>
                <a:pPr marL="0" indent="0">
                  <a:buNone/>
                </a:pPr>
                <a:endParaRPr lang="en-US" sz="2800" i="1" smtClean="0"/>
              </a:p>
              <a:p>
                <a:pPr marL="0" indent="0">
                  <a:buNone/>
                </a:pPr>
                <a:r>
                  <a:rPr lang="en-US" sz="2800" i="1" smtClean="0"/>
                  <a:t>c</a:t>
                </a:r>
                <a:r>
                  <a:rPr lang="en-US" sz="2800" smtClean="0"/>
                  <a:t> – constant (drift)</a:t>
                </a:r>
              </a:p>
              <a:p>
                <a:pPr marL="0" indent="0">
                  <a:buNone/>
                </a:pPr>
                <a:r>
                  <a:rPr lang="en-US" sz="2800" i="1" smtClean="0"/>
                  <a:t>p</a:t>
                </a:r>
                <a:r>
                  <a:rPr lang="en-US" sz="2800" smtClean="0"/>
                  <a:t> – number of lags</a:t>
                </a:r>
              </a:p>
              <a:p>
                <a:pPr marL="0" indent="0">
                  <a:buNone/>
                </a:pPr>
                <a:r>
                  <a:rPr lang="en-US" sz="2800" i="1" err="1"/>
                  <a:t>φ</a:t>
                </a:r>
                <a:r>
                  <a:rPr lang="en-US" sz="2800" i="1" baseline="-25000" err="1"/>
                  <a:t>p</a:t>
                </a:r>
                <a:r>
                  <a:rPr lang="en-US" sz="2800" i="1" baseline="-25000"/>
                  <a:t> </a:t>
                </a:r>
                <a:r>
                  <a:rPr lang="en-US" sz="2800" smtClean="0"/>
                  <a:t>– coefficient of the p-order lag</a:t>
                </a:r>
              </a:p>
              <a:p>
                <a:pPr marL="0" indent="0">
                  <a:buNone/>
                </a:pPr>
                <a:r>
                  <a:rPr lang="en-US" sz="2800" i="1" err="1" smtClean="0"/>
                  <a:t>ε</a:t>
                </a:r>
                <a:r>
                  <a:rPr lang="en-US" sz="2800" i="1" baseline="-25000" err="1" smtClean="0"/>
                  <a:t>t</a:t>
                </a:r>
                <a:r>
                  <a:rPr lang="en-US" sz="2800" i="1" baseline="-25000" smtClean="0"/>
                  <a:t>  </a:t>
                </a:r>
                <a:r>
                  <a:rPr lang="en-US" sz="2800"/>
                  <a:t>–</a:t>
                </a:r>
                <a:r>
                  <a:rPr lang="en-US" sz="2800" i="1" smtClean="0"/>
                  <a:t> </a:t>
                </a:r>
                <a:r>
                  <a:rPr lang="en-US" sz="2800" smtClean="0"/>
                  <a:t>error term (noise)</a:t>
                </a:r>
                <a:endParaRPr lang="en-US" sz="28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259"/>
                </a:stretch>
              </a:blipFill>
            </p:spPr>
            <p:txBody>
              <a:bodyPr/>
              <a:lstStyle/>
              <a:p>
                <a:r>
                  <a:rPr lang="en-US">
                    <a:noFill/>
                  </a:rPr>
                  <a:t> </a:t>
                </a:r>
              </a:p>
            </p:txBody>
          </p:sp>
        </mc:Fallback>
      </mc:AlternateContent>
    </p:spTree>
    <p:extLst>
      <p:ext uri="{BB962C8B-B14F-4D97-AF65-F5344CB8AC3E}">
        <p14:creationId xmlns:p14="http://schemas.microsoft.com/office/powerpoint/2010/main" val="41630169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 process</a:t>
            </a:r>
            <a:endParaRPr lang="en-US"/>
          </a:p>
        </p:txBody>
      </p:sp>
      <p:sp>
        <p:nvSpPr>
          <p:cNvPr id="3" name="Content Placeholder 2"/>
          <p:cNvSpPr>
            <a:spLocks noGrp="1"/>
          </p:cNvSpPr>
          <p:nvPr>
            <p:ph idx="1"/>
          </p:nvPr>
        </p:nvSpPr>
        <p:spPr/>
        <p:txBody>
          <a:bodyPr>
            <a:normAutofit lnSpcReduction="10000"/>
          </a:bodyPr>
          <a:lstStyle/>
          <a:p>
            <a:pPr marL="0" indent="0">
              <a:buNone/>
            </a:pPr>
            <a:r>
              <a:rPr lang="en-US" sz="2800"/>
              <a:t>Very important: the AR process can be used only with stationary series. If our series is not stationary, we have to apply some transformation (for example, differencing) to convert it into a stationary one</a:t>
            </a:r>
            <a:r>
              <a:rPr lang="en-US" sz="2800" smtClean="0"/>
              <a:t>.</a:t>
            </a:r>
          </a:p>
          <a:p>
            <a:pPr marL="0" indent="0">
              <a:buNone/>
            </a:pPr>
            <a:endParaRPr lang="en-US" sz="2800"/>
          </a:p>
          <a:p>
            <a:pPr marL="0" indent="0">
              <a:buNone/>
            </a:pPr>
            <a:r>
              <a:rPr lang="en-US" sz="2800" smtClean="0"/>
              <a:t>Also, the </a:t>
            </a:r>
            <a:r>
              <a:rPr lang="en-US" sz="2800"/>
              <a:t>first coefficient of the equation above </a:t>
            </a:r>
            <a:r>
              <a:rPr lang="en-US" sz="2800" smtClean="0"/>
              <a:t>(</a:t>
            </a:r>
            <a:r>
              <a:rPr lang="en-US" sz="2800" i="1"/>
              <a:t>φ</a:t>
            </a:r>
            <a:r>
              <a:rPr lang="en-US" sz="2800" i="1" baseline="-25000"/>
              <a:t>1</a:t>
            </a:r>
            <a:r>
              <a:rPr lang="en-US" sz="2800" smtClean="0"/>
              <a:t>) </a:t>
            </a:r>
            <a:r>
              <a:rPr lang="en-US" sz="2800"/>
              <a:t>must be between -1 and 1; otherwise, </a:t>
            </a:r>
            <a:r>
              <a:rPr lang="en-US" sz="2800" smtClean="0"/>
              <a:t>the AR </a:t>
            </a:r>
            <a:r>
              <a:rPr lang="en-US" sz="2800"/>
              <a:t>process will not be stationary</a:t>
            </a:r>
            <a:r>
              <a:rPr lang="en-US" sz="2800" smtClean="0"/>
              <a:t>.</a:t>
            </a:r>
            <a:endParaRPr lang="en-US" sz="2800"/>
          </a:p>
        </p:txBody>
      </p:sp>
    </p:spTree>
    <p:extLst>
      <p:ext uri="{BB962C8B-B14F-4D97-AF65-F5344CB8AC3E}">
        <p14:creationId xmlns:p14="http://schemas.microsoft.com/office/powerpoint/2010/main" val="5443183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 process</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indent="0">
                  <a:buNone/>
                </a:pPr>
                <a:r>
                  <a:rPr lang="en-US" sz="2800"/>
                  <a:t>AR(1) </a:t>
                </a:r>
                <a:r>
                  <a:rPr lang="en-US" sz="2800" smtClean="0"/>
                  <a:t>process:</a:t>
                </a:r>
              </a:p>
              <a:p>
                <a:pPr marL="0" indent="0">
                  <a:buNone/>
                </a:pPr>
                <a:r>
                  <a:rPr lang="en-US" sz="2800"/>
                  <a:t> </a:t>
                </a:r>
              </a:p>
              <a:p>
                <a:pPr marL="0" indent="0">
                  <a:buNone/>
                </a:pPr>
                <a14:m>
                  <m:oMathPara xmlns:m="http://schemas.openxmlformats.org/officeDocument/2006/math">
                    <m:oMathParaPr>
                      <m:jc m:val="centerGroup"/>
                    </m:oMathParaPr>
                    <m:oMath xmlns:m="http://schemas.openxmlformats.org/officeDocument/2006/math">
                      <m:sSub>
                        <m:sSubPr>
                          <m:ctrlPr>
                            <a:rPr lang="en-US" sz="2800" i="1">
                              <a:latin typeface="Cambria Math"/>
                            </a:rPr>
                          </m:ctrlPr>
                        </m:sSubPr>
                        <m:e>
                          <m:r>
                            <a:rPr lang="en-US" sz="2800" i="1">
                              <a:latin typeface="Cambria Math"/>
                            </a:rPr>
                            <m:t>𝑦</m:t>
                          </m:r>
                        </m:e>
                        <m:sub>
                          <m:r>
                            <a:rPr lang="en-US" sz="2800" i="1">
                              <a:latin typeface="Cambria Math"/>
                            </a:rPr>
                            <m:t>𝑡</m:t>
                          </m:r>
                        </m:sub>
                      </m:sSub>
                      <m:r>
                        <a:rPr lang="en-US" sz="2800" i="1">
                          <a:latin typeface="Cambria Math"/>
                        </a:rPr>
                        <m:t>=</m:t>
                      </m:r>
                      <m:r>
                        <a:rPr lang="en-US" sz="2800" i="1">
                          <a:latin typeface="Cambria Math"/>
                        </a:rPr>
                        <m:t>𝑐</m:t>
                      </m:r>
                      <m:r>
                        <a:rPr lang="en-US" sz="2800" i="1">
                          <a:latin typeface="Cambria Math"/>
                        </a:rPr>
                        <m:t>+</m:t>
                      </m:r>
                      <m:sSub>
                        <m:sSubPr>
                          <m:ctrlPr>
                            <a:rPr lang="en-US" sz="2800" i="1">
                              <a:latin typeface="Cambria Math"/>
                            </a:rPr>
                          </m:ctrlPr>
                        </m:sSubPr>
                        <m:e>
                          <m:r>
                            <a:rPr lang="en-US" sz="2800" i="1">
                              <a:latin typeface="Cambria Math"/>
                            </a:rPr>
                            <m:t>𝜑</m:t>
                          </m:r>
                        </m:e>
                        <m:sub>
                          <m:r>
                            <a:rPr lang="en-US" sz="2800" i="1">
                              <a:latin typeface="Cambria Math"/>
                            </a:rPr>
                            <m:t>1</m:t>
                          </m:r>
                        </m:sub>
                      </m:sSub>
                      <m:sSub>
                        <m:sSubPr>
                          <m:ctrlPr>
                            <a:rPr lang="en-US" sz="2800" i="1">
                              <a:latin typeface="Cambria Math"/>
                            </a:rPr>
                          </m:ctrlPr>
                        </m:sSubPr>
                        <m:e>
                          <m:r>
                            <a:rPr lang="en-US" sz="2800" i="1">
                              <a:latin typeface="Cambria Math"/>
                            </a:rPr>
                            <m:t>𝑦</m:t>
                          </m:r>
                        </m:e>
                        <m:sub>
                          <m:r>
                            <a:rPr lang="en-US" sz="2800" i="1">
                              <a:latin typeface="Cambria Math"/>
                            </a:rPr>
                            <m:t>𝑡</m:t>
                          </m:r>
                          <m:r>
                            <a:rPr lang="en-US" sz="2800" i="1">
                              <a:latin typeface="Cambria Math"/>
                            </a:rPr>
                            <m:t>−1</m:t>
                          </m:r>
                        </m:sub>
                      </m:sSub>
                      <m:r>
                        <a:rPr lang="en-US" sz="2800" i="1">
                          <a:latin typeface="Cambria Math"/>
                        </a:rPr>
                        <m:t>+</m:t>
                      </m:r>
                      <m:sSub>
                        <m:sSubPr>
                          <m:ctrlPr>
                            <a:rPr lang="en-US" sz="2800" i="1">
                              <a:latin typeface="Cambria Math"/>
                            </a:rPr>
                          </m:ctrlPr>
                        </m:sSubPr>
                        <m:e>
                          <m:r>
                            <a:rPr lang="en-US" sz="2800" i="1">
                              <a:latin typeface="Cambria Math"/>
                            </a:rPr>
                            <m:t>𝜀</m:t>
                          </m:r>
                        </m:e>
                        <m:sub>
                          <m:r>
                            <a:rPr lang="en-US" sz="2800" i="1">
                              <a:latin typeface="Cambria Math"/>
                            </a:rPr>
                            <m:t>𝑡</m:t>
                          </m:r>
                        </m:sub>
                      </m:sSub>
                    </m:oMath>
                  </m:oMathPara>
                </a14:m>
                <a:endParaRPr lang="en-US" sz="2800"/>
              </a:p>
              <a:p>
                <a:pPr marL="0" indent="0">
                  <a:buNone/>
                </a:pPr>
                <a:r>
                  <a:rPr lang="en-US" sz="2800"/>
                  <a:t> </a:t>
                </a:r>
              </a:p>
              <a:p>
                <a:pPr marL="0" indent="0">
                  <a:buNone/>
                </a:pPr>
                <a:r>
                  <a:rPr lang="en-US" sz="2800" smtClean="0"/>
                  <a:t>AR(2</a:t>
                </a:r>
                <a:r>
                  <a:rPr lang="en-US" sz="2800"/>
                  <a:t>) </a:t>
                </a:r>
                <a:r>
                  <a:rPr lang="en-US" sz="2800" smtClean="0"/>
                  <a:t>process:</a:t>
                </a:r>
              </a:p>
              <a:p>
                <a:pPr marL="0" indent="0">
                  <a:buNone/>
                </a:pPr>
                <a:endParaRPr lang="en-US" sz="2800"/>
              </a:p>
              <a:p>
                <a:pPr marL="0" indent="0">
                  <a:buNone/>
                </a:pPr>
                <a14:m>
                  <m:oMathPara xmlns:m="http://schemas.openxmlformats.org/officeDocument/2006/math">
                    <m:oMathParaPr>
                      <m:jc m:val="centerGroup"/>
                    </m:oMathParaPr>
                    <m:oMath xmlns:m="http://schemas.openxmlformats.org/officeDocument/2006/math">
                      <m:sSub>
                        <m:sSubPr>
                          <m:ctrlPr>
                            <a:rPr lang="en-US" sz="2800" i="1">
                              <a:latin typeface="Cambria Math"/>
                            </a:rPr>
                          </m:ctrlPr>
                        </m:sSubPr>
                        <m:e>
                          <m:r>
                            <a:rPr lang="en-US" sz="2800" i="1">
                              <a:latin typeface="Cambria Math"/>
                            </a:rPr>
                            <m:t>𝑦</m:t>
                          </m:r>
                        </m:e>
                        <m:sub>
                          <m:r>
                            <a:rPr lang="en-US" sz="2800" i="1">
                              <a:latin typeface="Cambria Math"/>
                            </a:rPr>
                            <m:t>𝑡</m:t>
                          </m:r>
                        </m:sub>
                      </m:sSub>
                      <m:r>
                        <a:rPr lang="en-US" sz="2800" i="1">
                          <a:latin typeface="Cambria Math"/>
                        </a:rPr>
                        <m:t>=</m:t>
                      </m:r>
                      <m:r>
                        <a:rPr lang="en-US" sz="2800" i="1">
                          <a:latin typeface="Cambria Math"/>
                        </a:rPr>
                        <m:t>𝑐</m:t>
                      </m:r>
                      <m:r>
                        <a:rPr lang="en-US" sz="2800" i="1">
                          <a:latin typeface="Cambria Math"/>
                        </a:rPr>
                        <m:t>+</m:t>
                      </m:r>
                      <m:sSub>
                        <m:sSubPr>
                          <m:ctrlPr>
                            <a:rPr lang="en-US" sz="2800" i="1">
                              <a:latin typeface="Cambria Math"/>
                            </a:rPr>
                          </m:ctrlPr>
                        </m:sSubPr>
                        <m:e>
                          <m:r>
                            <a:rPr lang="en-US" sz="2800" i="1">
                              <a:latin typeface="Cambria Math"/>
                            </a:rPr>
                            <m:t>𝜑</m:t>
                          </m:r>
                        </m:e>
                        <m:sub>
                          <m:r>
                            <a:rPr lang="en-US" sz="2800" i="1">
                              <a:latin typeface="Cambria Math"/>
                            </a:rPr>
                            <m:t>1</m:t>
                          </m:r>
                        </m:sub>
                      </m:sSub>
                      <m:sSub>
                        <m:sSubPr>
                          <m:ctrlPr>
                            <a:rPr lang="en-US" sz="2800" i="1">
                              <a:latin typeface="Cambria Math"/>
                            </a:rPr>
                          </m:ctrlPr>
                        </m:sSubPr>
                        <m:e>
                          <m:r>
                            <a:rPr lang="en-US" sz="2800" i="1">
                              <a:latin typeface="Cambria Math"/>
                            </a:rPr>
                            <m:t>𝑦</m:t>
                          </m:r>
                        </m:e>
                        <m:sub>
                          <m:r>
                            <a:rPr lang="en-US" sz="2800" i="1">
                              <a:latin typeface="Cambria Math"/>
                            </a:rPr>
                            <m:t>𝑡</m:t>
                          </m:r>
                          <m:r>
                            <a:rPr lang="en-US" sz="2800" i="1">
                              <a:latin typeface="Cambria Math"/>
                            </a:rPr>
                            <m:t>−1</m:t>
                          </m:r>
                        </m:sub>
                      </m:sSub>
                      <m:r>
                        <a:rPr lang="en-US" sz="2800" i="1">
                          <a:latin typeface="Cambria Math"/>
                        </a:rPr>
                        <m:t>+</m:t>
                      </m:r>
                      <m:sSub>
                        <m:sSubPr>
                          <m:ctrlPr>
                            <a:rPr lang="en-US" sz="2800" i="1">
                              <a:latin typeface="Cambria Math"/>
                            </a:rPr>
                          </m:ctrlPr>
                        </m:sSubPr>
                        <m:e>
                          <m:r>
                            <a:rPr lang="en-US" sz="2800" i="1">
                              <a:latin typeface="Cambria Math"/>
                            </a:rPr>
                            <m:t>𝜑</m:t>
                          </m:r>
                        </m:e>
                        <m:sub>
                          <m:r>
                            <a:rPr lang="en-US" sz="2800" i="1">
                              <a:latin typeface="Cambria Math"/>
                            </a:rPr>
                            <m:t>2</m:t>
                          </m:r>
                        </m:sub>
                      </m:sSub>
                      <m:sSub>
                        <m:sSubPr>
                          <m:ctrlPr>
                            <a:rPr lang="en-US" sz="2800" i="1">
                              <a:latin typeface="Cambria Math"/>
                            </a:rPr>
                          </m:ctrlPr>
                        </m:sSubPr>
                        <m:e>
                          <m:r>
                            <a:rPr lang="en-US" sz="2800" i="1">
                              <a:latin typeface="Cambria Math"/>
                            </a:rPr>
                            <m:t>𝑦</m:t>
                          </m:r>
                        </m:e>
                        <m:sub>
                          <m:r>
                            <a:rPr lang="en-US" sz="2800" i="1">
                              <a:latin typeface="Cambria Math"/>
                            </a:rPr>
                            <m:t>𝑡</m:t>
                          </m:r>
                          <m:r>
                            <a:rPr lang="en-US" sz="2800" i="1">
                              <a:latin typeface="Cambria Math"/>
                            </a:rPr>
                            <m:t>−2</m:t>
                          </m:r>
                        </m:sub>
                      </m:sSub>
                      <m:r>
                        <a:rPr lang="en-US" sz="2800" i="1">
                          <a:latin typeface="Cambria Math"/>
                        </a:rPr>
                        <m:t>+</m:t>
                      </m:r>
                      <m:sSub>
                        <m:sSubPr>
                          <m:ctrlPr>
                            <a:rPr lang="en-US" sz="2800" i="1">
                              <a:latin typeface="Cambria Math"/>
                            </a:rPr>
                          </m:ctrlPr>
                        </m:sSubPr>
                        <m:e>
                          <m:r>
                            <a:rPr lang="en-US" sz="2800" i="1">
                              <a:latin typeface="Cambria Math"/>
                            </a:rPr>
                            <m:t>𝜀</m:t>
                          </m:r>
                        </m:e>
                        <m:sub>
                          <m:r>
                            <a:rPr lang="en-US" sz="2800" i="1">
                              <a:latin typeface="Cambria Math"/>
                            </a:rPr>
                            <m:t>𝑡</m:t>
                          </m:r>
                        </m:sub>
                      </m:sSub>
                    </m:oMath>
                  </m:oMathPara>
                </a14:m>
                <a:endParaRPr lang="en-US" sz="2800"/>
              </a:p>
              <a:p>
                <a:pPr marL="0" indent="0">
                  <a:buNone/>
                </a:pPr>
                <a:endParaRPr lang="en-US" sz="28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481" t="-2873"/>
                </a:stretch>
              </a:blipFill>
            </p:spPr>
            <p:txBody>
              <a:bodyPr/>
              <a:lstStyle/>
              <a:p>
                <a:r>
                  <a:rPr lang="en-US">
                    <a:noFill/>
                  </a:rPr>
                  <a:t> </a:t>
                </a:r>
              </a:p>
            </p:txBody>
          </p:sp>
        </mc:Fallback>
      </mc:AlternateContent>
    </p:spTree>
    <p:extLst>
      <p:ext uri="{BB962C8B-B14F-4D97-AF65-F5344CB8AC3E}">
        <p14:creationId xmlns:p14="http://schemas.microsoft.com/office/powerpoint/2010/main" val="36166040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a:noAutofit/>
          </a:bodyPr>
          <a:lstStyle/>
          <a:p>
            <a:r>
              <a:rPr lang="en-US" sz="4200" b="1" smtClean="0">
                <a:ln>
                  <a:solidFill>
                    <a:schemeClr val="tx1">
                      <a:alpha val="70000"/>
                    </a:schemeClr>
                  </a:solidFill>
                </a:ln>
                <a:solidFill>
                  <a:srgbClr val="FF0000"/>
                </a:solidFill>
                <a:effectLst>
                  <a:outerShdw blurRad="50800" dist="38100" dir="2700000" algn="tl" rotWithShape="0">
                    <a:prstClr val="black">
                      <a:alpha val="23000"/>
                    </a:prstClr>
                  </a:outerShdw>
                </a:effectLst>
              </a:rPr>
              <a:t>The MA Process</a:t>
            </a:r>
            <a:endParaRPr lang="en-US" sz="4200" b="1">
              <a:ln>
                <a:solidFill>
                  <a:schemeClr val="tx1">
                    <a:alpha val="70000"/>
                  </a:schemeClr>
                </a:solidFill>
              </a:ln>
              <a:solidFill>
                <a:srgbClr val="FF0000"/>
              </a:solidFill>
              <a:effectLst>
                <a:outerShdw blurRad="50800" dist="38100" dir="2700000" algn="tl" rotWithShape="0">
                  <a:prstClr val="black">
                    <a:alpha val="23000"/>
                  </a:prstClr>
                </a:outerShdw>
              </a:effectLst>
            </a:endParaRPr>
          </a:p>
        </p:txBody>
      </p:sp>
    </p:spTree>
    <p:extLst>
      <p:ext uri="{BB962C8B-B14F-4D97-AF65-F5344CB8AC3E}">
        <p14:creationId xmlns:p14="http://schemas.microsoft.com/office/powerpoint/2010/main" val="12586010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MA process</a:t>
            </a:r>
            <a:endParaRPr lang="en-US"/>
          </a:p>
        </p:txBody>
      </p:sp>
      <p:sp>
        <p:nvSpPr>
          <p:cNvPr id="3" name="Content Placeholder 2"/>
          <p:cNvSpPr>
            <a:spLocks noGrp="1"/>
          </p:cNvSpPr>
          <p:nvPr>
            <p:ph idx="1"/>
          </p:nvPr>
        </p:nvSpPr>
        <p:spPr/>
        <p:txBody>
          <a:bodyPr>
            <a:normAutofit/>
          </a:bodyPr>
          <a:lstStyle/>
          <a:p>
            <a:pPr marL="0" indent="0">
              <a:buNone/>
            </a:pPr>
            <a:r>
              <a:rPr lang="en-US" sz="3500" smtClean="0"/>
              <a:t>The moving average (MA) process is a class of models that define the current value of the time series (</a:t>
            </a:r>
            <a:r>
              <a:rPr lang="en-US" sz="3500" i="1" smtClean="0"/>
              <a:t>y</a:t>
            </a:r>
            <a:r>
              <a:rPr lang="en-US" sz="3500" i="1" baseline="-25000" smtClean="0"/>
              <a:t>t</a:t>
            </a:r>
            <a:r>
              <a:rPr lang="en-US" sz="3500" smtClean="0"/>
              <a:t>) as a linear combination of the past error terms.</a:t>
            </a:r>
            <a:endParaRPr lang="en-US" sz="3500"/>
          </a:p>
        </p:txBody>
      </p:sp>
    </p:spTree>
    <p:extLst>
      <p:ext uri="{BB962C8B-B14F-4D97-AF65-F5344CB8AC3E}">
        <p14:creationId xmlns:p14="http://schemas.microsoft.com/office/powerpoint/2010/main" val="35134210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MA process</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indent="0">
                  <a:buNone/>
                </a:pPr>
                <a:r>
                  <a:rPr lang="en-US" sz="2600"/>
                  <a:t>The equation of a q-order MA </a:t>
                </a:r>
                <a:r>
                  <a:rPr lang="en-US" sz="2600" smtClean="0"/>
                  <a:t>process:</a:t>
                </a:r>
                <a:endParaRPr lang="en-US" sz="2600"/>
              </a:p>
              <a:p>
                <a:pPr marL="0" indent="0">
                  <a:buNone/>
                </a:pPr>
                <a:endParaRPr lang="en-US" sz="2600"/>
              </a:p>
              <a:p>
                <a:pPr marL="0" indent="0">
                  <a:buNone/>
                </a:pPr>
                <a14:m>
                  <m:oMathPara xmlns:m="http://schemas.openxmlformats.org/officeDocument/2006/math">
                    <m:oMathParaPr>
                      <m:jc m:val="centerGroup"/>
                    </m:oMathParaPr>
                    <m:oMath xmlns:m="http://schemas.openxmlformats.org/officeDocument/2006/math">
                      <m:sSub>
                        <m:sSubPr>
                          <m:ctrlPr>
                            <a:rPr lang="en-US" sz="2600" i="1">
                              <a:latin typeface="Cambria Math"/>
                            </a:rPr>
                          </m:ctrlPr>
                        </m:sSubPr>
                        <m:e>
                          <m:r>
                            <a:rPr lang="en-US" sz="2600" i="1">
                              <a:latin typeface="Cambria Math"/>
                            </a:rPr>
                            <m:t>𝑦</m:t>
                          </m:r>
                        </m:e>
                        <m:sub>
                          <m:r>
                            <a:rPr lang="en-US" sz="2600" i="1">
                              <a:latin typeface="Cambria Math"/>
                            </a:rPr>
                            <m:t>𝑡</m:t>
                          </m:r>
                        </m:sub>
                      </m:sSub>
                      <m:r>
                        <a:rPr lang="en-US" sz="2600" i="1">
                          <a:latin typeface="Cambria Math"/>
                        </a:rPr>
                        <m:t>=</m:t>
                      </m:r>
                      <m:r>
                        <a:rPr lang="en-US" sz="2600" i="1">
                          <a:latin typeface="Cambria Math"/>
                        </a:rPr>
                        <m:t>𝜇</m:t>
                      </m:r>
                      <m:r>
                        <a:rPr lang="en-US" sz="2600" i="1">
                          <a:latin typeface="Cambria Math"/>
                        </a:rPr>
                        <m:t>+</m:t>
                      </m:r>
                      <m:sSub>
                        <m:sSubPr>
                          <m:ctrlPr>
                            <a:rPr lang="en-US" sz="2600" i="1">
                              <a:latin typeface="Cambria Math"/>
                            </a:rPr>
                          </m:ctrlPr>
                        </m:sSubPr>
                        <m:e>
                          <m:r>
                            <a:rPr lang="en-US" sz="2600" i="1">
                              <a:latin typeface="Cambria Math"/>
                            </a:rPr>
                            <m:t>𝜀</m:t>
                          </m:r>
                        </m:e>
                        <m:sub>
                          <m:r>
                            <a:rPr lang="en-US" sz="2600" i="1">
                              <a:latin typeface="Cambria Math"/>
                            </a:rPr>
                            <m:t>𝑡</m:t>
                          </m:r>
                        </m:sub>
                      </m:sSub>
                      <m:r>
                        <a:rPr lang="en-US" sz="2600" i="1">
                          <a:latin typeface="Cambria Math"/>
                        </a:rPr>
                        <m:t>+</m:t>
                      </m:r>
                      <m:sSub>
                        <m:sSubPr>
                          <m:ctrlPr>
                            <a:rPr lang="en-US" sz="2600" i="1">
                              <a:latin typeface="Cambria Math"/>
                            </a:rPr>
                          </m:ctrlPr>
                        </m:sSubPr>
                        <m:e>
                          <m:r>
                            <a:rPr lang="en-US" sz="2600" i="1">
                              <a:latin typeface="Cambria Math"/>
                            </a:rPr>
                            <m:t>𝜃</m:t>
                          </m:r>
                        </m:e>
                        <m:sub>
                          <m:r>
                            <a:rPr lang="en-US" sz="2600" i="1">
                              <a:latin typeface="Cambria Math"/>
                            </a:rPr>
                            <m:t>1</m:t>
                          </m:r>
                        </m:sub>
                      </m:sSub>
                      <m:sSub>
                        <m:sSubPr>
                          <m:ctrlPr>
                            <a:rPr lang="en-US" sz="2600" i="1">
                              <a:latin typeface="Cambria Math"/>
                            </a:rPr>
                          </m:ctrlPr>
                        </m:sSubPr>
                        <m:e>
                          <m:r>
                            <a:rPr lang="en-US" sz="2600" i="1">
                              <a:latin typeface="Cambria Math"/>
                            </a:rPr>
                            <m:t>𝜀</m:t>
                          </m:r>
                        </m:e>
                        <m:sub>
                          <m:r>
                            <a:rPr lang="en-US" sz="2600" i="1">
                              <a:latin typeface="Cambria Math"/>
                            </a:rPr>
                            <m:t>𝑡</m:t>
                          </m:r>
                          <m:r>
                            <a:rPr lang="en-US" sz="2600" i="1">
                              <a:latin typeface="Cambria Math"/>
                            </a:rPr>
                            <m:t>−1</m:t>
                          </m:r>
                        </m:sub>
                      </m:sSub>
                      <m:r>
                        <a:rPr lang="en-US" sz="2600" i="1">
                          <a:latin typeface="Cambria Math"/>
                        </a:rPr>
                        <m:t>+</m:t>
                      </m:r>
                      <m:sSub>
                        <m:sSubPr>
                          <m:ctrlPr>
                            <a:rPr lang="en-US" sz="2600" i="1">
                              <a:latin typeface="Cambria Math"/>
                            </a:rPr>
                          </m:ctrlPr>
                        </m:sSubPr>
                        <m:e>
                          <m:r>
                            <a:rPr lang="en-US" sz="2600" i="1">
                              <a:latin typeface="Cambria Math"/>
                            </a:rPr>
                            <m:t>𝜃</m:t>
                          </m:r>
                        </m:e>
                        <m:sub>
                          <m:r>
                            <a:rPr lang="en-US" sz="2600" i="1">
                              <a:latin typeface="Cambria Math"/>
                            </a:rPr>
                            <m:t>2</m:t>
                          </m:r>
                        </m:sub>
                      </m:sSub>
                      <m:sSub>
                        <m:sSubPr>
                          <m:ctrlPr>
                            <a:rPr lang="en-US" sz="2600" i="1">
                              <a:latin typeface="Cambria Math"/>
                            </a:rPr>
                          </m:ctrlPr>
                        </m:sSubPr>
                        <m:e>
                          <m:r>
                            <a:rPr lang="en-US" sz="2600" i="1">
                              <a:latin typeface="Cambria Math"/>
                            </a:rPr>
                            <m:t>𝜀</m:t>
                          </m:r>
                        </m:e>
                        <m:sub>
                          <m:r>
                            <a:rPr lang="en-US" sz="2600" i="1">
                              <a:latin typeface="Cambria Math"/>
                            </a:rPr>
                            <m:t>𝑡</m:t>
                          </m:r>
                          <m:r>
                            <a:rPr lang="en-US" sz="2600" i="1">
                              <a:latin typeface="Cambria Math"/>
                            </a:rPr>
                            <m:t>−2</m:t>
                          </m:r>
                        </m:sub>
                      </m:sSub>
                      <m:r>
                        <a:rPr lang="en-US" sz="2600" i="1">
                          <a:latin typeface="Cambria Math"/>
                        </a:rPr>
                        <m:t>+…+</m:t>
                      </m:r>
                      <m:sSub>
                        <m:sSubPr>
                          <m:ctrlPr>
                            <a:rPr lang="en-US" sz="2600" i="1">
                              <a:latin typeface="Cambria Math"/>
                            </a:rPr>
                          </m:ctrlPr>
                        </m:sSubPr>
                        <m:e>
                          <m:r>
                            <a:rPr lang="en-US" sz="2600" i="1">
                              <a:latin typeface="Cambria Math"/>
                            </a:rPr>
                            <m:t>𝜃</m:t>
                          </m:r>
                        </m:e>
                        <m:sub>
                          <m:r>
                            <a:rPr lang="en-US" sz="2600" i="1">
                              <a:latin typeface="Cambria Math"/>
                            </a:rPr>
                            <m:t>𝑞</m:t>
                          </m:r>
                        </m:sub>
                      </m:sSub>
                      <m:sSub>
                        <m:sSubPr>
                          <m:ctrlPr>
                            <a:rPr lang="en-US" sz="2600" i="1">
                              <a:latin typeface="Cambria Math"/>
                            </a:rPr>
                          </m:ctrlPr>
                        </m:sSubPr>
                        <m:e>
                          <m:r>
                            <a:rPr lang="en-US" sz="2600" i="1">
                              <a:latin typeface="Cambria Math"/>
                            </a:rPr>
                            <m:t>𝜀</m:t>
                          </m:r>
                        </m:e>
                        <m:sub>
                          <m:r>
                            <a:rPr lang="en-US" sz="2600" i="1">
                              <a:latin typeface="Cambria Math"/>
                            </a:rPr>
                            <m:t>𝑡</m:t>
                          </m:r>
                          <m:r>
                            <a:rPr lang="en-US" sz="2600" i="1">
                              <a:latin typeface="Cambria Math"/>
                            </a:rPr>
                            <m:t>−</m:t>
                          </m:r>
                          <m:r>
                            <a:rPr lang="en-US" sz="2600" i="1">
                              <a:latin typeface="Cambria Math"/>
                            </a:rPr>
                            <m:t>𝑞</m:t>
                          </m:r>
                        </m:sub>
                      </m:sSub>
                    </m:oMath>
                  </m:oMathPara>
                </a14:m>
                <a:endParaRPr lang="en-US" sz="2600" smtClean="0"/>
              </a:p>
              <a:p>
                <a:pPr marL="0" indent="0">
                  <a:buNone/>
                </a:pPr>
                <a:endParaRPr lang="en-US" sz="2600"/>
              </a:p>
              <a:p>
                <a:pPr marL="0" indent="0">
                  <a:buNone/>
                </a:pPr>
                <a:r>
                  <a:rPr lang="en-US" sz="2400" i="1" smtClean="0"/>
                  <a:t>μ</a:t>
                </a:r>
                <a:r>
                  <a:rPr lang="en-US" sz="2400" smtClean="0"/>
                  <a:t> </a:t>
                </a:r>
                <a:r>
                  <a:rPr lang="en-US" sz="2400"/>
                  <a:t>– </a:t>
                </a:r>
                <a:r>
                  <a:rPr lang="en-US" sz="2400" smtClean="0"/>
                  <a:t>the series mean</a:t>
                </a:r>
              </a:p>
              <a:p>
                <a:pPr marL="0" indent="0">
                  <a:buNone/>
                </a:pPr>
                <a:r>
                  <a:rPr lang="en-US" sz="2400" i="1" smtClean="0"/>
                  <a:t>ε</a:t>
                </a:r>
                <a:r>
                  <a:rPr lang="en-US" sz="2400" i="1" baseline="-25000" smtClean="0"/>
                  <a:t>  </a:t>
                </a:r>
                <a:r>
                  <a:rPr lang="en-US" sz="2400"/>
                  <a:t>–</a:t>
                </a:r>
                <a:r>
                  <a:rPr lang="en-US" sz="2400" i="1"/>
                  <a:t> </a:t>
                </a:r>
                <a:r>
                  <a:rPr lang="en-US" sz="2400"/>
                  <a:t>error </a:t>
                </a:r>
                <a:r>
                  <a:rPr lang="en-US" sz="2400" smtClean="0"/>
                  <a:t>terms</a:t>
                </a:r>
                <a:endParaRPr lang="en-US" sz="2400"/>
              </a:p>
              <a:p>
                <a:pPr marL="0" indent="0">
                  <a:buNone/>
                </a:pPr>
                <a:r>
                  <a:rPr lang="en-US" sz="2400" i="1" smtClean="0"/>
                  <a:t>q</a:t>
                </a:r>
                <a:r>
                  <a:rPr lang="en-US" sz="2400" smtClean="0"/>
                  <a:t> </a:t>
                </a:r>
                <a:r>
                  <a:rPr lang="en-US" sz="2400"/>
                  <a:t>– number of </a:t>
                </a:r>
                <a:r>
                  <a:rPr lang="en-US" sz="2400" smtClean="0"/>
                  <a:t>previous error terms included</a:t>
                </a:r>
                <a:endParaRPr lang="en-US" sz="2400"/>
              </a:p>
              <a:p>
                <a:pPr marL="0" indent="0">
                  <a:buNone/>
                </a:pPr>
                <a:r>
                  <a:rPr lang="en-US" sz="2400" i="1" smtClean="0"/>
                  <a:t>θ</a:t>
                </a:r>
                <a:r>
                  <a:rPr lang="en-US" sz="2400" i="1" baseline="-25000" smtClean="0"/>
                  <a:t>q </a:t>
                </a:r>
                <a:r>
                  <a:rPr lang="en-US" sz="2400"/>
                  <a:t>– coefficient of the </a:t>
                </a:r>
                <a:r>
                  <a:rPr lang="en-US" sz="2400" smtClean="0"/>
                  <a:t>q-order error term</a:t>
                </a:r>
                <a:endParaRPr lang="en-US" sz="2400"/>
              </a:p>
              <a:p>
                <a:pPr marL="0" indent="0">
                  <a:buNone/>
                </a:pPr>
                <a:endParaRPr lang="en-US" sz="26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259" t="-2693" b="-3232"/>
                </a:stretch>
              </a:blipFill>
            </p:spPr>
            <p:txBody>
              <a:bodyPr/>
              <a:lstStyle/>
              <a:p>
                <a:r>
                  <a:rPr lang="en-US">
                    <a:noFill/>
                  </a:rPr>
                  <a:t> </a:t>
                </a:r>
              </a:p>
            </p:txBody>
          </p:sp>
        </mc:Fallback>
      </mc:AlternateContent>
    </p:spTree>
    <p:extLst>
      <p:ext uri="{BB962C8B-B14F-4D97-AF65-F5344CB8AC3E}">
        <p14:creationId xmlns:p14="http://schemas.microsoft.com/office/powerpoint/2010/main" val="30201630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MA process</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sz="2800"/>
                  <a:t>F</a:t>
                </a:r>
                <a:r>
                  <a:rPr lang="en-US" sz="2800" smtClean="0"/>
                  <a:t>irst-order </a:t>
                </a:r>
                <a:r>
                  <a:rPr lang="en-US" sz="2800"/>
                  <a:t>MA </a:t>
                </a:r>
                <a:r>
                  <a:rPr lang="en-US" sz="2800" smtClean="0"/>
                  <a:t>process:</a:t>
                </a:r>
              </a:p>
              <a:p>
                <a:pPr marL="0" indent="0">
                  <a:buNone/>
                </a:pPr>
                <a:endParaRPr lang="en-US" sz="2800" i="1"/>
              </a:p>
              <a:p>
                <a:pPr marL="0" indent="0">
                  <a:buNone/>
                </a:pPr>
                <a14:m>
                  <m:oMathPara xmlns:m="http://schemas.openxmlformats.org/officeDocument/2006/math">
                    <m:oMathParaPr>
                      <m:jc m:val="centerGroup"/>
                    </m:oMathParaPr>
                    <m:oMath xmlns:m="http://schemas.openxmlformats.org/officeDocument/2006/math">
                      <m:sSub>
                        <m:sSubPr>
                          <m:ctrlPr>
                            <a:rPr lang="en-US" sz="2800" i="1">
                              <a:latin typeface="Cambria Math"/>
                            </a:rPr>
                          </m:ctrlPr>
                        </m:sSubPr>
                        <m:e>
                          <m:r>
                            <a:rPr lang="en-US" sz="2800" i="1">
                              <a:latin typeface="Cambria Math"/>
                            </a:rPr>
                            <m:t>𝑦</m:t>
                          </m:r>
                        </m:e>
                        <m:sub>
                          <m:r>
                            <a:rPr lang="en-US" sz="2800" i="1">
                              <a:latin typeface="Cambria Math"/>
                            </a:rPr>
                            <m:t>𝑡</m:t>
                          </m:r>
                        </m:sub>
                      </m:sSub>
                      <m:r>
                        <a:rPr lang="en-US" sz="2800" i="1">
                          <a:latin typeface="Cambria Math"/>
                        </a:rPr>
                        <m:t>=</m:t>
                      </m:r>
                      <m:r>
                        <a:rPr lang="en-US" sz="2800" i="1">
                          <a:latin typeface="Cambria Math"/>
                        </a:rPr>
                        <m:t>𝜇</m:t>
                      </m:r>
                      <m:r>
                        <a:rPr lang="en-US" sz="2800" i="1">
                          <a:latin typeface="Cambria Math"/>
                        </a:rPr>
                        <m:t>+</m:t>
                      </m:r>
                      <m:sSub>
                        <m:sSubPr>
                          <m:ctrlPr>
                            <a:rPr lang="en-US" sz="2800" i="1">
                              <a:latin typeface="Cambria Math"/>
                            </a:rPr>
                          </m:ctrlPr>
                        </m:sSubPr>
                        <m:e>
                          <m:r>
                            <a:rPr lang="en-US" sz="2800" i="1">
                              <a:latin typeface="Cambria Math"/>
                            </a:rPr>
                            <m:t>𝜀</m:t>
                          </m:r>
                        </m:e>
                        <m:sub>
                          <m:r>
                            <a:rPr lang="en-US" sz="2800" i="1">
                              <a:latin typeface="Cambria Math"/>
                            </a:rPr>
                            <m:t>𝑡</m:t>
                          </m:r>
                        </m:sub>
                      </m:sSub>
                      <m:r>
                        <a:rPr lang="en-US" sz="2800" i="1">
                          <a:latin typeface="Cambria Math"/>
                        </a:rPr>
                        <m:t>+</m:t>
                      </m:r>
                      <m:sSub>
                        <m:sSubPr>
                          <m:ctrlPr>
                            <a:rPr lang="en-US" sz="2800" i="1">
                              <a:latin typeface="Cambria Math"/>
                            </a:rPr>
                          </m:ctrlPr>
                        </m:sSubPr>
                        <m:e>
                          <m:r>
                            <a:rPr lang="en-US" sz="2800" i="1">
                              <a:latin typeface="Cambria Math"/>
                            </a:rPr>
                            <m:t>𝜃</m:t>
                          </m:r>
                        </m:e>
                        <m:sub>
                          <m:r>
                            <a:rPr lang="en-US" sz="2800" i="1">
                              <a:latin typeface="Cambria Math"/>
                            </a:rPr>
                            <m:t>1</m:t>
                          </m:r>
                        </m:sub>
                      </m:sSub>
                      <m:sSub>
                        <m:sSubPr>
                          <m:ctrlPr>
                            <a:rPr lang="en-US" sz="2800" i="1">
                              <a:latin typeface="Cambria Math"/>
                            </a:rPr>
                          </m:ctrlPr>
                        </m:sSubPr>
                        <m:e>
                          <m:r>
                            <a:rPr lang="en-US" sz="2800" i="1">
                              <a:latin typeface="Cambria Math"/>
                            </a:rPr>
                            <m:t>𝜀</m:t>
                          </m:r>
                        </m:e>
                        <m:sub>
                          <m:r>
                            <a:rPr lang="en-US" sz="2800" i="1">
                              <a:latin typeface="Cambria Math"/>
                            </a:rPr>
                            <m:t>𝑡</m:t>
                          </m:r>
                          <m:r>
                            <a:rPr lang="en-US" sz="2800" i="1">
                              <a:latin typeface="Cambria Math"/>
                            </a:rPr>
                            <m:t>−1</m:t>
                          </m:r>
                        </m:sub>
                      </m:sSub>
                    </m:oMath>
                  </m:oMathPara>
                </a14:m>
                <a:endParaRPr lang="en-US" sz="2800"/>
              </a:p>
              <a:p>
                <a:pPr marL="0" indent="0">
                  <a:buNone/>
                </a:pPr>
                <a:r>
                  <a:rPr lang="en-US" sz="2800"/>
                  <a:t> </a:t>
                </a:r>
              </a:p>
              <a:p>
                <a:pPr marL="0" indent="0">
                  <a:buNone/>
                </a:pPr>
                <a:endParaRPr lang="en-US" sz="26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481" t="-1616"/>
                </a:stretch>
              </a:blipFill>
            </p:spPr>
            <p:txBody>
              <a:bodyPr/>
              <a:lstStyle/>
              <a:p>
                <a:r>
                  <a:rPr lang="en-US">
                    <a:noFill/>
                  </a:rPr>
                  <a:t> </a:t>
                </a:r>
              </a:p>
            </p:txBody>
          </p:sp>
        </mc:Fallback>
      </mc:AlternateContent>
    </p:spTree>
    <p:extLst>
      <p:ext uri="{BB962C8B-B14F-4D97-AF65-F5344CB8AC3E}">
        <p14:creationId xmlns:p14="http://schemas.microsoft.com/office/powerpoint/2010/main" val="1712938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MA process</a:t>
            </a:r>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sz="2800"/>
              <a:t>A moving average model can be considered when our initial forecasting model does not catch all the series patterns adequately, and we suspect that some patterns are captured in the error terms. </a:t>
            </a:r>
          </a:p>
          <a:p>
            <a:pPr marL="0" indent="0">
              <a:buNone/>
            </a:pPr>
            <a:endParaRPr lang="en-US" sz="2800"/>
          </a:p>
          <a:p>
            <a:pPr marL="0" indent="0">
              <a:buNone/>
            </a:pPr>
            <a:r>
              <a:rPr lang="en-US" sz="2800" smtClean="0"/>
              <a:t>(The </a:t>
            </a:r>
            <a:r>
              <a:rPr lang="en-US" sz="2800"/>
              <a:t>moving average process should not be confused with the notion of moving average that we have learned in a previous section. It is a different concept</a:t>
            </a:r>
            <a:r>
              <a:rPr lang="en-US" sz="2800" smtClean="0"/>
              <a:t>.)</a:t>
            </a:r>
            <a:endParaRPr lang="en-US" sz="2600"/>
          </a:p>
        </p:txBody>
      </p:sp>
    </p:spTree>
    <p:extLst>
      <p:ext uri="{BB962C8B-B14F-4D97-AF65-F5344CB8AC3E}">
        <p14:creationId xmlns:p14="http://schemas.microsoft.com/office/powerpoint/2010/main" val="3453118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MA process</a:t>
            </a:r>
            <a:endParaRPr lang="en-US"/>
          </a:p>
        </p:txBody>
      </p:sp>
      <p:sp>
        <p:nvSpPr>
          <p:cNvPr id="3" name="Content Placeholder 2"/>
          <p:cNvSpPr>
            <a:spLocks noGrp="1"/>
          </p:cNvSpPr>
          <p:nvPr>
            <p:ph idx="1"/>
          </p:nvPr>
        </p:nvSpPr>
        <p:spPr/>
        <p:txBody>
          <a:bodyPr>
            <a:normAutofit/>
          </a:bodyPr>
          <a:lstStyle/>
          <a:p>
            <a:pPr marL="0" indent="0">
              <a:buNone/>
            </a:pPr>
            <a:r>
              <a:rPr lang="en-US" sz="3500"/>
              <a:t>Very important: the moving average process can be used only with stationary series. If our series is not stationary, we must convert it into a stationary one with differencing.</a:t>
            </a:r>
          </a:p>
        </p:txBody>
      </p:sp>
    </p:spTree>
    <p:extLst>
      <p:ext uri="{BB962C8B-B14F-4D97-AF65-F5344CB8AC3E}">
        <p14:creationId xmlns:p14="http://schemas.microsoft.com/office/powerpoint/2010/main" val="3246592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MA process</a:t>
            </a:r>
            <a:endParaRPr lang="en-US"/>
          </a:p>
        </p:txBody>
      </p:sp>
      <p:sp>
        <p:nvSpPr>
          <p:cNvPr id="3" name="Content Placeholder 2"/>
          <p:cNvSpPr>
            <a:spLocks noGrp="1"/>
          </p:cNvSpPr>
          <p:nvPr>
            <p:ph idx="1"/>
          </p:nvPr>
        </p:nvSpPr>
        <p:spPr/>
        <p:txBody>
          <a:bodyPr>
            <a:normAutofit/>
          </a:bodyPr>
          <a:lstStyle/>
          <a:p>
            <a:pPr marL="0" indent="0">
              <a:buNone/>
            </a:pPr>
            <a:r>
              <a:rPr lang="en-US" sz="3600"/>
              <a:t>Fitting a moving average model is more difficult, because the error terms are not observable. </a:t>
            </a:r>
            <a:r>
              <a:rPr lang="en-US" sz="3600" smtClean="0"/>
              <a:t>Some </a:t>
            </a:r>
            <a:r>
              <a:rPr lang="en-US" sz="3600"/>
              <a:t>special iterative non-linear fitting methods are applied in this situation.</a:t>
            </a:r>
            <a:endParaRPr lang="en-US" sz="3500"/>
          </a:p>
        </p:txBody>
      </p:sp>
    </p:spTree>
    <p:extLst>
      <p:ext uri="{BB962C8B-B14F-4D97-AF65-F5344CB8AC3E}">
        <p14:creationId xmlns:p14="http://schemas.microsoft.com/office/powerpoint/2010/main" val="21117931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a:noAutofit/>
          </a:bodyPr>
          <a:lstStyle/>
          <a:p>
            <a:r>
              <a:rPr lang="en-US" sz="4200" b="1" smtClean="0">
                <a:ln>
                  <a:solidFill>
                    <a:schemeClr val="tx1">
                      <a:alpha val="70000"/>
                    </a:schemeClr>
                  </a:solidFill>
                </a:ln>
                <a:solidFill>
                  <a:srgbClr val="FF0000"/>
                </a:solidFill>
                <a:effectLst>
                  <a:outerShdw blurRad="50800" dist="38100" dir="2700000" algn="tl" rotWithShape="0">
                    <a:prstClr val="black">
                      <a:alpha val="23000"/>
                    </a:prstClr>
                  </a:outerShdw>
                </a:effectLst>
              </a:rPr>
              <a:t>The ARMA Process</a:t>
            </a:r>
            <a:endParaRPr lang="en-US" sz="4200" b="1">
              <a:ln>
                <a:solidFill>
                  <a:schemeClr val="tx1">
                    <a:alpha val="70000"/>
                  </a:schemeClr>
                </a:solidFill>
              </a:ln>
              <a:solidFill>
                <a:srgbClr val="FF0000"/>
              </a:solidFill>
              <a:effectLst>
                <a:outerShdw blurRad="50800" dist="38100" dir="2700000" algn="tl" rotWithShape="0">
                  <a:prstClr val="black">
                    <a:alpha val="23000"/>
                  </a:prstClr>
                </a:outerShdw>
              </a:effectLst>
            </a:endParaRPr>
          </a:p>
        </p:txBody>
      </p:sp>
    </p:spTree>
    <p:extLst>
      <p:ext uri="{BB962C8B-B14F-4D97-AF65-F5344CB8AC3E}">
        <p14:creationId xmlns:p14="http://schemas.microsoft.com/office/powerpoint/2010/main" val="196807549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ARMA process</a:t>
            </a:r>
            <a:endParaRPr lang="en-US"/>
          </a:p>
        </p:txBody>
      </p:sp>
      <p:sp>
        <p:nvSpPr>
          <p:cNvPr id="3" name="Content Placeholder 2"/>
          <p:cNvSpPr>
            <a:spLocks noGrp="1"/>
          </p:cNvSpPr>
          <p:nvPr>
            <p:ph idx="1"/>
          </p:nvPr>
        </p:nvSpPr>
        <p:spPr/>
        <p:txBody>
          <a:bodyPr>
            <a:normAutofit fontScale="70000" lnSpcReduction="20000"/>
          </a:bodyPr>
          <a:lstStyle/>
          <a:p>
            <a:pPr marL="0" indent="0">
              <a:buNone/>
            </a:pPr>
            <a:r>
              <a:rPr lang="en-US" sz="3600"/>
              <a:t>I</a:t>
            </a:r>
            <a:r>
              <a:rPr lang="en-US" sz="3600" smtClean="0"/>
              <a:t>n </a:t>
            </a:r>
            <a:r>
              <a:rPr lang="en-US" sz="3600"/>
              <a:t>some situations, the autoregressive </a:t>
            </a:r>
            <a:r>
              <a:rPr lang="en-US" sz="3600" smtClean="0"/>
              <a:t>(AR) and </a:t>
            </a:r>
            <a:r>
              <a:rPr lang="en-US" sz="3600"/>
              <a:t>moving average </a:t>
            </a:r>
            <a:r>
              <a:rPr lang="en-US" sz="3600" smtClean="0"/>
              <a:t>(MA) processes </a:t>
            </a:r>
            <a:r>
              <a:rPr lang="en-US" sz="3600"/>
              <a:t>are combined, resulting a more complex model called ARMA. This combined model can help us make more accurate forecasts.</a:t>
            </a:r>
          </a:p>
          <a:p>
            <a:pPr marL="0" indent="0">
              <a:buNone/>
            </a:pPr>
            <a:endParaRPr lang="en-US" sz="3600"/>
          </a:p>
          <a:p>
            <a:pPr marL="0" indent="0">
              <a:buNone/>
            </a:pPr>
            <a:r>
              <a:rPr lang="en-US" sz="3600"/>
              <a:t>An ARMA </a:t>
            </a:r>
            <a:r>
              <a:rPr lang="en-US" sz="3600" smtClean="0"/>
              <a:t>process </a:t>
            </a:r>
            <a:r>
              <a:rPr lang="en-US" sz="3600"/>
              <a:t>has two parameters:</a:t>
            </a:r>
          </a:p>
          <a:p>
            <a:pPr marL="0" indent="0">
              <a:buNone/>
            </a:pPr>
            <a:endParaRPr lang="en-US" sz="3600"/>
          </a:p>
          <a:p>
            <a:pPr lvl="0">
              <a:buFont typeface="Wingdings" panose="05000000000000000000" pitchFamily="2" charset="2"/>
              <a:buChar char="Ø"/>
            </a:pPr>
            <a:r>
              <a:rPr lang="en-US" sz="3600" i="1"/>
              <a:t>p</a:t>
            </a:r>
            <a:r>
              <a:rPr lang="en-US" sz="3600"/>
              <a:t> – the number of lags used in the AR model</a:t>
            </a:r>
          </a:p>
          <a:p>
            <a:pPr lvl="0">
              <a:buFont typeface="Wingdings" panose="05000000000000000000" pitchFamily="2" charset="2"/>
              <a:buChar char="Ø"/>
            </a:pPr>
            <a:r>
              <a:rPr lang="en-US" sz="3600" i="1"/>
              <a:t>q</a:t>
            </a:r>
            <a:r>
              <a:rPr lang="en-US" sz="3600"/>
              <a:t> – the number of error terms that appear in the MA </a:t>
            </a:r>
            <a:r>
              <a:rPr lang="en-US" sz="3600" smtClean="0"/>
              <a:t>model</a:t>
            </a:r>
            <a:endParaRPr lang="en-US" sz="3600"/>
          </a:p>
        </p:txBody>
      </p:sp>
    </p:spTree>
    <p:extLst>
      <p:ext uri="{BB962C8B-B14F-4D97-AF65-F5344CB8AC3E}">
        <p14:creationId xmlns:p14="http://schemas.microsoft.com/office/powerpoint/2010/main" val="9241638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ARMA process</a:t>
            </a:r>
            <a:endParaRPr lang="en-US"/>
          </a:p>
        </p:txBody>
      </p:sp>
      <p:sp>
        <p:nvSpPr>
          <p:cNvPr id="3" name="Content Placeholder 2"/>
          <p:cNvSpPr>
            <a:spLocks noGrp="1"/>
          </p:cNvSpPr>
          <p:nvPr>
            <p:ph idx="1"/>
          </p:nvPr>
        </p:nvSpPr>
        <p:spPr/>
        <p:txBody>
          <a:bodyPr>
            <a:normAutofit/>
          </a:bodyPr>
          <a:lstStyle/>
          <a:p>
            <a:pPr marL="0" indent="0">
              <a:buNone/>
            </a:pPr>
            <a:endParaRPr lang="en-US" sz="3600" smtClean="0"/>
          </a:p>
          <a:p>
            <a:pPr marL="0" indent="0">
              <a:buNone/>
            </a:pPr>
            <a:r>
              <a:rPr lang="en-US" sz="3600" smtClean="0"/>
              <a:t>The </a:t>
            </a:r>
            <a:r>
              <a:rPr lang="en-US" sz="3600"/>
              <a:t>ARMA model can be used only when our time series is stationary.</a:t>
            </a:r>
          </a:p>
        </p:txBody>
      </p:sp>
    </p:spTree>
    <p:extLst>
      <p:ext uri="{BB962C8B-B14F-4D97-AF65-F5344CB8AC3E}">
        <p14:creationId xmlns:p14="http://schemas.microsoft.com/office/powerpoint/2010/main" val="12458568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ARMA process</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sz="3000"/>
                  <a:t>T</a:t>
                </a:r>
                <a:r>
                  <a:rPr lang="en-US" sz="3000" smtClean="0"/>
                  <a:t>he </a:t>
                </a:r>
                <a:r>
                  <a:rPr lang="en-US" sz="3000"/>
                  <a:t>general form of an ARMA model:</a:t>
                </a:r>
              </a:p>
              <a:p>
                <a:pPr marL="0" indent="0" algn="ctr">
                  <a:buNone/>
                </a:pPr>
                <a:endParaRPr lang="en-US" sz="3000"/>
              </a:p>
              <a:p>
                <a:pPr marL="0" indent="0" algn="ctr">
                  <a:buNone/>
                </a:pPr>
                <a14:m>
                  <m:oMath xmlns:m="http://schemas.openxmlformats.org/officeDocument/2006/math">
                    <m:sSub>
                      <m:sSubPr>
                        <m:ctrlPr>
                          <a:rPr lang="en-US" sz="3000" i="1">
                            <a:latin typeface="Cambria Math"/>
                          </a:rPr>
                        </m:ctrlPr>
                      </m:sSubPr>
                      <m:e>
                        <m:r>
                          <a:rPr lang="en-US" sz="3000" i="1">
                            <a:latin typeface="Cambria Math"/>
                          </a:rPr>
                          <m:t>𝑦</m:t>
                        </m:r>
                      </m:e>
                      <m:sub>
                        <m:r>
                          <a:rPr lang="en-US" sz="3000" i="1">
                            <a:latin typeface="Cambria Math"/>
                          </a:rPr>
                          <m:t>𝑡</m:t>
                        </m:r>
                      </m:sub>
                    </m:sSub>
                    <m:r>
                      <a:rPr lang="en-US" sz="3000" i="1">
                        <a:latin typeface="Cambria Math"/>
                      </a:rPr>
                      <m:t>=</m:t>
                    </m:r>
                  </m:oMath>
                </a14:m>
                <a:r>
                  <a:rPr lang="en-US" sz="3000"/>
                  <a:t> </a:t>
                </a:r>
                <a14:m>
                  <m:oMath xmlns:m="http://schemas.openxmlformats.org/officeDocument/2006/math">
                    <m:r>
                      <a:rPr lang="en-US" sz="3000" i="1">
                        <a:latin typeface="Cambria Math"/>
                      </a:rPr>
                      <m:t>𝑐</m:t>
                    </m:r>
                    <m:r>
                      <a:rPr lang="en-US" sz="3000" i="1">
                        <a:latin typeface="Cambria Math"/>
                      </a:rPr>
                      <m:t>+</m:t>
                    </m:r>
                    <m:sSub>
                      <m:sSubPr>
                        <m:ctrlPr>
                          <a:rPr lang="en-US" sz="3000" i="1">
                            <a:latin typeface="Cambria Math"/>
                          </a:rPr>
                        </m:ctrlPr>
                      </m:sSubPr>
                      <m:e>
                        <m:r>
                          <a:rPr lang="en-US" sz="3000" i="1">
                            <a:latin typeface="Cambria Math"/>
                          </a:rPr>
                          <m:t>𝜑</m:t>
                        </m:r>
                      </m:e>
                      <m:sub>
                        <m:r>
                          <a:rPr lang="en-US" sz="3000" i="1">
                            <a:latin typeface="Cambria Math"/>
                          </a:rPr>
                          <m:t>1</m:t>
                        </m:r>
                      </m:sub>
                    </m:sSub>
                    <m:sSub>
                      <m:sSubPr>
                        <m:ctrlPr>
                          <a:rPr lang="en-US" sz="3000" i="1">
                            <a:latin typeface="Cambria Math"/>
                          </a:rPr>
                        </m:ctrlPr>
                      </m:sSubPr>
                      <m:e>
                        <m:r>
                          <a:rPr lang="en-US" sz="3000" i="1">
                            <a:latin typeface="Cambria Math"/>
                          </a:rPr>
                          <m:t>𝑦</m:t>
                        </m:r>
                      </m:e>
                      <m:sub>
                        <m:r>
                          <a:rPr lang="en-US" sz="3000" i="1">
                            <a:latin typeface="Cambria Math"/>
                          </a:rPr>
                          <m:t>𝑡</m:t>
                        </m:r>
                        <m:r>
                          <a:rPr lang="en-US" sz="3000" i="1">
                            <a:latin typeface="Cambria Math"/>
                          </a:rPr>
                          <m:t>−1</m:t>
                        </m:r>
                      </m:sub>
                    </m:sSub>
                    <m:r>
                      <a:rPr lang="en-US" sz="3000" i="1">
                        <a:latin typeface="Cambria Math"/>
                      </a:rPr>
                      <m:t>+</m:t>
                    </m:r>
                    <m:sSub>
                      <m:sSubPr>
                        <m:ctrlPr>
                          <a:rPr lang="en-US" sz="3000" i="1">
                            <a:latin typeface="Cambria Math"/>
                          </a:rPr>
                        </m:ctrlPr>
                      </m:sSubPr>
                      <m:e>
                        <m:r>
                          <a:rPr lang="en-US" sz="3000" i="1">
                            <a:latin typeface="Cambria Math"/>
                          </a:rPr>
                          <m:t>𝜑</m:t>
                        </m:r>
                      </m:e>
                      <m:sub>
                        <m:r>
                          <a:rPr lang="en-US" sz="3000" i="1">
                            <a:latin typeface="Cambria Math"/>
                          </a:rPr>
                          <m:t>2</m:t>
                        </m:r>
                      </m:sub>
                    </m:sSub>
                    <m:sSub>
                      <m:sSubPr>
                        <m:ctrlPr>
                          <a:rPr lang="en-US" sz="3000" i="1">
                            <a:latin typeface="Cambria Math"/>
                          </a:rPr>
                        </m:ctrlPr>
                      </m:sSubPr>
                      <m:e>
                        <m:r>
                          <a:rPr lang="en-US" sz="3000" i="1">
                            <a:latin typeface="Cambria Math"/>
                          </a:rPr>
                          <m:t>𝑦</m:t>
                        </m:r>
                      </m:e>
                      <m:sub>
                        <m:r>
                          <a:rPr lang="en-US" sz="3000" i="1">
                            <a:latin typeface="Cambria Math"/>
                          </a:rPr>
                          <m:t>𝑡</m:t>
                        </m:r>
                        <m:r>
                          <a:rPr lang="en-US" sz="3000" i="1">
                            <a:latin typeface="Cambria Math"/>
                          </a:rPr>
                          <m:t>−2</m:t>
                        </m:r>
                      </m:sub>
                    </m:sSub>
                    <m:r>
                      <a:rPr lang="en-US" sz="3000" i="1">
                        <a:latin typeface="Cambria Math"/>
                      </a:rPr>
                      <m:t>+…+</m:t>
                    </m:r>
                    <m:sSub>
                      <m:sSubPr>
                        <m:ctrlPr>
                          <a:rPr lang="en-US" sz="3000" i="1">
                            <a:latin typeface="Cambria Math"/>
                          </a:rPr>
                        </m:ctrlPr>
                      </m:sSubPr>
                      <m:e>
                        <m:r>
                          <a:rPr lang="en-US" sz="3000" i="1">
                            <a:latin typeface="Cambria Math"/>
                          </a:rPr>
                          <m:t>𝜑</m:t>
                        </m:r>
                      </m:e>
                      <m:sub>
                        <m:r>
                          <a:rPr lang="en-US" sz="3000" i="1">
                            <a:latin typeface="Cambria Math"/>
                          </a:rPr>
                          <m:t>𝑝</m:t>
                        </m:r>
                      </m:sub>
                    </m:sSub>
                    <m:sSub>
                      <m:sSubPr>
                        <m:ctrlPr>
                          <a:rPr lang="en-US" sz="3000" i="1">
                            <a:latin typeface="Cambria Math"/>
                          </a:rPr>
                        </m:ctrlPr>
                      </m:sSubPr>
                      <m:e>
                        <m:r>
                          <a:rPr lang="en-US" sz="3000" i="1">
                            <a:latin typeface="Cambria Math"/>
                          </a:rPr>
                          <m:t>𝑦</m:t>
                        </m:r>
                      </m:e>
                      <m:sub>
                        <m:r>
                          <a:rPr lang="en-US" sz="3000" i="1">
                            <a:latin typeface="Cambria Math"/>
                          </a:rPr>
                          <m:t>𝑡</m:t>
                        </m:r>
                        <m:r>
                          <a:rPr lang="en-US" sz="3000" i="1">
                            <a:latin typeface="Cambria Math"/>
                          </a:rPr>
                          <m:t>−</m:t>
                        </m:r>
                        <m:r>
                          <a:rPr lang="en-US" sz="3000" i="1">
                            <a:latin typeface="Cambria Math"/>
                          </a:rPr>
                          <m:t>𝑝</m:t>
                        </m:r>
                      </m:sub>
                    </m:sSub>
                    <m:r>
                      <a:rPr lang="en-US" sz="3000" i="1">
                        <a:latin typeface="Cambria Math"/>
                      </a:rPr>
                      <m:t>+</m:t>
                    </m:r>
                    <m:sSub>
                      <m:sSubPr>
                        <m:ctrlPr>
                          <a:rPr lang="en-US" sz="3000" i="1">
                            <a:latin typeface="Cambria Math"/>
                          </a:rPr>
                        </m:ctrlPr>
                      </m:sSubPr>
                      <m:e>
                        <m:r>
                          <a:rPr lang="en-US" sz="3000" i="1">
                            <a:latin typeface="Cambria Math"/>
                          </a:rPr>
                          <m:t>𝜀</m:t>
                        </m:r>
                      </m:e>
                      <m:sub>
                        <m:r>
                          <a:rPr lang="en-US" sz="3000" i="1">
                            <a:latin typeface="Cambria Math"/>
                          </a:rPr>
                          <m:t>𝑡</m:t>
                        </m:r>
                      </m:sub>
                    </m:sSub>
                    <m:r>
                      <a:rPr lang="en-US" sz="3000" i="1">
                        <a:latin typeface="Cambria Math"/>
                      </a:rPr>
                      <m:t>+</m:t>
                    </m:r>
                    <m:sSub>
                      <m:sSubPr>
                        <m:ctrlPr>
                          <a:rPr lang="en-US" sz="3000" i="1">
                            <a:latin typeface="Cambria Math"/>
                          </a:rPr>
                        </m:ctrlPr>
                      </m:sSubPr>
                      <m:e>
                        <m:r>
                          <a:rPr lang="en-US" sz="3000" i="1">
                            <a:latin typeface="Cambria Math"/>
                          </a:rPr>
                          <m:t>𝜃</m:t>
                        </m:r>
                      </m:e>
                      <m:sub>
                        <m:r>
                          <a:rPr lang="en-US" sz="3000" i="1">
                            <a:latin typeface="Cambria Math"/>
                          </a:rPr>
                          <m:t>1</m:t>
                        </m:r>
                      </m:sub>
                    </m:sSub>
                    <m:sSub>
                      <m:sSubPr>
                        <m:ctrlPr>
                          <a:rPr lang="en-US" sz="3000" i="1">
                            <a:latin typeface="Cambria Math"/>
                          </a:rPr>
                        </m:ctrlPr>
                      </m:sSubPr>
                      <m:e>
                        <m:r>
                          <a:rPr lang="en-US" sz="3000" i="1">
                            <a:latin typeface="Cambria Math"/>
                          </a:rPr>
                          <m:t>𝜀</m:t>
                        </m:r>
                      </m:e>
                      <m:sub>
                        <m:r>
                          <a:rPr lang="en-US" sz="3000" i="1">
                            <a:latin typeface="Cambria Math"/>
                          </a:rPr>
                          <m:t>𝑡</m:t>
                        </m:r>
                        <m:r>
                          <a:rPr lang="en-US" sz="3000" i="1">
                            <a:latin typeface="Cambria Math"/>
                          </a:rPr>
                          <m:t>−1</m:t>
                        </m:r>
                      </m:sub>
                    </m:sSub>
                    <m:r>
                      <a:rPr lang="en-US" sz="3000" i="1">
                        <a:latin typeface="Cambria Math"/>
                      </a:rPr>
                      <m:t>+</m:t>
                    </m:r>
                    <m:sSub>
                      <m:sSubPr>
                        <m:ctrlPr>
                          <a:rPr lang="en-US" sz="3000" i="1">
                            <a:latin typeface="Cambria Math"/>
                          </a:rPr>
                        </m:ctrlPr>
                      </m:sSubPr>
                      <m:e>
                        <m:r>
                          <a:rPr lang="en-US" sz="3000" i="1">
                            <a:latin typeface="Cambria Math"/>
                          </a:rPr>
                          <m:t>𝜃</m:t>
                        </m:r>
                      </m:e>
                      <m:sub>
                        <m:r>
                          <a:rPr lang="en-US" sz="3000" i="1">
                            <a:latin typeface="Cambria Math"/>
                          </a:rPr>
                          <m:t>2</m:t>
                        </m:r>
                      </m:sub>
                    </m:sSub>
                    <m:sSub>
                      <m:sSubPr>
                        <m:ctrlPr>
                          <a:rPr lang="en-US" sz="3000" i="1">
                            <a:latin typeface="Cambria Math"/>
                          </a:rPr>
                        </m:ctrlPr>
                      </m:sSubPr>
                      <m:e>
                        <m:r>
                          <a:rPr lang="en-US" sz="3000" i="1">
                            <a:latin typeface="Cambria Math"/>
                          </a:rPr>
                          <m:t>𝜀</m:t>
                        </m:r>
                      </m:e>
                      <m:sub>
                        <m:r>
                          <a:rPr lang="en-US" sz="3000" i="1">
                            <a:latin typeface="Cambria Math"/>
                          </a:rPr>
                          <m:t>𝑡</m:t>
                        </m:r>
                        <m:r>
                          <a:rPr lang="en-US" sz="3000" i="1">
                            <a:latin typeface="Cambria Math"/>
                          </a:rPr>
                          <m:t>−2</m:t>
                        </m:r>
                      </m:sub>
                    </m:sSub>
                    <m:r>
                      <a:rPr lang="en-US" sz="3000" i="1">
                        <a:latin typeface="Cambria Math"/>
                      </a:rPr>
                      <m:t>+…+</m:t>
                    </m:r>
                    <m:sSub>
                      <m:sSubPr>
                        <m:ctrlPr>
                          <a:rPr lang="en-US" sz="3000" i="1">
                            <a:latin typeface="Cambria Math"/>
                          </a:rPr>
                        </m:ctrlPr>
                      </m:sSubPr>
                      <m:e>
                        <m:r>
                          <a:rPr lang="en-US" sz="3000" i="1">
                            <a:latin typeface="Cambria Math"/>
                          </a:rPr>
                          <m:t>𝜃</m:t>
                        </m:r>
                      </m:e>
                      <m:sub>
                        <m:r>
                          <a:rPr lang="en-US" sz="3000" i="1">
                            <a:latin typeface="Cambria Math"/>
                          </a:rPr>
                          <m:t>𝑞</m:t>
                        </m:r>
                      </m:sub>
                    </m:sSub>
                    <m:sSub>
                      <m:sSubPr>
                        <m:ctrlPr>
                          <a:rPr lang="en-US" sz="3000" i="1">
                            <a:latin typeface="Cambria Math"/>
                          </a:rPr>
                        </m:ctrlPr>
                      </m:sSubPr>
                      <m:e>
                        <m:r>
                          <a:rPr lang="en-US" sz="3000" i="1">
                            <a:latin typeface="Cambria Math"/>
                          </a:rPr>
                          <m:t>𝜀</m:t>
                        </m:r>
                      </m:e>
                      <m:sub>
                        <m:r>
                          <a:rPr lang="en-US" sz="3000" i="1">
                            <a:latin typeface="Cambria Math"/>
                          </a:rPr>
                          <m:t>𝑡</m:t>
                        </m:r>
                        <m:r>
                          <a:rPr lang="en-US" sz="3000" i="1">
                            <a:latin typeface="Cambria Math"/>
                          </a:rPr>
                          <m:t>−</m:t>
                        </m:r>
                        <m:r>
                          <a:rPr lang="en-US" sz="3000" i="1">
                            <a:latin typeface="Cambria Math"/>
                          </a:rPr>
                          <m:t>𝑞</m:t>
                        </m:r>
                      </m:sub>
                    </m:sSub>
                  </m:oMath>
                </a14:m>
                <a:endParaRPr lang="en-US" sz="3000"/>
              </a:p>
              <a:p>
                <a:pPr marL="0" indent="0">
                  <a:buNone/>
                </a:pPr>
                <a:endParaRPr lang="en-US" sz="360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704" t="-2154"/>
                </a:stretch>
              </a:blipFill>
            </p:spPr>
            <p:txBody>
              <a:bodyPr/>
              <a:lstStyle/>
              <a:p>
                <a:r>
                  <a:rPr lang="en-US">
                    <a:noFill/>
                  </a:rPr>
                  <a:t> </a:t>
                </a:r>
              </a:p>
            </p:txBody>
          </p:sp>
        </mc:Fallback>
      </mc:AlternateContent>
    </p:spTree>
    <p:extLst>
      <p:ext uri="{BB962C8B-B14F-4D97-AF65-F5344CB8AC3E}">
        <p14:creationId xmlns:p14="http://schemas.microsoft.com/office/powerpoint/2010/main" val="29802334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ARMA process</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sz="2900" smtClean="0"/>
                  <a:t>ARMA(3, 2):</a:t>
                </a:r>
              </a:p>
              <a:p>
                <a:pPr marL="0" indent="0">
                  <a:buNone/>
                </a:pPr>
                <a:endParaRPr lang="en-US" sz="3600"/>
              </a:p>
              <a:p>
                <a:pPr marL="0" indent="0" algn="ctr">
                  <a:buNone/>
                </a:pPr>
                <a14:m>
                  <m:oMathPara xmlns:m="http://schemas.openxmlformats.org/officeDocument/2006/math">
                    <m:oMathParaPr>
                      <m:jc m:val="centerGroup"/>
                    </m:oMathParaPr>
                    <m:oMath xmlns:m="http://schemas.openxmlformats.org/officeDocument/2006/math">
                      <m:sSub>
                        <m:sSubPr>
                          <m:ctrlPr>
                            <a:rPr lang="en-US" sz="2400" i="1">
                              <a:latin typeface="Cambria Math"/>
                            </a:rPr>
                          </m:ctrlPr>
                        </m:sSubPr>
                        <m:e>
                          <m:r>
                            <a:rPr lang="en-US" sz="2400" i="1">
                              <a:latin typeface="Cambria Math"/>
                            </a:rPr>
                            <m:t>𝑦</m:t>
                          </m:r>
                        </m:e>
                        <m:sub>
                          <m:r>
                            <a:rPr lang="en-US" sz="2400" i="1">
                              <a:latin typeface="Cambria Math"/>
                            </a:rPr>
                            <m:t>𝑡</m:t>
                          </m:r>
                        </m:sub>
                      </m:sSub>
                      <m:r>
                        <a:rPr lang="en-US" sz="2400" i="1">
                          <a:latin typeface="Cambria Math"/>
                        </a:rPr>
                        <m:t>=</m:t>
                      </m:r>
                      <m:r>
                        <a:rPr lang="en-US" sz="2400" i="1">
                          <a:latin typeface="Cambria Math"/>
                        </a:rPr>
                        <m:t>𝑐</m:t>
                      </m:r>
                      <m:r>
                        <a:rPr lang="en-US" sz="2400" i="1">
                          <a:latin typeface="Cambria Math"/>
                        </a:rPr>
                        <m:t>+</m:t>
                      </m:r>
                      <m:sSub>
                        <m:sSubPr>
                          <m:ctrlPr>
                            <a:rPr lang="en-US" sz="2400" i="1">
                              <a:latin typeface="Cambria Math"/>
                            </a:rPr>
                          </m:ctrlPr>
                        </m:sSubPr>
                        <m:e>
                          <m:r>
                            <a:rPr lang="en-US" sz="2400" i="1">
                              <a:latin typeface="Cambria Math"/>
                            </a:rPr>
                            <m:t>𝜑</m:t>
                          </m:r>
                        </m:e>
                        <m:sub>
                          <m:r>
                            <a:rPr lang="en-US" sz="2400" i="1">
                              <a:latin typeface="Cambria Math"/>
                            </a:rPr>
                            <m:t>1</m:t>
                          </m:r>
                        </m:sub>
                      </m:sSub>
                      <m:sSub>
                        <m:sSubPr>
                          <m:ctrlPr>
                            <a:rPr lang="en-US" sz="2400" i="1">
                              <a:latin typeface="Cambria Math"/>
                            </a:rPr>
                          </m:ctrlPr>
                        </m:sSubPr>
                        <m:e>
                          <m:r>
                            <a:rPr lang="en-US" sz="2400" i="1">
                              <a:latin typeface="Cambria Math"/>
                            </a:rPr>
                            <m:t>𝑦</m:t>
                          </m:r>
                        </m:e>
                        <m:sub>
                          <m:r>
                            <a:rPr lang="en-US" sz="2400" i="1">
                              <a:latin typeface="Cambria Math"/>
                            </a:rPr>
                            <m:t>𝑡</m:t>
                          </m:r>
                          <m:r>
                            <a:rPr lang="en-US" sz="2400" i="1">
                              <a:latin typeface="Cambria Math"/>
                            </a:rPr>
                            <m:t>−1</m:t>
                          </m:r>
                        </m:sub>
                      </m:sSub>
                      <m:r>
                        <a:rPr lang="en-US" sz="2400" i="1">
                          <a:latin typeface="Cambria Math"/>
                        </a:rPr>
                        <m:t>+</m:t>
                      </m:r>
                      <m:sSub>
                        <m:sSubPr>
                          <m:ctrlPr>
                            <a:rPr lang="en-US" sz="2400" i="1">
                              <a:latin typeface="Cambria Math"/>
                            </a:rPr>
                          </m:ctrlPr>
                        </m:sSubPr>
                        <m:e>
                          <m:r>
                            <a:rPr lang="en-US" sz="2400" i="1">
                              <a:latin typeface="Cambria Math"/>
                            </a:rPr>
                            <m:t>𝜑</m:t>
                          </m:r>
                        </m:e>
                        <m:sub>
                          <m:r>
                            <a:rPr lang="en-US" sz="2400" i="1">
                              <a:latin typeface="Cambria Math"/>
                            </a:rPr>
                            <m:t>2</m:t>
                          </m:r>
                        </m:sub>
                      </m:sSub>
                      <m:sSub>
                        <m:sSubPr>
                          <m:ctrlPr>
                            <a:rPr lang="en-US" sz="2400" i="1">
                              <a:latin typeface="Cambria Math"/>
                            </a:rPr>
                          </m:ctrlPr>
                        </m:sSubPr>
                        <m:e>
                          <m:r>
                            <a:rPr lang="en-US" sz="2400" i="1">
                              <a:latin typeface="Cambria Math"/>
                            </a:rPr>
                            <m:t>𝑦</m:t>
                          </m:r>
                        </m:e>
                        <m:sub>
                          <m:r>
                            <a:rPr lang="en-US" sz="2400" i="1">
                              <a:latin typeface="Cambria Math"/>
                            </a:rPr>
                            <m:t>𝑡</m:t>
                          </m:r>
                          <m:r>
                            <a:rPr lang="en-US" sz="2400" i="1">
                              <a:latin typeface="Cambria Math"/>
                            </a:rPr>
                            <m:t>−2</m:t>
                          </m:r>
                        </m:sub>
                      </m:sSub>
                      <m:r>
                        <a:rPr lang="en-US" sz="2400" i="1">
                          <a:latin typeface="Cambria Math"/>
                        </a:rPr>
                        <m:t>+</m:t>
                      </m:r>
                      <m:sSub>
                        <m:sSubPr>
                          <m:ctrlPr>
                            <a:rPr lang="en-US" sz="2400" i="1">
                              <a:latin typeface="Cambria Math"/>
                            </a:rPr>
                          </m:ctrlPr>
                        </m:sSubPr>
                        <m:e>
                          <m:r>
                            <a:rPr lang="en-US" sz="2400" i="1">
                              <a:latin typeface="Cambria Math"/>
                            </a:rPr>
                            <m:t>𝜑</m:t>
                          </m:r>
                        </m:e>
                        <m:sub>
                          <m:r>
                            <a:rPr lang="en-US" sz="2400" i="1">
                              <a:latin typeface="Cambria Math"/>
                            </a:rPr>
                            <m:t>3</m:t>
                          </m:r>
                        </m:sub>
                      </m:sSub>
                      <m:sSub>
                        <m:sSubPr>
                          <m:ctrlPr>
                            <a:rPr lang="en-US" sz="2400" i="1">
                              <a:latin typeface="Cambria Math"/>
                            </a:rPr>
                          </m:ctrlPr>
                        </m:sSubPr>
                        <m:e>
                          <m:r>
                            <a:rPr lang="en-US" sz="2400" i="1">
                              <a:latin typeface="Cambria Math"/>
                            </a:rPr>
                            <m:t>𝑦</m:t>
                          </m:r>
                        </m:e>
                        <m:sub>
                          <m:r>
                            <a:rPr lang="en-US" sz="2400" i="1">
                              <a:latin typeface="Cambria Math"/>
                            </a:rPr>
                            <m:t>𝑡</m:t>
                          </m:r>
                          <m:r>
                            <a:rPr lang="en-US" sz="2400" i="1">
                              <a:latin typeface="Cambria Math"/>
                            </a:rPr>
                            <m:t>−3</m:t>
                          </m:r>
                        </m:sub>
                      </m:sSub>
                      <m:r>
                        <a:rPr lang="en-US" sz="2400" i="1">
                          <a:latin typeface="Cambria Math"/>
                        </a:rPr>
                        <m:t>+</m:t>
                      </m:r>
                      <m:sSub>
                        <m:sSubPr>
                          <m:ctrlPr>
                            <a:rPr lang="en-US" sz="2400" i="1">
                              <a:latin typeface="Cambria Math"/>
                            </a:rPr>
                          </m:ctrlPr>
                        </m:sSubPr>
                        <m:e>
                          <m:r>
                            <a:rPr lang="en-US" sz="2400" i="1">
                              <a:latin typeface="Cambria Math"/>
                            </a:rPr>
                            <m:t>𝜀</m:t>
                          </m:r>
                        </m:e>
                        <m:sub>
                          <m:r>
                            <a:rPr lang="en-US" sz="2400" i="1">
                              <a:latin typeface="Cambria Math"/>
                            </a:rPr>
                            <m:t>𝑡</m:t>
                          </m:r>
                        </m:sub>
                      </m:sSub>
                      <m:r>
                        <a:rPr lang="en-US" sz="2400" i="1">
                          <a:latin typeface="Cambria Math"/>
                        </a:rPr>
                        <m:t>+</m:t>
                      </m:r>
                      <m:sSub>
                        <m:sSubPr>
                          <m:ctrlPr>
                            <a:rPr lang="en-US" sz="2400" i="1">
                              <a:latin typeface="Cambria Math"/>
                            </a:rPr>
                          </m:ctrlPr>
                        </m:sSubPr>
                        <m:e>
                          <m:r>
                            <a:rPr lang="en-US" sz="2400" i="1">
                              <a:latin typeface="Cambria Math"/>
                            </a:rPr>
                            <m:t>𝜃</m:t>
                          </m:r>
                        </m:e>
                        <m:sub>
                          <m:r>
                            <a:rPr lang="en-US" sz="2400" i="1">
                              <a:latin typeface="Cambria Math"/>
                            </a:rPr>
                            <m:t>1</m:t>
                          </m:r>
                        </m:sub>
                      </m:sSub>
                      <m:sSub>
                        <m:sSubPr>
                          <m:ctrlPr>
                            <a:rPr lang="en-US" sz="2400" i="1">
                              <a:latin typeface="Cambria Math"/>
                            </a:rPr>
                          </m:ctrlPr>
                        </m:sSubPr>
                        <m:e>
                          <m:r>
                            <a:rPr lang="en-US" sz="2400" i="1">
                              <a:latin typeface="Cambria Math"/>
                            </a:rPr>
                            <m:t>𝜀</m:t>
                          </m:r>
                        </m:e>
                        <m:sub>
                          <m:r>
                            <a:rPr lang="en-US" sz="2400" i="1">
                              <a:latin typeface="Cambria Math"/>
                            </a:rPr>
                            <m:t>𝑡</m:t>
                          </m:r>
                          <m:r>
                            <a:rPr lang="en-US" sz="2400" i="1">
                              <a:latin typeface="Cambria Math"/>
                            </a:rPr>
                            <m:t>−1</m:t>
                          </m:r>
                        </m:sub>
                      </m:sSub>
                      <m:r>
                        <a:rPr lang="en-US" sz="2400" i="1">
                          <a:latin typeface="Cambria Math"/>
                        </a:rPr>
                        <m:t>+</m:t>
                      </m:r>
                      <m:sSub>
                        <m:sSubPr>
                          <m:ctrlPr>
                            <a:rPr lang="en-US" sz="2400" i="1">
                              <a:latin typeface="Cambria Math"/>
                            </a:rPr>
                          </m:ctrlPr>
                        </m:sSubPr>
                        <m:e>
                          <m:r>
                            <a:rPr lang="en-US" sz="2400" i="1">
                              <a:latin typeface="Cambria Math"/>
                            </a:rPr>
                            <m:t>𝜃</m:t>
                          </m:r>
                        </m:e>
                        <m:sub>
                          <m:r>
                            <a:rPr lang="en-US" sz="2400" i="1">
                              <a:latin typeface="Cambria Math"/>
                            </a:rPr>
                            <m:t>2</m:t>
                          </m:r>
                        </m:sub>
                      </m:sSub>
                      <m:sSub>
                        <m:sSubPr>
                          <m:ctrlPr>
                            <a:rPr lang="en-US" sz="2400" i="1">
                              <a:latin typeface="Cambria Math"/>
                            </a:rPr>
                          </m:ctrlPr>
                        </m:sSubPr>
                        <m:e>
                          <m:r>
                            <a:rPr lang="en-US" sz="2400" i="1">
                              <a:latin typeface="Cambria Math"/>
                            </a:rPr>
                            <m:t>𝜀</m:t>
                          </m:r>
                        </m:e>
                        <m:sub>
                          <m:r>
                            <a:rPr lang="en-US" sz="2400" i="1">
                              <a:latin typeface="Cambria Math"/>
                            </a:rPr>
                            <m:t>𝑡</m:t>
                          </m:r>
                          <m:r>
                            <a:rPr lang="en-US" sz="2400" i="1">
                              <a:latin typeface="Cambria Math"/>
                            </a:rPr>
                            <m:t>−2</m:t>
                          </m:r>
                        </m:sub>
                      </m:sSub>
                    </m:oMath>
                  </m:oMathPara>
                </a14:m>
                <a:endParaRPr lang="en-US" sz="240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556" t="-1795"/>
                </a:stretch>
              </a:blipFill>
            </p:spPr>
            <p:txBody>
              <a:bodyPr/>
              <a:lstStyle/>
              <a:p>
                <a:r>
                  <a:rPr lang="en-US">
                    <a:noFill/>
                  </a:rPr>
                  <a:t> </a:t>
                </a:r>
              </a:p>
            </p:txBody>
          </p:sp>
        </mc:Fallback>
      </mc:AlternateContent>
    </p:spTree>
    <p:extLst>
      <p:ext uri="{BB962C8B-B14F-4D97-AF65-F5344CB8AC3E}">
        <p14:creationId xmlns:p14="http://schemas.microsoft.com/office/powerpoint/2010/main" val="25995227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a:noAutofit/>
          </a:bodyPr>
          <a:lstStyle/>
          <a:p>
            <a:r>
              <a:rPr lang="en-US" sz="4200" b="1" smtClean="0">
                <a:ln>
                  <a:solidFill>
                    <a:schemeClr val="tx1">
                      <a:alpha val="70000"/>
                    </a:schemeClr>
                  </a:solidFill>
                </a:ln>
                <a:solidFill>
                  <a:srgbClr val="FF0000"/>
                </a:solidFill>
                <a:effectLst>
                  <a:outerShdw blurRad="50800" dist="38100" dir="2700000" algn="tl" rotWithShape="0">
                    <a:prstClr val="black">
                      <a:alpha val="23000"/>
                    </a:prstClr>
                  </a:outerShdw>
                </a:effectLst>
              </a:rPr>
              <a:t>The ARIMA Process</a:t>
            </a:r>
            <a:endParaRPr lang="en-US" sz="4200" b="1">
              <a:ln>
                <a:solidFill>
                  <a:schemeClr val="tx1">
                    <a:alpha val="70000"/>
                  </a:schemeClr>
                </a:solidFill>
              </a:ln>
              <a:solidFill>
                <a:srgbClr val="FF0000"/>
              </a:solidFill>
              <a:effectLst>
                <a:outerShdw blurRad="50800" dist="38100" dir="2700000" algn="tl" rotWithShape="0">
                  <a:prstClr val="black">
                    <a:alpha val="23000"/>
                  </a:prstClr>
                </a:outerShdw>
              </a:effectLst>
            </a:endParaRPr>
          </a:p>
        </p:txBody>
      </p:sp>
    </p:spTree>
    <p:extLst>
      <p:ext uri="{BB962C8B-B14F-4D97-AF65-F5344CB8AC3E}">
        <p14:creationId xmlns:p14="http://schemas.microsoft.com/office/powerpoint/2010/main" val="92014434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ARIMA process</a:t>
            </a:r>
            <a:endParaRPr lang="en-US"/>
          </a:p>
        </p:txBody>
      </p:sp>
      <p:sp>
        <p:nvSpPr>
          <p:cNvPr id="3" name="Content Placeholder 2"/>
          <p:cNvSpPr>
            <a:spLocks noGrp="1"/>
          </p:cNvSpPr>
          <p:nvPr>
            <p:ph idx="1"/>
          </p:nvPr>
        </p:nvSpPr>
        <p:spPr/>
        <p:txBody>
          <a:bodyPr>
            <a:normAutofit/>
          </a:bodyPr>
          <a:lstStyle/>
          <a:p>
            <a:pPr marL="0" indent="0">
              <a:buNone/>
            </a:pPr>
            <a:r>
              <a:rPr lang="en-US" sz="3500"/>
              <a:t>T</a:t>
            </a:r>
            <a:r>
              <a:rPr lang="en-US" sz="3500" smtClean="0"/>
              <a:t>he autoregressive (AR) </a:t>
            </a:r>
            <a:r>
              <a:rPr lang="en-US" sz="3500"/>
              <a:t>and moving average </a:t>
            </a:r>
            <a:r>
              <a:rPr lang="en-US" sz="3500" smtClean="0"/>
              <a:t>(MA) models have </a:t>
            </a:r>
            <a:r>
              <a:rPr lang="en-US" sz="3500"/>
              <a:t>a strict limitation: they cannot handle non-stationary series.</a:t>
            </a:r>
            <a:endParaRPr lang="en-US" sz="3500" smtClean="0"/>
          </a:p>
        </p:txBody>
      </p:sp>
    </p:spTree>
    <p:extLst>
      <p:ext uri="{BB962C8B-B14F-4D97-AF65-F5344CB8AC3E}">
        <p14:creationId xmlns:p14="http://schemas.microsoft.com/office/powerpoint/2010/main" val="25840571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ARIMA process</a:t>
            </a:r>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US" sz="3600"/>
              <a:t>If our time series is non-stationary, we have to add a so-called </a:t>
            </a:r>
            <a:r>
              <a:rPr lang="en-US" sz="3600" i="1"/>
              <a:t>integrated process</a:t>
            </a:r>
            <a:r>
              <a:rPr lang="en-US" sz="3600"/>
              <a:t> to our ARMA model. </a:t>
            </a:r>
            <a:endParaRPr lang="en-US" sz="3600" smtClean="0"/>
          </a:p>
          <a:p>
            <a:pPr marL="0" indent="0">
              <a:buNone/>
            </a:pPr>
            <a:endParaRPr lang="en-US" sz="3600"/>
          </a:p>
          <a:p>
            <a:pPr marL="0" indent="0">
              <a:buNone/>
            </a:pPr>
            <a:r>
              <a:rPr lang="en-US" sz="3600" smtClean="0"/>
              <a:t>This </a:t>
            </a:r>
            <a:r>
              <a:rPr lang="en-US" sz="3600"/>
              <a:t>process is nothing but differencing the series with its lagged </a:t>
            </a:r>
            <a:r>
              <a:rPr lang="en-US" sz="3600" smtClean="0"/>
              <a:t>variables. </a:t>
            </a:r>
            <a:r>
              <a:rPr lang="en-US" sz="3600"/>
              <a:t>What we get is an ARIMA model, which stands for </a:t>
            </a:r>
            <a:r>
              <a:rPr lang="en-US" sz="3600" b="1"/>
              <a:t>A</a:t>
            </a:r>
            <a:r>
              <a:rPr lang="en-US" sz="3600"/>
              <a:t>uto</a:t>
            </a:r>
            <a:r>
              <a:rPr lang="en-US" sz="3600" b="1"/>
              <a:t>R</a:t>
            </a:r>
            <a:r>
              <a:rPr lang="en-US" sz="3600"/>
              <a:t>egressive </a:t>
            </a:r>
            <a:r>
              <a:rPr lang="en-US" sz="3600" b="1"/>
              <a:t>I</a:t>
            </a:r>
            <a:r>
              <a:rPr lang="en-US" sz="3600"/>
              <a:t>ntegrated </a:t>
            </a:r>
            <a:r>
              <a:rPr lang="en-US" sz="3600" b="1"/>
              <a:t>M</a:t>
            </a:r>
            <a:r>
              <a:rPr lang="en-US" sz="3600"/>
              <a:t>oving </a:t>
            </a:r>
            <a:r>
              <a:rPr lang="en-US" sz="3600" b="1"/>
              <a:t>A</a:t>
            </a:r>
            <a:r>
              <a:rPr lang="en-US" sz="3600"/>
              <a:t>verage.</a:t>
            </a:r>
            <a:endParaRPr lang="en-US" sz="3500" smtClean="0"/>
          </a:p>
        </p:txBody>
      </p:sp>
    </p:spTree>
    <p:extLst>
      <p:ext uri="{BB962C8B-B14F-4D97-AF65-F5344CB8AC3E}">
        <p14:creationId xmlns:p14="http://schemas.microsoft.com/office/powerpoint/2010/main" val="17099358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ARIMA process</a:t>
            </a:r>
            <a:endParaRPr lang="en-US"/>
          </a:p>
        </p:txBody>
      </p:sp>
      <p:sp>
        <p:nvSpPr>
          <p:cNvPr id="3" name="Content Placeholder 2"/>
          <p:cNvSpPr>
            <a:spLocks noGrp="1"/>
          </p:cNvSpPr>
          <p:nvPr>
            <p:ph idx="1"/>
          </p:nvPr>
        </p:nvSpPr>
        <p:spPr/>
        <p:txBody>
          <a:bodyPr>
            <a:normAutofit lnSpcReduction="10000"/>
          </a:bodyPr>
          <a:lstStyle/>
          <a:p>
            <a:pPr marL="0" indent="0">
              <a:buNone/>
            </a:pPr>
            <a:r>
              <a:rPr lang="en-US"/>
              <a:t>An ARIMA model has 3 parameters:</a:t>
            </a:r>
          </a:p>
          <a:p>
            <a:pPr marL="0" indent="0">
              <a:buNone/>
            </a:pPr>
            <a:endParaRPr lang="en-US"/>
          </a:p>
          <a:p>
            <a:pPr lvl="0">
              <a:buFont typeface="Wingdings" panose="05000000000000000000" pitchFamily="2" charset="2"/>
              <a:buChar char="Ø"/>
            </a:pPr>
            <a:r>
              <a:rPr lang="en-US" smtClean="0"/>
              <a:t> </a:t>
            </a:r>
            <a:r>
              <a:rPr lang="en-US" i="1" smtClean="0"/>
              <a:t>p</a:t>
            </a:r>
            <a:r>
              <a:rPr lang="en-US" smtClean="0"/>
              <a:t> </a:t>
            </a:r>
            <a:r>
              <a:rPr lang="en-US"/>
              <a:t>– the number of lags used in the AR model</a:t>
            </a:r>
          </a:p>
          <a:p>
            <a:pPr lvl="0">
              <a:buFont typeface="Wingdings" panose="05000000000000000000" pitchFamily="2" charset="2"/>
              <a:buChar char="Ø"/>
            </a:pPr>
            <a:r>
              <a:rPr lang="en-US" smtClean="0"/>
              <a:t> </a:t>
            </a:r>
            <a:r>
              <a:rPr lang="en-US" i="1" smtClean="0"/>
              <a:t>d</a:t>
            </a:r>
            <a:r>
              <a:rPr lang="en-US" smtClean="0"/>
              <a:t> </a:t>
            </a:r>
            <a:r>
              <a:rPr lang="en-US"/>
              <a:t>– the degree of integration (differencing)</a:t>
            </a:r>
          </a:p>
          <a:p>
            <a:pPr lvl="0">
              <a:buFont typeface="Wingdings" panose="05000000000000000000" pitchFamily="2" charset="2"/>
              <a:buChar char="Ø"/>
            </a:pPr>
            <a:r>
              <a:rPr lang="en-US" smtClean="0"/>
              <a:t> </a:t>
            </a:r>
            <a:r>
              <a:rPr lang="en-US" i="1" smtClean="0"/>
              <a:t>q</a:t>
            </a:r>
            <a:r>
              <a:rPr lang="en-US" smtClean="0"/>
              <a:t> </a:t>
            </a:r>
            <a:r>
              <a:rPr lang="en-US"/>
              <a:t>– the number of error terms that appear in the MA </a:t>
            </a:r>
            <a:r>
              <a:rPr lang="en-US" smtClean="0"/>
              <a:t>model</a:t>
            </a:r>
            <a:endParaRPr lang="en-US"/>
          </a:p>
        </p:txBody>
      </p:sp>
    </p:spTree>
    <p:extLst>
      <p:ext uri="{BB962C8B-B14F-4D97-AF65-F5344CB8AC3E}">
        <p14:creationId xmlns:p14="http://schemas.microsoft.com/office/powerpoint/2010/main" val="28906798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ARIMA process</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pPr marL="0" indent="0">
                  <a:buNone/>
                </a:pPr>
                <a:r>
                  <a:rPr lang="en-US"/>
                  <a:t>F</a:t>
                </a:r>
                <a:r>
                  <a:rPr lang="en-US" smtClean="0"/>
                  <a:t>irst </a:t>
                </a:r>
                <a:r>
                  <a:rPr lang="en-US"/>
                  <a:t>degree </a:t>
                </a:r>
                <a:r>
                  <a:rPr lang="en-US" smtClean="0"/>
                  <a:t>differencing:</a:t>
                </a:r>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a:rPr>
                          </m:ctrlPr>
                        </m:sSubSupPr>
                        <m:e>
                          <m:r>
                            <a:rPr lang="en-US" i="1">
                              <a:latin typeface="Cambria Math"/>
                            </a:rPr>
                            <m:t>𝑦</m:t>
                          </m:r>
                        </m:e>
                        <m:sub>
                          <m:r>
                            <a:rPr lang="en-US" i="1">
                              <a:latin typeface="Cambria Math"/>
                            </a:rPr>
                            <m:t>𝑡</m:t>
                          </m:r>
                        </m:sub>
                        <m:sup>
                          <m:r>
                            <a:rPr lang="en-US" i="1">
                              <a:latin typeface="Cambria Math"/>
                            </a:rPr>
                            <m:t>′</m:t>
                          </m:r>
                        </m:sup>
                      </m:sSubSup>
                      <m:r>
                        <a:rPr lang="en-US" i="1">
                          <a:latin typeface="Cambria Math"/>
                        </a:rPr>
                        <m:t>=</m:t>
                      </m:r>
                      <m:sSub>
                        <m:sSubPr>
                          <m:ctrlPr>
                            <a:rPr lang="en-US" i="1">
                              <a:latin typeface="Cambria Math"/>
                            </a:rPr>
                          </m:ctrlPr>
                        </m:sSubPr>
                        <m:e>
                          <m:r>
                            <a:rPr lang="en-US" i="1">
                              <a:latin typeface="Cambria Math"/>
                            </a:rPr>
                            <m:t>𝑦</m:t>
                          </m:r>
                        </m:e>
                        <m:sub>
                          <m:r>
                            <a:rPr lang="en-US" i="1">
                              <a:latin typeface="Cambria Math"/>
                            </a:rPr>
                            <m:t>𝑡</m:t>
                          </m:r>
                        </m:sub>
                      </m:sSub>
                      <m:r>
                        <a:rPr lang="en-US" i="1">
                          <a:latin typeface="Cambria Math"/>
                        </a:rPr>
                        <m:t>−</m:t>
                      </m:r>
                      <m:sSub>
                        <m:sSubPr>
                          <m:ctrlPr>
                            <a:rPr lang="en-US" i="1">
                              <a:latin typeface="Cambria Math"/>
                            </a:rPr>
                          </m:ctrlPr>
                        </m:sSubPr>
                        <m:e>
                          <m:r>
                            <a:rPr lang="en-US" i="1">
                              <a:latin typeface="Cambria Math"/>
                            </a:rPr>
                            <m:t>𝑦</m:t>
                          </m:r>
                        </m:e>
                        <m:sub>
                          <m:r>
                            <a:rPr lang="en-US" i="1">
                              <a:latin typeface="Cambria Math"/>
                            </a:rPr>
                            <m:t>𝑡</m:t>
                          </m:r>
                          <m:r>
                            <a:rPr lang="en-US" i="1">
                              <a:latin typeface="Cambria Math"/>
                            </a:rPr>
                            <m:t>−1</m:t>
                          </m:r>
                        </m:sub>
                      </m:sSub>
                    </m:oMath>
                  </m:oMathPara>
                </a14:m>
                <a:endParaRPr lang="en-US"/>
              </a:p>
              <a:p>
                <a:pPr marL="0" indent="0">
                  <a:buNone/>
                </a:pPr>
                <a:endParaRPr lang="en-US"/>
              </a:p>
              <a:p>
                <a:pPr marL="0" indent="0">
                  <a:buNone/>
                </a:pPr>
                <a:r>
                  <a:rPr lang="en-US"/>
                  <a:t>S</a:t>
                </a:r>
                <a:r>
                  <a:rPr lang="en-US" smtClean="0"/>
                  <a:t>econd </a:t>
                </a:r>
                <a:r>
                  <a:rPr lang="en-US"/>
                  <a:t>degree </a:t>
                </a:r>
                <a:r>
                  <a:rPr lang="en-US" smtClean="0"/>
                  <a:t>differencing:</a:t>
                </a:r>
                <a:endParaRPr lang="en-US"/>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a:rPr>
                          </m:ctrlPr>
                        </m:sSubSupPr>
                        <m:e>
                          <m:r>
                            <a:rPr lang="en-US" i="1">
                              <a:latin typeface="Cambria Math"/>
                            </a:rPr>
                            <m:t>𝑦</m:t>
                          </m:r>
                        </m:e>
                        <m:sub>
                          <m:r>
                            <a:rPr lang="en-US" i="1">
                              <a:latin typeface="Cambria Math"/>
                            </a:rPr>
                            <m:t>𝑡</m:t>
                          </m:r>
                        </m:sub>
                        <m:sup>
                          <m:r>
                            <a:rPr lang="en-US" i="1">
                              <a:latin typeface="Cambria Math"/>
                            </a:rPr>
                            <m:t>′′</m:t>
                          </m:r>
                        </m:sup>
                      </m:sSubSup>
                      <m:r>
                        <a:rPr lang="en-US" i="1">
                          <a:latin typeface="Cambria Math"/>
                        </a:rPr>
                        <m:t>=</m:t>
                      </m:r>
                      <m:sSubSup>
                        <m:sSubSupPr>
                          <m:ctrlPr>
                            <a:rPr lang="en-US" i="1">
                              <a:latin typeface="Cambria Math"/>
                            </a:rPr>
                          </m:ctrlPr>
                        </m:sSubSupPr>
                        <m:e>
                          <m:r>
                            <a:rPr lang="en-US" i="1">
                              <a:latin typeface="Cambria Math"/>
                            </a:rPr>
                            <m:t>𝑦</m:t>
                          </m:r>
                        </m:e>
                        <m:sub>
                          <m:r>
                            <a:rPr lang="en-US" i="1">
                              <a:latin typeface="Cambria Math"/>
                            </a:rPr>
                            <m:t>𝑡</m:t>
                          </m:r>
                        </m:sub>
                        <m:sup>
                          <m:r>
                            <a:rPr lang="en-US" i="1">
                              <a:latin typeface="Cambria Math"/>
                            </a:rPr>
                            <m:t>′</m:t>
                          </m:r>
                        </m:sup>
                      </m:sSubSup>
                      <m:r>
                        <a:rPr lang="en-US" i="1">
                          <a:latin typeface="Cambria Math"/>
                        </a:rPr>
                        <m:t>−</m:t>
                      </m:r>
                      <m:sSubSup>
                        <m:sSubSupPr>
                          <m:ctrlPr>
                            <a:rPr lang="en-US" i="1">
                              <a:latin typeface="Cambria Math"/>
                            </a:rPr>
                          </m:ctrlPr>
                        </m:sSubSupPr>
                        <m:e>
                          <m:r>
                            <a:rPr lang="en-US" i="1">
                              <a:latin typeface="Cambria Math"/>
                            </a:rPr>
                            <m:t>𝑦</m:t>
                          </m:r>
                        </m:e>
                        <m:sub>
                          <m:r>
                            <a:rPr lang="en-US" i="1">
                              <a:latin typeface="Cambria Math"/>
                            </a:rPr>
                            <m:t>𝑡</m:t>
                          </m:r>
                          <m:r>
                            <a:rPr lang="en-US" i="1">
                              <a:latin typeface="Cambria Math"/>
                            </a:rPr>
                            <m:t>−1</m:t>
                          </m:r>
                        </m:sub>
                        <m:sup>
                          <m:r>
                            <a:rPr lang="en-US" i="1">
                              <a:latin typeface="Cambria Math"/>
                            </a:rPr>
                            <m:t>′</m:t>
                          </m:r>
                        </m:sup>
                      </m:sSubSup>
                      <m:r>
                        <a:rPr lang="en-US" i="1">
                          <a:latin typeface="Cambria Math"/>
                        </a:rPr>
                        <m:t>=</m:t>
                      </m:r>
                      <m:d>
                        <m:dPr>
                          <m:ctrlPr>
                            <a:rPr lang="en-US" i="1">
                              <a:latin typeface="Cambria Math"/>
                            </a:rPr>
                          </m:ctrlPr>
                        </m:dPr>
                        <m:e>
                          <m:sSub>
                            <m:sSubPr>
                              <m:ctrlPr>
                                <a:rPr lang="en-US" i="1">
                                  <a:latin typeface="Cambria Math"/>
                                </a:rPr>
                              </m:ctrlPr>
                            </m:sSubPr>
                            <m:e>
                              <m:r>
                                <a:rPr lang="en-US" i="1">
                                  <a:latin typeface="Cambria Math"/>
                                </a:rPr>
                                <m:t>𝑦</m:t>
                              </m:r>
                            </m:e>
                            <m:sub>
                              <m:r>
                                <a:rPr lang="en-US" i="1">
                                  <a:latin typeface="Cambria Math"/>
                                </a:rPr>
                                <m:t>𝑡</m:t>
                              </m:r>
                            </m:sub>
                          </m:sSub>
                          <m:r>
                            <a:rPr lang="en-US" i="1">
                              <a:latin typeface="Cambria Math"/>
                            </a:rPr>
                            <m:t>−</m:t>
                          </m:r>
                          <m:sSub>
                            <m:sSubPr>
                              <m:ctrlPr>
                                <a:rPr lang="en-US" i="1">
                                  <a:latin typeface="Cambria Math"/>
                                </a:rPr>
                              </m:ctrlPr>
                            </m:sSubPr>
                            <m:e>
                              <m:r>
                                <a:rPr lang="en-US" i="1">
                                  <a:latin typeface="Cambria Math"/>
                                </a:rPr>
                                <m:t>𝑦</m:t>
                              </m:r>
                            </m:e>
                            <m:sub>
                              <m:r>
                                <a:rPr lang="en-US" i="1">
                                  <a:latin typeface="Cambria Math"/>
                                </a:rPr>
                                <m:t>𝑡</m:t>
                              </m:r>
                              <m:r>
                                <a:rPr lang="en-US" i="1">
                                  <a:latin typeface="Cambria Math"/>
                                </a:rPr>
                                <m:t>−1</m:t>
                              </m:r>
                            </m:sub>
                          </m:sSub>
                        </m:e>
                      </m:d>
                      <m:r>
                        <a:rPr lang="en-US" i="1">
                          <a:latin typeface="Cambria Math"/>
                        </a:rPr>
                        <m:t>−</m:t>
                      </m:r>
                      <m:d>
                        <m:dPr>
                          <m:ctrlPr>
                            <a:rPr lang="en-US" i="1">
                              <a:latin typeface="Cambria Math"/>
                            </a:rPr>
                          </m:ctrlPr>
                        </m:dPr>
                        <m:e>
                          <m:sSub>
                            <m:sSubPr>
                              <m:ctrlPr>
                                <a:rPr lang="en-US" i="1">
                                  <a:latin typeface="Cambria Math"/>
                                </a:rPr>
                              </m:ctrlPr>
                            </m:sSubPr>
                            <m:e>
                              <m:r>
                                <a:rPr lang="en-US" i="1">
                                  <a:latin typeface="Cambria Math"/>
                                </a:rPr>
                                <m:t>𝑦</m:t>
                              </m:r>
                            </m:e>
                            <m:sub>
                              <m:r>
                                <a:rPr lang="en-US" i="1">
                                  <a:latin typeface="Cambria Math"/>
                                </a:rPr>
                                <m:t>𝑡</m:t>
                              </m:r>
                              <m:r>
                                <a:rPr lang="en-US" i="1">
                                  <a:latin typeface="Cambria Math"/>
                                </a:rPr>
                                <m:t>−1</m:t>
                              </m:r>
                            </m:sub>
                          </m:sSub>
                          <m:r>
                            <a:rPr lang="en-US" i="1">
                              <a:latin typeface="Cambria Math"/>
                            </a:rPr>
                            <m:t>−</m:t>
                          </m:r>
                          <m:sSub>
                            <m:sSubPr>
                              <m:ctrlPr>
                                <a:rPr lang="en-US" i="1">
                                  <a:latin typeface="Cambria Math"/>
                                </a:rPr>
                              </m:ctrlPr>
                            </m:sSubPr>
                            <m:e>
                              <m:r>
                                <a:rPr lang="en-US" i="1">
                                  <a:latin typeface="Cambria Math"/>
                                </a:rPr>
                                <m:t>𝑦</m:t>
                              </m:r>
                            </m:e>
                            <m:sub>
                              <m:r>
                                <a:rPr lang="en-US" i="1">
                                  <a:latin typeface="Cambria Math"/>
                                </a:rPr>
                                <m:t>𝑡</m:t>
                              </m:r>
                              <m:r>
                                <a:rPr lang="en-US" i="1">
                                  <a:latin typeface="Cambria Math"/>
                                </a:rPr>
                                <m:t>−2</m:t>
                              </m:r>
                            </m:sub>
                          </m:sSub>
                        </m:e>
                      </m:d>
                      <m:r>
                        <a:rPr lang="en-US" i="1">
                          <a:latin typeface="Cambria Math"/>
                        </a:rPr>
                        <m:t>= </m:t>
                      </m:r>
                      <m:sSub>
                        <m:sSubPr>
                          <m:ctrlPr>
                            <a:rPr lang="en-US" i="1">
                              <a:latin typeface="Cambria Math"/>
                            </a:rPr>
                          </m:ctrlPr>
                        </m:sSubPr>
                        <m:e>
                          <m:r>
                            <a:rPr lang="en-US" i="1">
                              <a:latin typeface="Cambria Math"/>
                            </a:rPr>
                            <m:t>𝑦</m:t>
                          </m:r>
                        </m:e>
                        <m:sub>
                          <m:r>
                            <a:rPr lang="en-US" i="1">
                              <a:latin typeface="Cambria Math"/>
                            </a:rPr>
                            <m:t>𝑡</m:t>
                          </m:r>
                        </m:sub>
                      </m:sSub>
                      <m:r>
                        <a:rPr lang="en-US" i="1">
                          <a:latin typeface="Cambria Math"/>
                        </a:rPr>
                        <m:t>−2</m:t>
                      </m:r>
                      <m:sSub>
                        <m:sSubPr>
                          <m:ctrlPr>
                            <a:rPr lang="en-US" i="1">
                              <a:latin typeface="Cambria Math"/>
                            </a:rPr>
                          </m:ctrlPr>
                        </m:sSubPr>
                        <m:e>
                          <m:r>
                            <a:rPr lang="en-US" i="1">
                              <a:latin typeface="Cambria Math"/>
                            </a:rPr>
                            <m:t>𝑦</m:t>
                          </m:r>
                        </m:e>
                        <m:sub>
                          <m:r>
                            <a:rPr lang="en-US" i="1">
                              <a:latin typeface="Cambria Math"/>
                            </a:rPr>
                            <m:t>𝑡</m:t>
                          </m:r>
                          <m:r>
                            <a:rPr lang="en-US" i="1">
                              <a:latin typeface="Cambria Math"/>
                            </a:rPr>
                            <m:t>−1</m:t>
                          </m:r>
                        </m:sub>
                      </m:sSub>
                      <m:r>
                        <a:rPr lang="en-US" i="1">
                          <a:latin typeface="Cambria Math"/>
                        </a:rPr>
                        <m:t>+</m:t>
                      </m:r>
                      <m:sSub>
                        <m:sSubPr>
                          <m:ctrlPr>
                            <a:rPr lang="en-US" i="1">
                              <a:latin typeface="Cambria Math"/>
                            </a:rPr>
                          </m:ctrlPr>
                        </m:sSubPr>
                        <m:e>
                          <m:r>
                            <a:rPr lang="en-US" i="1">
                              <a:latin typeface="Cambria Math"/>
                            </a:rPr>
                            <m:t>𝑦</m:t>
                          </m:r>
                        </m:e>
                        <m:sub>
                          <m:r>
                            <a:rPr lang="en-US" i="1">
                              <a:latin typeface="Cambria Math"/>
                            </a:rPr>
                            <m:t>𝑡</m:t>
                          </m:r>
                          <m:r>
                            <a:rPr lang="en-US" i="1">
                              <a:latin typeface="Cambria Math"/>
                            </a:rPr>
                            <m:t>−2</m:t>
                          </m:r>
                        </m:sub>
                      </m:sSub>
                    </m:oMath>
                  </m:oMathPara>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85" t="-3232"/>
                </a:stretch>
              </a:blipFill>
            </p:spPr>
            <p:txBody>
              <a:bodyPr/>
              <a:lstStyle/>
              <a:p>
                <a:r>
                  <a:rPr lang="en-US">
                    <a:noFill/>
                  </a:rPr>
                  <a:t> </a:t>
                </a:r>
              </a:p>
            </p:txBody>
          </p:sp>
        </mc:Fallback>
      </mc:AlternateContent>
    </p:spTree>
    <p:extLst>
      <p:ext uri="{BB962C8B-B14F-4D97-AF65-F5344CB8AC3E}">
        <p14:creationId xmlns:p14="http://schemas.microsoft.com/office/powerpoint/2010/main" val="22693213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ARIMA process</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i="1" smtClean="0"/>
                  <a:t>d</a:t>
                </a:r>
                <a:r>
                  <a:rPr lang="en-US" smtClean="0"/>
                  <a:t>-degree differencing:</a:t>
                </a:r>
              </a:p>
              <a:p>
                <a:pPr marL="0" indent="0">
                  <a:buNone/>
                </a:pPr>
                <a:r>
                  <a:rPr lang="en-US"/>
                  <a:t> </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a:rPr>
                            <m:t>𝑦</m:t>
                          </m:r>
                        </m:e>
                        <m:sub>
                          <m:r>
                            <a:rPr lang="en-US" i="1">
                              <a:latin typeface="Cambria Math"/>
                            </a:rPr>
                            <m:t>𝑑</m:t>
                          </m:r>
                        </m:sub>
                      </m:sSub>
                      <m:r>
                        <a:rPr lang="en-US" i="1">
                          <a:latin typeface="Cambria Math"/>
                        </a:rPr>
                        <m:t>=</m:t>
                      </m:r>
                      <m:d>
                        <m:dPr>
                          <m:ctrlPr>
                            <a:rPr lang="en-US" i="1">
                              <a:latin typeface="Cambria Math"/>
                            </a:rPr>
                          </m:ctrlPr>
                        </m:dPr>
                        <m:e>
                          <m:sSub>
                            <m:sSubPr>
                              <m:ctrlPr>
                                <a:rPr lang="en-US" i="1">
                                  <a:latin typeface="Cambria Math"/>
                                </a:rPr>
                              </m:ctrlPr>
                            </m:sSubPr>
                            <m:e>
                              <m:r>
                                <a:rPr lang="en-US" i="1">
                                  <a:latin typeface="Cambria Math"/>
                                </a:rPr>
                                <m:t>𝑦</m:t>
                              </m:r>
                            </m:e>
                            <m:sub>
                              <m:r>
                                <a:rPr lang="en-US" i="1">
                                  <a:latin typeface="Cambria Math"/>
                                </a:rPr>
                                <m:t>𝑡</m:t>
                              </m:r>
                            </m:sub>
                          </m:sSub>
                          <m:r>
                            <a:rPr lang="en-US" i="1">
                              <a:latin typeface="Cambria Math"/>
                            </a:rPr>
                            <m:t>−</m:t>
                          </m:r>
                          <m:sSub>
                            <m:sSubPr>
                              <m:ctrlPr>
                                <a:rPr lang="en-US" i="1">
                                  <a:latin typeface="Cambria Math"/>
                                </a:rPr>
                              </m:ctrlPr>
                            </m:sSubPr>
                            <m:e>
                              <m:r>
                                <a:rPr lang="en-US" i="1">
                                  <a:latin typeface="Cambria Math"/>
                                </a:rPr>
                                <m:t>𝑦</m:t>
                              </m:r>
                            </m:e>
                            <m:sub>
                              <m:r>
                                <a:rPr lang="en-US" i="1">
                                  <a:latin typeface="Cambria Math"/>
                                </a:rPr>
                                <m:t>𝑡</m:t>
                              </m:r>
                              <m:r>
                                <a:rPr lang="en-US" i="1">
                                  <a:latin typeface="Cambria Math"/>
                                </a:rPr>
                                <m:t>−1</m:t>
                              </m:r>
                            </m:sub>
                          </m:sSub>
                        </m:e>
                      </m:d>
                      <m:r>
                        <a:rPr lang="en-US" i="1">
                          <a:latin typeface="Cambria Math"/>
                        </a:rPr>
                        <m:t>−…−(</m:t>
                      </m:r>
                      <m:sSub>
                        <m:sSubPr>
                          <m:ctrlPr>
                            <a:rPr lang="en-US" i="1">
                              <a:latin typeface="Cambria Math"/>
                            </a:rPr>
                          </m:ctrlPr>
                        </m:sSubPr>
                        <m:e>
                          <m:r>
                            <a:rPr lang="en-US" i="1">
                              <a:latin typeface="Cambria Math"/>
                            </a:rPr>
                            <m:t>𝑦</m:t>
                          </m:r>
                        </m:e>
                        <m:sub>
                          <m:r>
                            <a:rPr lang="en-US" i="1">
                              <a:latin typeface="Cambria Math"/>
                            </a:rPr>
                            <m:t>𝑡</m:t>
                          </m:r>
                          <m:r>
                            <a:rPr lang="en-US" i="1">
                              <a:latin typeface="Cambria Math"/>
                            </a:rPr>
                            <m:t>−</m:t>
                          </m:r>
                          <m:r>
                            <a:rPr lang="en-US" i="1">
                              <a:latin typeface="Cambria Math"/>
                            </a:rPr>
                            <m:t>𝑑</m:t>
                          </m:r>
                        </m:sub>
                      </m:sSub>
                      <m:r>
                        <a:rPr lang="en-US" i="1">
                          <a:latin typeface="Cambria Math"/>
                        </a:rPr>
                        <m:t>−</m:t>
                      </m:r>
                      <m:sSub>
                        <m:sSubPr>
                          <m:ctrlPr>
                            <a:rPr lang="en-US" i="1">
                              <a:latin typeface="Cambria Math"/>
                            </a:rPr>
                          </m:ctrlPr>
                        </m:sSubPr>
                        <m:e>
                          <m:r>
                            <a:rPr lang="en-US" i="1">
                              <a:latin typeface="Cambria Math"/>
                            </a:rPr>
                            <m:t>𝑦</m:t>
                          </m:r>
                        </m:e>
                        <m:sub>
                          <m:r>
                            <a:rPr lang="en-US" i="1">
                              <a:latin typeface="Cambria Math"/>
                            </a:rPr>
                            <m:t>𝑡</m:t>
                          </m:r>
                          <m:r>
                            <a:rPr lang="en-US" i="1">
                              <a:latin typeface="Cambria Math"/>
                            </a:rPr>
                            <m:t>−</m:t>
                          </m:r>
                          <m:r>
                            <a:rPr lang="en-US" i="1">
                              <a:latin typeface="Cambria Math"/>
                            </a:rPr>
                            <m:t>𝑑</m:t>
                          </m:r>
                          <m:r>
                            <a:rPr lang="en-US" b="0" i="1" smtClean="0">
                              <a:latin typeface="Cambria Math"/>
                            </a:rPr>
                            <m:t>−1</m:t>
                          </m:r>
                        </m:sub>
                      </m:sSub>
                      <m:r>
                        <a:rPr lang="en-US" i="1">
                          <a:latin typeface="Cambria Math"/>
                        </a:rPr>
                        <m:t>)</m:t>
                      </m:r>
                    </m:oMath>
                  </m:oMathPara>
                </a14:m>
                <a:endParaRPr lang="en-US"/>
              </a:p>
              <a:p>
                <a:pPr marL="0" indent="0">
                  <a:buNone/>
                </a:pPr>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2334"/>
                </a:stretch>
              </a:blipFill>
            </p:spPr>
            <p:txBody>
              <a:bodyPr/>
              <a:lstStyle/>
              <a:p>
                <a:r>
                  <a:rPr lang="en-US">
                    <a:noFill/>
                  </a:rPr>
                  <a:t> </a:t>
                </a:r>
              </a:p>
            </p:txBody>
          </p:sp>
        </mc:Fallback>
      </mc:AlternateContent>
    </p:spTree>
    <p:extLst>
      <p:ext uri="{BB962C8B-B14F-4D97-AF65-F5344CB8AC3E}">
        <p14:creationId xmlns:p14="http://schemas.microsoft.com/office/powerpoint/2010/main" val="2632370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ARIMA process</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en-US" sz="2900"/>
              </a:p>
              <a:p>
                <a:pPr marL="0" indent="0">
                  <a:buNone/>
                </a:pPr>
                <a:r>
                  <a:rPr lang="en-US" sz="2900" smtClean="0"/>
                  <a:t>The ARIMA </a:t>
                </a:r>
                <a:r>
                  <a:rPr lang="en-US" sz="2900"/>
                  <a:t>model </a:t>
                </a:r>
                <a:r>
                  <a:rPr lang="en-US" sz="2900" smtClean="0"/>
                  <a:t>formula:</a:t>
                </a:r>
              </a:p>
              <a:p>
                <a:pPr marL="0" indent="0">
                  <a:buNone/>
                </a:pPr>
                <a:r>
                  <a:rPr lang="en-US" sz="2900"/>
                  <a:t> </a:t>
                </a:r>
              </a:p>
              <a:p>
                <a:pPr marL="0" indent="0" algn="ctr">
                  <a:buNone/>
                </a:pPr>
                <a:r>
                  <a:rPr lang="en-US" sz="2900"/>
                  <a:t> </a:t>
                </a:r>
                <a14:m>
                  <m:oMath xmlns:m="http://schemas.openxmlformats.org/officeDocument/2006/math">
                    <m:sSub>
                      <m:sSubPr>
                        <m:ctrlPr>
                          <a:rPr lang="en-US" sz="2900" i="1">
                            <a:latin typeface="Cambria Math"/>
                          </a:rPr>
                        </m:ctrlPr>
                      </m:sSubPr>
                      <m:e>
                        <m:r>
                          <a:rPr lang="en-US" sz="2900" i="1">
                            <a:latin typeface="Cambria Math"/>
                          </a:rPr>
                          <m:t>𝑦</m:t>
                        </m:r>
                      </m:e>
                      <m:sub>
                        <m:r>
                          <a:rPr lang="en-US" sz="2900" i="1">
                            <a:latin typeface="Cambria Math"/>
                          </a:rPr>
                          <m:t>𝑑</m:t>
                        </m:r>
                      </m:sub>
                    </m:sSub>
                    <m:r>
                      <a:rPr lang="en-US" sz="2900" i="1">
                        <a:latin typeface="Cambria Math"/>
                      </a:rPr>
                      <m:t>=</m:t>
                    </m:r>
                    <m:r>
                      <a:rPr lang="en-US" sz="2900" i="1">
                        <a:latin typeface="Cambria Math"/>
                      </a:rPr>
                      <m:t>𝑐</m:t>
                    </m:r>
                    <m:r>
                      <a:rPr lang="en-US" sz="2900" i="1">
                        <a:latin typeface="Cambria Math"/>
                      </a:rPr>
                      <m:t>+</m:t>
                    </m:r>
                    <m:sSub>
                      <m:sSubPr>
                        <m:ctrlPr>
                          <a:rPr lang="en-US" sz="2900" i="1">
                            <a:latin typeface="Cambria Math"/>
                          </a:rPr>
                        </m:ctrlPr>
                      </m:sSubPr>
                      <m:e>
                        <m:r>
                          <a:rPr lang="en-US" sz="2900" i="1">
                            <a:latin typeface="Cambria Math"/>
                          </a:rPr>
                          <m:t>𝜑</m:t>
                        </m:r>
                      </m:e>
                      <m:sub>
                        <m:r>
                          <a:rPr lang="en-US" sz="2900" i="1">
                            <a:latin typeface="Cambria Math"/>
                          </a:rPr>
                          <m:t>1</m:t>
                        </m:r>
                      </m:sub>
                    </m:sSub>
                    <m:sSub>
                      <m:sSubPr>
                        <m:ctrlPr>
                          <a:rPr lang="en-US" sz="2900" i="1">
                            <a:latin typeface="Cambria Math"/>
                          </a:rPr>
                        </m:ctrlPr>
                      </m:sSubPr>
                      <m:e>
                        <m:r>
                          <a:rPr lang="en-US" sz="2900" i="1">
                            <a:latin typeface="Cambria Math"/>
                          </a:rPr>
                          <m:t>𝑦</m:t>
                        </m:r>
                      </m:e>
                      <m:sub>
                        <m:r>
                          <a:rPr lang="en-US" sz="2900" i="1">
                            <a:latin typeface="Cambria Math"/>
                          </a:rPr>
                          <m:t>𝑑</m:t>
                        </m:r>
                        <m:r>
                          <a:rPr lang="en-US" sz="2900" i="1">
                            <a:latin typeface="Cambria Math"/>
                          </a:rPr>
                          <m:t>−1</m:t>
                        </m:r>
                      </m:sub>
                    </m:sSub>
                    <m:r>
                      <a:rPr lang="en-US" sz="2900" i="1">
                        <a:latin typeface="Cambria Math"/>
                      </a:rPr>
                      <m:t>+</m:t>
                    </m:r>
                    <m:sSub>
                      <m:sSubPr>
                        <m:ctrlPr>
                          <a:rPr lang="en-US" sz="2900" i="1">
                            <a:latin typeface="Cambria Math"/>
                          </a:rPr>
                        </m:ctrlPr>
                      </m:sSubPr>
                      <m:e>
                        <m:r>
                          <a:rPr lang="en-US" sz="2900" i="1">
                            <a:latin typeface="Cambria Math"/>
                          </a:rPr>
                          <m:t>𝜑</m:t>
                        </m:r>
                      </m:e>
                      <m:sub>
                        <m:r>
                          <a:rPr lang="en-US" sz="2900" i="1">
                            <a:latin typeface="Cambria Math"/>
                          </a:rPr>
                          <m:t>2</m:t>
                        </m:r>
                      </m:sub>
                    </m:sSub>
                    <m:sSub>
                      <m:sSubPr>
                        <m:ctrlPr>
                          <a:rPr lang="en-US" sz="2900" i="1">
                            <a:latin typeface="Cambria Math"/>
                          </a:rPr>
                        </m:ctrlPr>
                      </m:sSubPr>
                      <m:e>
                        <m:r>
                          <a:rPr lang="en-US" sz="2900" i="1">
                            <a:latin typeface="Cambria Math"/>
                          </a:rPr>
                          <m:t>𝑦</m:t>
                        </m:r>
                      </m:e>
                      <m:sub>
                        <m:r>
                          <a:rPr lang="en-US" sz="2900" i="1">
                            <a:latin typeface="Cambria Math"/>
                          </a:rPr>
                          <m:t>𝑑</m:t>
                        </m:r>
                        <m:r>
                          <a:rPr lang="en-US" sz="2900" i="1">
                            <a:latin typeface="Cambria Math"/>
                          </a:rPr>
                          <m:t>−2</m:t>
                        </m:r>
                      </m:sub>
                    </m:sSub>
                    <m:r>
                      <a:rPr lang="en-US" sz="2900" i="1">
                        <a:latin typeface="Cambria Math"/>
                      </a:rPr>
                      <m:t>+…+</m:t>
                    </m:r>
                    <m:sSub>
                      <m:sSubPr>
                        <m:ctrlPr>
                          <a:rPr lang="en-US" sz="2900" i="1">
                            <a:latin typeface="Cambria Math"/>
                          </a:rPr>
                        </m:ctrlPr>
                      </m:sSubPr>
                      <m:e>
                        <m:r>
                          <a:rPr lang="en-US" sz="2900" i="1">
                            <a:latin typeface="Cambria Math"/>
                          </a:rPr>
                          <m:t>𝜑</m:t>
                        </m:r>
                      </m:e>
                      <m:sub>
                        <m:r>
                          <a:rPr lang="en-US" sz="2900" i="1">
                            <a:latin typeface="Cambria Math"/>
                          </a:rPr>
                          <m:t>𝑝</m:t>
                        </m:r>
                      </m:sub>
                    </m:sSub>
                    <m:sSub>
                      <m:sSubPr>
                        <m:ctrlPr>
                          <a:rPr lang="en-US" sz="2900" i="1">
                            <a:latin typeface="Cambria Math"/>
                          </a:rPr>
                        </m:ctrlPr>
                      </m:sSubPr>
                      <m:e>
                        <m:r>
                          <a:rPr lang="en-US" sz="2900" i="1">
                            <a:latin typeface="Cambria Math"/>
                          </a:rPr>
                          <m:t>𝑦</m:t>
                        </m:r>
                      </m:e>
                      <m:sub>
                        <m:r>
                          <a:rPr lang="en-US" sz="2900" i="1">
                            <a:latin typeface="Cambria Math"/>
                          </a:rPr>
                          <m:t>𝑑</m:t>
                        </m:r>
                        <m:r>
                          <a:rPr lang="en-US" sz="2900" i="1">
                            <a:latin typeface="Cambria Math"/>
                          </a:rPr>
                          <m:t>−</m:t>
                        </m:r>
                        <m:r>
                          <a:rPr lang="en-US" sz="2900" i="1">
                            <a:latin typeface="Cambria Math"/>
                          </a:rPr>
                          <m:t>𝑝</m:t>
                        </m:r>
                      </m:sub>
                    </m:sSub>
                    <m:r>
                      <a:rPr lang="en-US" sz="2900" i="1">
                        <a:latin typeface="Cambria Math"/>
                      </a:rPr>
                      <m:t>+</m:t>
                    </m:r>
                    <m:sSub>
                      <m:sSubPr>
                        <m:ctrlPr>
                          <a:rPr lang="en-US" sz="2900" i="1">
                            <a:latin typeface="Cambria Math"/>
                          </a:rPr>
                        </m:ctrlPr>
                      </m:sSubPr>
                      <m:e>
                        <m:r>
                          <a:rPr lang="en-US" sz="2900" i="1">
                            <a:latin typeface="Cambria Math"/>
                          </a:rPr>
                          <m:t>𝜀</m:t>
                        </m:r>
                      </m:e>
                      <m:sub>
                        <m:r>
                          <a:rPr lang="en-US" sz="2900" i="1">
                            <a:latin typeface="Cambria Math"/>
                          </a:rPr>
                          <m:t>𝑡</m:t>
                        </m:r>
                      </m:sub>
                    </m:sSub>
                    <m:r>
                      <a:rPr lang="en-US" sz="2900" i="1">
                        <a:latin typeface="Cambria Math"/>
                      </a:rPr>
                      <m:t>+</m:t>
                    </m:r>
                    <m:sSub>
                      <m:sSubPr>
                        <m:ctrlPr>
                          <a:rPr lang="en-US" sz="2900" i="1">
                            <a:latin typeface="Cambria Math"/>
                          </a:rPr>
                        </m:ctrlPr>
                      </m:sSubPr>
                      <m:e>
                        <m:r>
                          <a:rPr lang="en-US" sz="2900" i="1">
                            <a:latin typeface="Cambria Math"/>
                          </a:rPr>
                          <m:t>𝜃</m:t>
                        </m:r>
                      </m:e>
                      <m:sub>
                        <m:r>
                          <a:rPr lang="en-US" sz="2900" i="1">
                            <a:latin typeface="Cambria Math"/>
                          </a:rPr>
                          <m:t>1</m:t>
                        </m:r>
                      </m:sub>
                    </m:sSub>
                    <m:sSub>
                      <m:sSubPr>
                        <m:ctrlPr>
                          <a:rPr lang="en-US" sz="2900" i="1">
                            <a:latin typeface="Cambria Math"/>
                          </a:rPr>
                        </m:ctrlPr>
                      </m:sSubPr>
                      <m:e>
                        <m:r>
                          <a:rPr lang="en-US" sz="2900" i="1">
                            <a:latin typeface="Cambria Math"/>
                          </a:rPr>
                          <m:t>𝜀</m:t>
                        </m:r>
                      </m:e>
                      <m:sub>
                        <m:r>
                          <a:rPr lang="en-US" sz="2900" i="1">
                            <a:latin typeface="Cambria Math"/>
                          </a:rPr>
                          <m:t>𝑡</m:t>
                        </m:r>
                        <m:r>
                          <a:rPr lang="en-US" sz="2900" i="1">
                            <a:latin typeface="Cambria Math"/>
                          </a:rPr>
                          <m:t>−1</m:t>
                        </m:r>
                      </m:sub>
                    </m:sSub>
                    <m:r>
                      <a:rPr lang="en-US" sz="2900" i="1">
                        <a:latin typeface="Cambria Math"/>
                      </a:rPr>
                      <m:t>+</m:t>
                    </m:r>
                    <m:sSub>
                      <m:sSubPr>
                        <m:ctrlPr>
                          <a:rPr lang="en-US" sz="2900" i="1">
                            <a:latin typeface="Cambria Math"/>
                          </a:rPr>
                        </m:ctrlPr>
                      </m:sSubPr>
                      <m:e>
                        <m:r>
                          <a:rPr lang="en-US" sz="2900" i="1">
                            <a:latin typeface="Cambria Math"/>
                          </a:rPr>
                          <m:t>𝜃</m:t>
                        </m:r>
                      </m:e>
                      <m:sub>
                        <m:r>
                          <a:rPr lang="en-US" sz="2900" i="1">
                            <a:latin typeface="Cambria Math"/>
                          </a:rPr>
                          <m:t>2</m:t>
                        </m:r>
                      </m:sub>
                    </m:sSub>
                    <m:sSub>
                      <m:sSubPr>
                        <m:ctrlPr>
                          <a:rPr lang="en-US" sz="2900" i="1">
                            <a:latin typeface="Cambria Math"/>
                          </a:rPr>
                        </m:ctrlPr>
                      </m:sSubPr>
                      <m:e>
                        <m:r>
                          <a:rPr lang="en-US" sz="2900" i="1">
                            <a:latin typeface="Cambria Math"/>
                          </a:rPr>
                          <m:t>𝜀</m:t>
                        </m:r>
                      </m:e>
                      <m:sub>
                        <m:r>
                          <a:rPr lang="en-US" sz="2900" i="1">
                            <a:latin typeface="Cambria Math"/>
                          </a:rPr>
                          <m:t>𝑡</m:t>
                        </m:r>
                        <m:r>
                          <a:rPr lang="en-US" sz="2900" i="1">
                            <a:latin typeface="Cambria Math"/>
                          </a:rPr>
                          <m:t>−2</m:t>
                        </m:r>
                      </m:sub>
                    </m:sSub>
                    <m:r>
                      <a:rPr lang="en-US" sz="2900" i="1">
                        <a:latin typeface="Cambria Math"/>
                      </a:rPr>
                      <m:t>+…+</m:t>
                    </m:r>
                    <m:sSub>
                      <m:sSubPr>
                        <m:ctrlPr>
                          <a:rPr lang="en-US" sz="2900" i="1">
                            <a:latin typeface="Cambria Math"/>
                          </a:rPr>
                        </m:ctrlPr>
                      </m:sSubPr>
                      <m:e>
                        <m:r>
                          <a:rPr lang="en-US" sz="2900" i="1">
                            <a:latin typeface="Cambria Math"/>
                          </a:rPr>
                          <m:t>𝜃</m:t>
                        </m:r>
                      </m:e>
                      <m:sub>
                        <m:r>
                          <a:rPr lang="en-US" sz="2900" i="1">
                            <a:latin typeface="Cambria Math"/>
                          </a:rPr>
                          <m:t>𝑞</m:t>
                        </m:r>
                      </m:sub>
                    </m:sSub>
                    <m:sSub>
                      <m:sSubPr>
                        <m:ctrlPr>
                          <a:rPr lang="en-US" sz="2900" i="1">
                            <a:latin typeface="Cambria Math"/>
                          </a:rPr>
                        </m:ctrlPr>
                      </m:sSubPr>
                      <m:e>
                        <m:r>
                          <a:rPr lang="en-US" sz="2900" i="1">
                            <a:latin typeface="Cambria Math"/>
                          </a:rPr>
                          <m:t>𝜀</m:t>
                        </m:r>
                      </m:e>
                      <m:sub>
                        <m:r>
                          <a:rPr lang="en-US" sz="2900" i="1">
                            <a:latin typeface="Cambria Math"/>
                          </a:rPr>
                          <m:t>𝑡</m:t>
                        </m:r>
                        <m:r>
                          <a:rPr lang="en-US" sz="2900" i="1">
                            <a:latin typeface="Cambria Math"/>
                          </a:rPr>
                          <m:t>−</m:t>
                        </m:r>
                        <m:r>
                          <a:rPr lang="en-US" sz="2900" i="1">
                            <a:latin typeface="Cambria Math"/>
                          </a:rPr>
                          <m:t>𝑞</m:t>
                        </m:r>
                      </m:sub>
                    </m:sSub>
                  </m:oMath>
                </a14:m>
                <a:endParaRPr lang="en-US" sz="2900"/>
              </a:p>
              <a:p>
                <a:pPr marL="0" indent="0">
                  <a:buNone/>
                </a:pPr>
                <a:endParaRPr lang="en-US" sz="29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556"/>
                </a:stretch>
              </a:blipFill>
            </p:spPr>
            <p:txBody>
              <a:bodyPr/>
              <a:lstStyle/>
              <a:p>
                <a:r>
                  <a:rPr lang="en-US">
                    <a:noFill/>
                  </a:rPr>
                  <a:t> </a:t>
                </a:r>
              </a:p>
            </p:txBody>
          </p:sp>
        </mc:Fallback>
      </mc:AlternateContent>
    </p:spTree>
    <p:extLst>
      <p:ext uri="{BB962C8B-B14F-4D97-AF65-F5344CB8AC3E}">
        <p14:creationId xmlns:p14="http://schemas.microsoft.com/office/powerpoint/2010/main" val="40510725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ARIMA process</a:t>
            </a:r>
            <a:endParaRPr lang="en-US"/>
          </a:p>
        </p:txBody>
      </p:sp>
      <p:sp>
        <p:nvSpPr>
          <p:cNvPr id="3" name="Content Placeholder 2"/>
          <p:cNvSpPr>
            <a:spLocks noGrp="1"/>
          </p:cNvSpPr>
          <p:nvPr>
            <p:ph idx="1"/>
          </p:nvPr>
        </p:nvSpPr>
        <p:spPr/>
        <p:txBody>
          <a:bodyPr>
            <a:normAutofit/>
          </a:bodyPr>
          <a:lstStyle/>
          <a:p>
            <a:pPr marL="0" indent="0">
              <a:buNone/>
            </a:pPr>
            <a:r>
              <a:rPr lang="en-US" sz="2800"/>
              <a:t>For example, an ARIMA(3, 1, 2) model comprises:</a:t>
            </a:r>
          </a:p>
          <a:p>
            <a:pPr marL="0" indent="0">
              <a:buNone/>
            </a:pPr>
            <a:endParaRPr lang="en-US" sz="2800"/>
          </a:p>
          <a:p>
            <a:pPr lvl="0">
              <a:buFont typeface="Wingdings" panose="05000000000000000000" pitchFamily="2" charset="2"/>
              <a:buChar char="Ø"/>
            </a:pPr>
            <a:r>
              <a:rPr lang="en-US" sz="2800"/>
              <a:t>a 3-order AR process (using three lags)</a:t>
            </a:r>
          </a:p>
          <a:p>
            <a:pPr lvl="0">
              <a:buFont typeface="Wingdings" panose="05000000000000000000" pitchFamily="2" charset="2"/>
              <a:buChar char="Ø"/>
            </a:pPr>
            <a:r>
              <a:rPr lang="en-US" sz="2800"/>
              <a:t>a 1-degree integrated process (i.e. 1-degree differencing)</a:t>
            </a:r>
          </a:p>
          <a:p>
            <a:pPr lvl="0">
              <a:buFont typeface="Wingdings" panose="05000000000000000000" pitchFamily="2" charset="2"/>
              <a:buChar char="Ø"/>
            </a:pPr>
            <a:r>
              <a:rPr lang="en-US" sz="2800"/>
              <a:t>a 2-order MA process (using two error terms</a:t>
            </a:r>
            <a:r>
              <a:rPr lang="en-US" sz="2800" smtClean="0"/>
              <a:t>)</a:t>
            </a:r>
            <a:endParaRPr lang="en-US" sz="2800"/>
          </a:p>
          <a:p>
            <a:pPr marL="0" indent="0">
              <a:buNone/>
            </a:pPr>
            <a:endParaRPr lang="en-US" sz="2900"/>
          </a:p>
        </p:txBody>
      </p:sp>
    </p:spTree>
    <p:extLst>
      <p:ext uri="{BB962C8B-B14F-4D97-AF65-F5344CB8AC3E}">
        <p14:creationId xmlns:p14="http://schemas.microsoft.com/office/powerpoint/2010/main" val="26106062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The ARIMA process</a:t>
            </a:r>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sz="2800"/>
              <a:t>T</a:t>
            </a:r>
            <a:r>
              <a:rPr lang="en-US" sz="2800" smtClean="0"/>
              <a:t>he </a:t>
            </a:r>
            <a:r>
              <a:rPr lang="en-US" sz="2800"/>
              <a:t>AR, MA and ARMA processes can be defined as particular cases of the ARIMA </a:t>
            </a:r>
            <a:r>
              <a:rPr lang="en-US" sz="2800" smtClean="0"/>
              <a:t>process:</a:t>
            </a:r>
            <a:endParaRPr lang="en-US" sz="2800"/>
          </a:p>
          <a:p>
            <a:pPr marL="0" indent="0">
              <a:buNone/>
            </a:pPr>
            <a:endParaRPr lang="en-US" sz="2800"/>
          </a:p>
          <a:p>
            <a:pPr lvl="0">
              <a:buFont typeface="Wingdings" panose="05000000000000000000" pitchFamily="2" charset="2"/>
              <a:buChar char="Ø"/>
            </a:pPr>
            <a:r>
              <a:rPr lang="en-US" sz="2800"/>
              <a:t>an AR(p) process is equivalent to an ARIMA(p, 0, 0) process</a:t>
            </a:r>
          </a:p>
          <a:p>
            <a:pPr lvl="0">
              <a:buFont typeface="Wingdings" panose="05000000000000000000" pitchFamily="2" charset="2"/>
              <a:buChar char="Ø"/>
            </a:pPr>
            <a:r>
              <a:rPr lang="en-US" sz="2800"/>
              <a:t>an MA(q) process is equivalent to an ARIMA(0, 0, q) process</a:t>
            </a:r>
          </a:p>
          <a:p>
            <a:pPr lvl="0">
              <a:buFont typeface="Wingdings" panose="05000000000000000000" pitchFamily="2" charset="2"/>
              <a:buChar char="Ø"/>
            </a:pPr>
            <a:r>
              <a:rPr lang="en-US" sz="2800"/>
              <a:t>an ARMA(p, q) process is equivalent to an ARIMA(p, 0, q) </a:t>
            </a:r>
            <a:r>
              <a:rPr lang="en-US" sz="2800" smtClean="0"/>
              <a:t>process</a:t>
            </a:r>
            <a:endParaRPr lang="en-US" sz="2800"/>
          </a:p>
          <a:p>
            <a:pPr marL="0" indent="0">
              <a:buNone/>
            </a:pPr>
            <a:endParaRPr lang="en-US" sz="2900"/>
          </a:p>
        </p:txBody>
      </p:sp>
    </p:spTree>
    <p:extLst>
      <p:ext uri="{BB962C8B-B14F-4D97-AF65-F5344CB8AC3E}">
        <p14:creationId xmlns:p14="http://schemas.microsoft.com/office/powerpoint/2010/main" val="35323149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a:noAutofit/>
          </a:bodyPr>
          <a:lstStyle/>
          <a:p>
            <a:r>
              <a:rPr lang="en-US" sz="4200" b="1" smtClean="0">
                <a:ln>
                  <a:solidFill>
                    <a:schemeClr val="tx1">
                      <a:alpha val="70000"/>
                    </a:schemeClr>
                  </a:solidFill>
                </a:ln>
                <a:solidFill>
                  <a:srgbClr val="FF0000"/>
                </a:solidFill>
                <a:effectLst>
                  <a:outerShdw blurRad="50800" dist="38100" dir="2700000" algn="tl" rotWithShape="0">
                    <a:prstClr val="black">
                      <a:alpha val="23000"/>
                    </a:prstClr>
                  </a:outerShdw>
                </a:effectLst>
              </a:rPr>
              <a:t>Identifying the ARIMA Model</a:t>
            </a:r>
            <a:endParaRPr lang="en-US" sz="4200" b="1">
              <a:ln>
                <a:solidFill>
                  <a:schemeClr val="tx1">
                    <a:alpha val="70000"/>
                  </a:schemeClr>
                </a:solidFill>
              </a:ln>
              <a:solidFill>
                <a:srgbClr val="FF0000"/>
              </a:solidFill>
              <a:effectLst>
                <a:outerShdw blurRad="50800" dist="38100" dir="2700000" algn="tl" rotWithShape="0">
                  <a:prstClr val="black">
                    <a:alpha val="23000"/>
                  </a:prstClr>
                </a:outerShdw>
              </a:effectLst>
            </a:endParaRPr>
          </a:p>
        </p:txBody>
      </p:sp>
    </p:spTree>
    <p:extLst>
      <p:ext uri="{BB962C8B-B14F-4D97-AF65-F5344CB8AC3E}">
        <p14:creationId xmlns:p14="http://schemas.microsoft.com/office/powerpoint/2010/main" val="356200554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Identifying the ARIMA model</a:t>
            </a:r>
            <a:endParaRPr lang="en-US"/>
          </a:p>
        </p:txBody>
      </p:sp>
      <p:sp>
        <p:nvSpPr>
          <p:cNvPr id="3" name="Content Placeholder 2"/>
          <p:cNvSpPr>
            <a:spLocks noGrp="1"/>
          </p:cNvSpPr>
          <p:nvPr>
            <p:ph idx="1"/>
          </p:nvPr>
        </p:nvSpPr>
        <p:spPr/>
        <p:txBody>
          <a:bodyPr>
            <a:normAutofit/>
          </a:bodyPr>
          <a:lstStyle/>
          <a:p>
            <a:pPr marL="0" indent="0">
              <a:buNone/>
            </a:pPr>
            <a:r>
              <a:rPr lang="en-US" sz="3400"/>
              <a:t>Before running any ARIMA model we must </a:t>
            </a:r>
            <a:r>
              <a:rPr lang="en-US" sz="3400" smtClean="0"/>
              <a:t>specify </a:t>
            </a:r>
            <a:r>
              <a:rPr lang="en-US" sz="3400"/>
              <a:t>the model parameters: </a:t>
            </a:r>
            <a:r>
              <a:rPr lang="en-US" sz="3400" i="1"/>
              <a:t>p</a:t>
            </a:r>
            <a:r>
              <a:rPr lang="en-US" sz="3400"/>
              <a:t>, </a:t>
            </a:r>
            <a:r>
              <a:rPr lang="en-US" sz="3400" i="1"/>
              <a:t>d</a:t>
            </a:r>
            <a:r>
              <a:rPr lang="en-US" sz="3400"/>
              <a:t> and </a:t>
            </a:r>
            <a:r>
              <a:rPr lang="en-US" sz="3400" i="1"/>
              <a:t>q</a:t>
            </a:r>
            <a:r>
              <a:rPr lang="en-US" sz="3400" smtClean="0"/>
              <a:t>.</a:t>
            </a:r>
          </a:p>
          <a:p>
            <a:pPr marL="0" indent="0">
              <a:buNone/>
            </a:pPr>
            <a:endParaRPr lang="en-US" sz="3400"/>
          </a:p>
          <a:p>
            <a:pPr marL="0" indent="0">
              <a:buNone/>
            </a:pPr>
            <a:r>
              <a:rPr lang="en-US" sz="3400" smtClean="0"/>
              <a:t>In </a:t>
            </a:r>
            <a:r>
              <a:rPr lang="en-US" sz="3400"/>
              <a:t>other words, we must </a:t>
            </a:r>
            <a:r>
              <a:rPr lang="en-US" sz="3400" b="1" i="1"/>
              <a:t>identify</a:t>
            </a:r>
            <a:r>
              <a:rPr lang="en-US" sz="3400"/>
              <a:t> the model. </a:t>
            </a:r>
          </a:p>
        </p:txBody>
      </p:sp>
    </p:spTree>
    <p:extLst>
      <p:ext uri="{BB962C8B-B14F-4D97-AF65-F5344CB8AC3E}">
        <p14:creationId xmlns:p14="http://schemas.microsoft.com/office/powerpoint/2010/main" val="7073684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Identifying the ARIMA model</a:t>
            </a:r>
            <a:endParaRPr lang="en-US"/>
          </a:p>
        </p:txBody>
      </p:sp>
      <p:sp>
        <p:nvSpPr>
          <p:cNvPr id="3" name="Content Placeholder 2"/>
          <p:cNvSpPr>
            <a:spLocks noGrp="1"/>
          </p:cNvSpPr>
          <p:nvPr>
            <p:ph idx="1"/>
          </p:nvPr>
        </p:nvSpPr>
        <p:spPr/>
        <p:txBody>
          <a:bodyPr>
            <a:noAutofit/>
          </a:bodyPr>
          <a:lstStyle/>
          <a:p>
            <a:pPr marL="0" indent="0">
              <a:buNone/>
            </a:pPr>
            <a:r>
              <a:rPr lang="en-US" sz="2050"/>
              <a:t>Model identification is usually a two-step process:</a:t>
            </a:r>
          </a:p>
          <a:p>
            <a:pPr marL="0" indent="0">
              <a:buNone/>
            </a:pPr>
            <a:endParaRPr lang="en-US" sz="2050"/>
          </a:p>
          <a:p>
            <a:pPr marL="742950" lvl="0" indent="-742950">
              <a:buFont typeface="+mj-lt"/>
              <a:buAutoNum type="arabicPeriod"/>
            </a:pPr>
            <a:r>
              <a:rPr lang="en-US" sz="2050"/>
              <a:t>F</a:t>
            </a:r>
            <a:r>
              <a:rPr lang="en-US" sz="2050" smtClean="0"/>
              <a:t>ind </a:t>
            </a:r>
            <a:r>
              <a:rPr lang="en-US" sz="2050"/>
              <a:t>out the degree of differencing necessary to get a stationary series. This will be the </a:t>
            </a:r>
            <a:r>
              <a:rPr lang="en-US" sz="2050" i="1"/>
              <a:t>d</a:t>
            </a:r>
            <a:r>
              <a:rPr lang="en-US" sz="2050"/>
              <a:t> parameter. For example, if one degree differencing is enough to convert our series into a stationary one, then </a:t>
            </a:r>
            <a:r>
              <a:rPr lang="en-US" sz="2050" i="1"/>
              <a:t>d</a:t>
            </a:r>
            <a:r>
              <a:rPr lang="en-US" sz="2050"/>
              <a:t> will be set to one.</a:t>
            </a:r>
          </a:p>
          <a:p>
            <a:pPr marL="742950" indent="-742950">
              <a:buFont typeface="+mj-lt"/>
              <a:buAutoNum type="arabicPeriod"/>
            </a:pPr>
            <a:endParaRPr lang="en-US" sz="2050"/>
          </a:p>
          <a:p>
            <a:pPr marL="742950" lvl="0" indent="-742950">
              <a:buFont typeface="+mj-lt"/>
              <a:buAutoNum type="arabicPeriod"/>
            </a:pPr>
            <a:r>
              <a:rPr lang="en-US" sz="2050"/>
              <a:t>S</a:t>
            </a:r>
            <a:r>
              <a:rPr lang="en-US" sz="2050" smtClean="0"/>
              <a:t>pecify </a:t>
            </a:r>
            <a:r>
              <a:rPr lang="en-US" sz="2050"/>
              <a:t>the other two parameters: </a:t>
            </a:r>
            <a:r>
              <a:rPr lang="en-US" sz="2050" i="1"/>
              <a:t>p</a:t>
            </a:r>
            <a:r>
              <a:rPr lang="en-US" sz="2050"/>
              <a:t>, </a:t>
            </a:r>
            <a:r>
              <a:rPr lang="en-US" sz="2050" smtClean="0"/>
              <a:t>i.e. the </a:t>
            </a:r>
            <a:r>
              <a:rPr lang="en-US" sz="2050"/>
              <a:t>order of the AR process and </a:t>
            </a:r>
            <a:r>
              <a:rPr lang="en-US" sz="2050" i="1"/>
              <a:t>q</a:t>
            </a:r>
            <a:r>
              <a:rPr lang="en-US" sz="2050"/>
              <a:t>, </a:t>
            </a:r>
            <a:r>
              <a:rPr lang="en-US" sz="2050" smtClean="0"/>
              <a:t>i.e. </a:t>
            </a:r>
            <a:r>
              <a:rPr lang="en-US" sz="2050"/>
              <a:t>the order of the MA process</a:t>
            </a:r>
            <a:r>
              <a:rPr lang="en-US" sz="2050" smtClean="0"/>
              <a:t>.</a:t>
            </a:r>
            <a:endParaRPr lang="en-US" sz="2050"/>
          </a:p>
        </p:txBody>
      </p:sp>
    </p:spTree>
    <p:extLst>
      <p:ext uri="{BB962C8B-B14F-4D97-AF65-F5344CB8AC3E}">
        <p14:creationId xmlns:p14="http://schemas.microsoft.com/office/powerpoint/2010/main" val="5068505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Identifying the ARIMA model</a:t>
            </a:r>
            <a:endParaRPr lang="en-US"/>
          </a:p>
        </p:txBody>
      </p:sp>
      <p:sp>
        <p:nvSpPr>
          <p:cNvPr id="3" name="Content Placeholder 2"/>
          <p:cNvSpPr>
            <a:spLocks noGrp="1"/>
          </p:cNvSpPr>
          <p:nvPr>
            <p:ph idx="1"/>
          </p:nvPr>
        </p:nvSpPr>
        <p:spPr/>
        <p:txBody>
          <a:bodyPr>
            <a:noAutofit/>
          </a:bodyPr>
          <a:lstStyle/>
          <a:p>
            <a:pPr marL="0" indent="0">
              <a:buNone/>
            </a:pPr>
            <a:r>
              <a:rPr lang="en-US" sz="2600"/>
              <a:t>Choosing the </a:t>
            </a:r>
            <a:r>
              <a:rPr lang="en-US" sz="2600" i="1"/>
              <a:t>p</a:t>
            </a:r>
            <a:r>
              <a:rPr lang="en-US" sz="2600"/>
              <a:t> and </a:t>
            </a:r>
            <a:r>
              <a:rPr lang="en-US" sz="2600" i="1"/>
              <a:t>q</a:t>
            </a:r>
            <a:r>
              <a:rPr lang="en-US" sz="2600"/>
              <a:t> parameters is not straightforward. We must examine the ACF and PACF charts and make some decisions based on how these charts look. </a:t>
            </a:r>
            <a:endParaRPr lang="en-US" sz="2600" smtClean="0"/>
          </a:p>
          <a:p>
            <a:pPr marL="0" indent="0">
              <a:buNone/>
            </a:pPr>
            <a:endParaRPr lang="en-US" sz="2600"/>
          </a:p>
          <a:p>
            <a:pPr marL="0" indent="0">
              <a:buNone/>
            </a:pPr>
            <a:r>
              <a:rPr lang="en-US" sz="2600" smtClean="0"/>
              <a:t>Many </a:t>
            </a:r>
            <a:r>
              <a:rPr lang="en-US" sz="2600"/>
              <a:t>times we have to try several combinations of </a:t>
            </a:r>
            <a:r>
              <a:rPr lang="en-US" sz="2600" smtClean="0"/>
              <a:t>parameters (several models) </a:t>
            </a:r>
            <a:r>
              <a:rPr lang="en-US" sz="2600"/>
              <a:t>in order to identify the most effective one.</a:t>
            </a:r>
          </a:p>
        </p:txBody>
      </p:sp>
    </p:spTree>
    <p:extLst>
      <p:ext uri="{BB962C8B-B14F-4D97-AF65-F5344CB8AC3E}">
        <p14:creationId xmlns:p14="http://schemas.microsoft.com/office/powerpoint/2010/main" val="37060831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Identifying the ARIMA model</a:t>
            </a:r>
            <a:endParaRPr lang="en-US"/>
          </a:p>
        </p:txBody>
      </p:sp>
      <p:sp>
        <p:nvSpPr>
          <p:cNvPr id="3" name="Content Placeholder 2"/>
          <p:cNvSpPr>
            <a:spLocks noGrp="1"/>
          </p:cNvSpPr>
          <p:nvPr>
            <p:ph idx="1"/>
          </p:nvPr>
        </p:nvSpPr>
        <p:spPr/>
        <p:txBody>
          <a:bodyPr>
            <a:noAutofit/>
          </a:bodyPr>
          <a:lstStyle/>
          <a:p>
            <a:pPr marL="0" indent="0">
              <a:buNone/>
            </a:pPr>
            <a:r>
              <a:rPr lang="en-US" sz="3500"/>
              <a:t>T</a:t>
            </a:r>
            <a:r>
              <a:rPr lang="en-US" sz="3500" smtClean="0"/>
              <a:t>o </a:t>
            </a:r>
            <a:r>
              <a:rPr lang="en-US" sz="3500"/>
              <a:t>identify the order of the </a:t>
            </a:r>
            <a:r>
              <a:rPr lang="en-US" sz="3500" b="1"/>
              <a:t>AR</a:t>
            </a:r>
            <a:r>
              <a:rPr lang="en-US" sz="3500"/>
              <a:t> process (the </a:t>
            </a:r>
            <a:r>
              <a:rPr lang="en-US" sz="3500" i="1"/>
              <a:t>p</a:t>
            </a:r>
            <a:r>
              <a:rPr lang="en-US" sz="3500"/>
              <a:t> parameter) we have to look at the </a:t>
            </a:r>
            <a:r>
              <a:rPr lang="en-US" sz="3500" b="1"/>
              <a:t>PACF</a:t>
            </a:r>
            <a:r>
              <a:rPr lang="en-US" sz="3500"/>
              <a:t> </a:t>
            </a:r>
            <a:r>
              <a:rPr lang="en-US" sz="3500" smtClean="0"/>
              <a:t>chart (partial </a:t>
            </a:r>
            <a:r>
              <a:rPr lang="en-US" sz="3500"/>
              <a:t>autocorrelation </a:t>
            </a:r>
            <a:r>
              <a:rPr lang="en-US" sz="3500" smtClean="0"/>
              <a:t>function).</a:t>
            </a:r>
            <a:endParaRPr lang="en-US" sz="3500"/>
          </a:p>
        </p:txBody>
      </p:sp>
    </p:spTree>
    <p:extLst>
      <p:ext uri="{BB962C8B-B14F-4D97-AF65-F5344CB8AC3E}">
        <p14:creationId xmlns:p14="http://schemas.microsoft.com/office/powerpoint/2010/main" val="3840427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Identifying the ARIMA model</a:t>
            </a:r>
            <a:endParaRPr 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13688" y="1200150"/>
            <a:ext cx="6516624" cy="3394075"/>
          </a:xfrm>
        </p:spPr>
      </p:pic>
    </p:spTree>
    <p:extLst>
      <p:ext uri="{BB962C8B-B14F-4D97-AF65-F5344CB8AC3E}">
        <p14:creationId xmlns:p14="http://schemas.microsoft.com/office/powerpoint/2010/main" val="1880272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Identifying the ARIMA model</a:t>
            </a:r>
            <a:endParaRPr lang="en-US"/>
          </a:p>
        </p:txBody>
      </p:sp>
      <p:sp>
        <p:nvSpPr>
          <p:cNvPr id="3" name="Content Placeholder 2"/>
          <p:cNvSpPr>
            <a:spLocks noGrp="1"/>
          </p:cNvSpPr>
          <p:nvPr>
            <p:ph idx="1"/>
          </p:nvPr>
        </p:nvSpPr>
        <p:spPr/>
        <p:txBody>
          <a:bodyPr>
            <a:normAutofit/>
          </a:bodyPr>
          <a:lstStyle/>
          <a:p>
            <a:pPr marL="0" indent="0">
              <a:buNone/>
            </a:pPr>
            <a:r>
              <a:rPr lang="en-US" sz="3500"/>
              <a:t>T</a:t>
            </a:r>
            <a:r>
              <a:rPr lang="en-US" sz="3500" smtClean="0"/>
              <a:t>o </a:t>
            </a:r>
            <a:r>
              <a:rPr lang="en-US" sz="3500"/>
              <a:t>identify the order of the </a:t>
            </a:r>
            <a:r>
              <a:rPr lang="en-US" sz="3500" b="1"/>
              <a:t>MA</a:t>
            </a:r>
            <a:r>
              <a:rPr lang="en-US" sz="3500"/>
              <a:t> process (the </a:t>
            </a:r>
            <a:r>
              <a:rPr lang="en-US" sz="3500" i="1"/>
              <a:t>q</a:t>
            </a:r>
            <a:r>
              <a:rPr lang="en-US" sz="3500"/>
              <a:t> parameter) we have to look at the </a:t>
            </a:r>
            <a:r>
              <a:rPr lang="en-US" sz="3500" b="1"/>
              <a:t>ACF</a:t>
            </a:r>
            <a:r>
              <a:rPr lang="en-US" sz="3500"/>
              <a:t> </a:t>
            </a:r>
            <a:r>
              <a:rPr lang="en-US" sz="3500" smtClean="0"/>
              <a:t>chart (autocorrelation function).</a:t>
            </a:r>
            <a:endParaRPr lang="en-US" sz="3500"/>
          </a:p>
        </p:txBody>
      </p:sp>
    </p:spTree>
    <p:extLst>
      <p:ext uri="{BB962C8B-B14F-4D97-AF65-F5344CB8AC3E}">
        <p14:creationId xmlns:p14="http://schemas.microsoft.com/office/powerpoint/2010/main" val="23801282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Identifying the ARIMA model</a:t>
            </a:r>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13688" y="1200150"/>
            <a:ext cx="6516624" cy="3394075"/>
          </a:xfrm>
        </p:spPr>
      </p:pic>
    </p:spTree>
    <p:extLst>
      <p:ext uri="{BB962C8B-B14F-4D97-AF65-F5344CB8AC3E}">
        <p14:creationId xmlns:p14="http://schemas.microsoft.com/office/powerpoint/2010/main" val="5207620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Identifying the ARIMA model</a:t>
            </a:r>
            <a:endParaRPr lang="en-US"/>
          </a:p>
        </p:txBody>
      </p:sp>
      <p:sp>
        <p:nvSpPr>
          <p:cNvPr id="3" name="Content Placeholder 2"/>
          <p:cNvSpPr>
            <a:spLocks noGrp="1"/>
          </p:cNvSpPr>
          <p:nvPr>
            <p:ph idx="1"/>
          </p:nvPr>
        </p:nvSpPr>
        <p:spPr/>
        <p:txBody>
          <a:bodyPr>
            <a:normAutofit fontScale="70000" lnSpcReduction="20000"/>
          </a:bodyPr>
          <a:lstStyle/>
          <a:p>
            <a:pPr marL="0" indent="0">
              <a:buNone/>
            </a:pPr>
            <a:r>
              <a:rPr lang="en-US"/>
              <a:t>S</a:t>
            </a:r>
            <a:r>
              <a:rPr lang="en-US" smtClean="0"/>
              <a:t>trategy </a:t>
            </a:r>
            <a:r>
              <a:rPr lang="en-US"/>
              <a:t>to identify the best </a:t>
            </a:r>
            <a:r>
              <a:rPr lang="en-US" smtClean="0"/>
              <a:t>model:</a:t>
            </a:r>
            <a:endParaRPr lang="en-US"/>
          </a:p>
          <a:p>
            <a:pPr marL="0" indent="0">
              <a:buNone/>
            </a:pPr>
            <a:r>
              <a:rPr lang="en-US"/>
              <a:t> </a:t>
            </a:r>
          </a:p>
          <a:p>
            <a:pPr marL="514350" lvl="0" indent="-514350">
              <a:buFont typeface="+mj-lt"/>
              <a:buAutoNum type="arabicPeriod"/>
            </a:pPr>
            <a:r>
              <a:rPr lang="en-US"/>
              <a:t>First, choose greater values for the parameters </a:t>
            </a:r>
            <a:r>
              <a:rPr lang="en-US" i="1"/>
              <a:t>p</a:t>
            </a:r>
            <a:r>
              <a:rPr lang="en-US"/>
              <a:t> and </a:t>
            </a:r>
            <a:r>
              <a:rPr lang="en-US" i="1"/>
              <a:t>q</a:t>
            </a:r>
            <a:r>
              <a:rPr lang="en-US"/>
              <a:t>. </a:t>
            </a:r>
            <a:r>
              <a:rPr lang="en-US" smtClean="0"/>
              <a:t>Then </a:t>
            </a:r>
            <a:r>
              <a:rPr lang="en-US"/>
              <a:t>run your model and see how it performs.</a:t>
            </a:r>
          </a:p>
          <a:p>
            <a:pPr marL="514350" indent="-514350">
              <a:buFont typeface="+mj-lt"/>
              <a:buAutoNum type="arabicPeriod"/>
            </a:pPr>
            <a:endParaRPr lang="en-US"/>
          </a:p>
          <a:p>
            <a:pPr marL="514350" lvl="0" indent="-514350">
              <a:buFont typeface="+mj-lt"/>
              <a:buAutoNum type="arabicPeriod"/>
            </a:pPr>
            <a:r>
              <a:rPr lang="en-US"/>
              <a:t>If the forecast accuracy in the test set is good, reduce the values of </a:t>
            </a:r>
            <a:r>
              <a:rPr lang="en-US" i="1"/>
              <a:t>p</a:t>
            </a:r>
            <a:r>
              <a:rPr lang="en-US"/>
              <a:t> and </a:t>
            </a:r>
            <a:r>
              <a:rPr lang="en-US" i="1"/>
              <a:t>q</a:t>
            </a:r>
            <a:r>
              <a:rPr lang="en-US"/>
              <a:t> in order to try simpler </a:t>
            </a:r>
            <a:r>
              <a:rPr lang="en-US" smtClean="0"/>
              <a:t>models. </a:t>
            </a:r>
            <a:endParaRPr lang="en-US"/>
          </a:p>
          <a:p>
            <a:pPr marL="514350" indent="-514350">
              <a:buFont typeface="+mj-lt"/>
              <a:buAutoNum type="arabicPeriod"/>
            </a:pPr>
            <a:endParaRPr lang="en-US"/>
          </a:p>
          <a:p>
            <a:pPr marL="514350" lvl="0" indent="-514350">
              <a:buFont typeface="+mj-lt"/>
              <a:buAutoNum type="arabicPeriod"/>
            </a:pPr>
            <a:r>
              <a:rPr lang="en-US"/>
              <a:t>Finally, choose the simplest model that provides satisfactory forecasting accuracy levels</a:t>
            </a:r>
            <a:r>
              <a:rPr lang="en-US" smtClean="0"/>
              <a:t>.</a:t>
            </a:r>
            <a:endParaRPr lang="en-US"/>
          </a:p>
          <a:p>
            <a:pPr marL="0" indent="0">
              <a:buNone/>
            </a:pPr>
            <a:endParaRPr lang="en-US"/>
          </a:p>
        </p:txBody>
      </p:sp>
    </p:spTree>
    <p:extLst>
      <p:ext uri="{BB962C8B-B14F-4D97-AF65-F5344CB8AC3E}">
        <p14:creationId xmlns:p14="http://schemas.microsoft.com/office/powerpoint/2010/main" val="2250719332"/>
      </p:ext>
    </p:extLst>
  </p:cSld>
  <p:clrMapOvr>
    <a:masterClrMapping/>
  </p:clrMapOvr>
</p:sld>
</file>

<file path=ppt/theme/theme1.xml><?xml version="1.0" encoding="utf-8"?>
<a:theme xmlns:a="http://schemas.openxmlformats.org/drawingml/2006/main" name="Temă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2070</TotalTime>
  <Words>1913</Words>
  <Application>Microsoft Office PowerPoint</Application>
  <PresentationFormat>On-screen Show (16:9)</PresentationFormat>
  <Paragraphs>228</Paragraphs>
  <Slides>66</Slides>
  <Notes>0</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Temă Office</vt:lpstr>
      <vt:lpstr>Autoregressive Models</vt:lpstr>
      <vt:lpstr>Autoregressive models</vt:lpstr>
      <vt:lpstr>Autocorrelation</vt:lpstr>
      <vt:lpstr>Autocorrelation</vt:lpstr>
      <vt:lpstr>Autocorrelation</vt:lpstr>
      <vt:lpstr>Autocorrelation</vt:lpstr>
      <vt:lpstr>Autocorrelation</vt:lpstr>
      <vt:lpstr>Autocorrelation</vt:lpstr>
      <vt:lpstr>Autocorrelation</vt:lpstr>
      <vt:lpstr>Autocorrelation</vt:lpstr>
      <vt:lpstr>Autocorrelation</vt:lpstr>
      <vt:lpstr>Autocorrelation</vt:lpstr>
      <vt:lpstr>Stationarity</vt:lpstr>
      <vt:lpstr>Stationarity</vt:lpstr>
      <vt:lpstr>Stationarity</vt:lpstr>
      <vt:lpstr>Stationarity</vt:lpstr>
      <vt:lpstr>Stationarity</vt:lpstr>
      <vt:lpstr>Stationarity</vt:lpstr>
      <vt:lpstr>Stationarity</vt:lpstr>
      <vt:lpstr>Stationarity</vt:lpstr>
      <vt:lpstr>Differencing</vt:lpstr>
      <vt:lpstr>Differencing</vt:lpstr>
      <vt:lpstr>Differencing</vt:lpstr>
      <vt:lpstr>Differencing</vt:lpstr>
      <vt:lpstr>Differencing</vt:lpstr>
      <vt:lpstr>Differencing</vt:lpstr>
      <vt:lpstr>Differencing</vt:lpstr>
      <vt:lpstr>Differencing</vt:lpstr>
      <vt:lpstr>Differencing</vt:lpstr>
      <vt:lpstr>Differencing</vt:lpstr>
      <vt:lpstr>Differencing</vt:lpstr>
      <vt:lpstr>The AR Process</vt:lpstr>
      <vt:lpstr>The AR process</vt:lpstr>
      <vt:lpstr>The AR process</vt:lpstr>
      <vt:lpstr>The AR process</vt:lpstr>
      <vt:lpstr>The AR process</vt:lpstr>
      <vt:lpstr>The MA Process</vt:lpstr>
      <vt:lpstr>The MA process</vt:lpstr>
      <vt:lpstr>The MA process</vt:lpstr>
      <vt:lpstr>The MA process</vt:lpstr>
      <vt:lpstr>The MA process</vt:lpstr>
      <vt:lpstr>The MA process</vt:lpstr>
      <vt:lpstr>The MA process</vt:lpstr>
      <vt:lpstr>The ARMA Process</vt:lpstr>
      <vt:lpstr>The ARMA process</vt:lpstr>
      <vt:lpstr>The ARMA process</vt:lpstr>
      <vt:lpstr>The ARMA process</vt:lpstr>
      <vt:lpstr>The ARMA process</vt:lpstr>
      <vt:lpstr>The ARIMA Process</vt:lpstr>
      <vt:lpstr>The ARIMA process</vt:lpstr>
      <vt:lpstr>The ARIMA process</vt:lpstr>
      <vt:lpstr>The ARIMA process</vt:lpstr>
      <vt:lpstr>The ARIMA process</vt:lpstr>
      <vt:lpstr>The ARIMA process</vt:lpstr>
      <vt:lpstr>The ARIMA process</vt:lpstr>
      <vt:lpstr>The ARIMA process</vt:lpstr>
      <vt:lpstr>The ARIMA process</vt:lpstr>
      <vt:lpstr>Identifying the ARIMA Model</vt:lpstr>
      <vt:lpstr>Identifying the ARIMA model</vt:lpstr>
      <vt:lpstr>Identifying the ARIMA model</vt:lpstr>
      <vt:lpstr>Identifying the ARIMA model</vt:lpstr>
      <vt:lpstr>Identifying the ARIMA model</vt:lpstr>
      <vt:lpstr>Identifying the ARIMA model</vt:lpstr>
      <vt:lpstr>Identifying the ARIMA model</vt:lpstr>
      <vt:lpstr>Identifying the ARIMA model</vt:lpstr>
      <vt:lpstr>Identifying the ARIMA model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Prezentare PowerPoint</dc:title>
  <dc:creator>bogdan</dc:creator>
  <cp:lastModifiedBy>bogdan</cp:lastModifiedBy>
  <cp:revision>182</cp:revision>
  <dcterms:created xsi:type="dcterms:W3CDTF">2014-10-10T10:38:27Z</dcterms:created>
  <dcterms:modified xsi:type="dcterms:W3CDTF">2022-09-13T08:43:33Z</dcterms:modified>
</cp:coreProperties>
</file>