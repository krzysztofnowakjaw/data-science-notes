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94" r:id="rId7"/>
    <p:sldId id="281" r:id="rId8"/>
    <p:sldId id="282" r:id="rId9"/>
    <p:sldId id="283" r:id="rId10"/>
    <p:sldId id="284" r:id="rId11"/>
    <p:sldId id="285" r:id="rId12"/>
    <p:sldId id="295" r:id="rId13"/>
    <p:sldId id="286" r:id="rId14"/>
    <p:sldId id="287" r:id="rId15"/>
    <p:sldId id="288" r:id="rId16"/>
    <p:sldId id="289" r:id="rId17"/>
    <p:sldId id="296" r:id="rId18"/>
    <p:sldId id="290" r:id="rId19"/>
    <p:sldId id="291" r:id="rId20"/>
    <p:sldId id="292" r:id="rId21"/>
    <p:sldId id="293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Smoothing Methods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moothing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smoothing methods compute the average of multiple subsets in the time series, with a view to reduce noise </a:t>
            </a:r>
            <a:r>
              <a:rPr lang="en-US"/>
              <a:t>(</a:t>
            </a:r>
            <a:r>
              <a:rPr lang="en-US" smtClean="0"/>
              <a:t>randomness) and make </a:t>
            </a:r>
            <a:r>
              <a:rPr lang="en-US" dirty="0"/>
              <a:t>accurate forecasts.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Moving average (MA) </a:t>
            </a:r>
            <a:r>
              <a:rPr lang="en-US" dirty="0" smtClean="0"/>
              <a:t>consists </a:t>
            </a:r>
            <a:r>
              <a:rPr lang="en-US" dirty="0"/>
              <a:t>of computing the mean over </a:t>
            </a:r>
            <a:r>
              <a:rPr lang="en-US" i="1" dirty="0"/>
              <a:t>consecutive</a:t>
            </a:r>
            <a:r>
              <a:rPr lang="en-US" dirty="0"/>
              <a:t> subsets or windows of our time series.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way we get a sequence of averages that approximate the original series. The best way to examine the moving averages is to plot them on the same chart with the </a:t>
            </a:r>
            <a:r>
              <a:rPr lang="en-US" dirty="0" smtClean="0"/>
              <a:t>initial series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630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Depending on the window size we can talk about 3-order MA (the averages are computed over 3 periods), 4-order MA etc.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periods can be days, months, years etc.</a:t>
            </a:r>
          </a:p>
        </p:txBody>
      </p:sp>
    </p:spTree>
    <p:extLst>
      <p:ext uri="{BB962C8B-B14F-4D97-AF65-F5344CB8AC3E}">
        <p14:creationId xmlns:p14="http://schemas.microsoft.com/office/powerpoint/2010/main" val="142890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types of moving average: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centered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trailing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Centered Moving </a:t>
            </a:r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Average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941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Centered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compute the </a:t>
            </a:r>
            <a:r>
              <a:rPr lang="en-US" i="1" dirty="0"/>
              <a:t>centered</a:t>
            </a:r>
            <a:r>
              <a:rPr lang="en-US" dirty="0"/>
              <a:t> </a:t>
            </a:r>
            <a:r>
              <a:rPr lang="en-US"/>
              <a:t>moving </a:t>
            </a:r>
            <a:r>
              <a:rPr lang="en-US" smtClean="0"/>
              <a:t>average </a:t>
            </a:r>
            <a:r>
              <a:rPr lang="en-US" dirty="0"/>
              <a:t>at the time </a:t>
            </a:r>
            <a:r>
              <a:rPr lang="en-US" i="1" dirty="0"/>
              <a:t>t</a:t>
            </a:r>
            <a:r>
              <a:rPr lang="en-US" dirty="0"/>
              <a:t>, we center the window at that time and calculate the average of the values in the window.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/>
              <a:t>window </a:t>
            </a:r>
            <a:r>
              <a:rPr lang="en-US" smtClean="0"/>
              <a:t>size </a:t>
            </a:r>
            <a:r>
              <a:rPr lang="en-US" dirty="0" smtClean="0"/>
              <a:t>must </a:t>
            </a:r>
            <a:r>
              <a:rPr lang="en-US" dirty="0"/>
              <a:t>be an </a:t>
            </a:r>
            <a:r>
              <a:rPr lang="en-US" i="1" dirty="0"/>
              <a:t>odd</a:t>
            </a:r>
            <a:r>
              <a:rPr lang="en-US" dirty="0"/>
              <a:t> </a:t>
            </a:r>
            <a:r>
              <a:rPr lang="en-US" dirty="0" smtClean="0"/>
              <a:t>number.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9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Centered moving average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w – window size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moving average formula at time </a:t>
                </a:r>
                <a:r>
                  <a:rPr lang="en-US" dirty="0" smtClean="0"/>
                  <a:t>t: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𝑀𝐴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/>
                                    </a:rPr>
                                    <m:t>𝑤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/>
                                    </a:rPr>
                                    <m:t>𝑤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200" i="1">
                              <a:latin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01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Centered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Example: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w = 5, to compute </a:t>
            </a:r>
            <a:r>
              <a:rPr lang="en-US" dirty="0" err="1"/>
              <a:t>MA</a:t>
            </a:r>
            <a:r>
              <a:rPr lang="en-US" baseline="-25000" dirty="0" err="1"/>
              <a:t>t</a:t>
            </a:r>
            <a:r>
              <a:rPr lang="en-US" dirty="0"/>
              <a:t> we have to average the values for the following periods: t – 2, t – 1, t, t + 1 and t + 2.</a:t>
            </a:r>
          </a:p>
        </p:txBody>
      </p:sp>
    </p:spTree>
    <p:extLst>
      <p:ext uri="{BB962C8B-B14F-4D97-AF65-F5344CB8AC3E}">
        <p14:creationId xmlns:p14="http://schemas.microsoft.com/office/powerpoint/2010/main" val="99867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Centered moving average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03" y="1200150"/>
            <a:ext cx="7386497" cy="3394075"/>
          </a:xfrm>
        </p:spPr>
      </p:pic>
    </p:spTree>
    <p:extLst>
      <p:ext uri="{BB962C8B-B14F-4D97-AF65-F5344CB8AC3E}">
        <p14:creationId xmlns:p14="http://schemas.microsoft.com/office/powerpoint/2010/main" val="222467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Centered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our series </a:t>
            </a:r>
            <a:r>
              <a:rPr lang="en-US" dirty="0" smtClean="0"/>
              <a:t>presents </a:t>
            </a:r>
            <a:r>
              <a:rPr lang="en-US" dirty="0"/>
              <a:t>some seasonality pattern, it is useful to set the window size equal (or approximately equal) to the season length.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window size must be an odd number.)</a:t>
            </a:r>
          </a:p>
        </p:txBody>
      </p:sp>
    </p:spTree>
    <p:extLst>
      <p:ext uri="{BB962C8B-B14F-4D97-AF65-F5344CB8AC3E}">
        <p14:creationId xmlns:p14="http://schemas.microsoft.com/office/powerpoint/2010/main" val="1917757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Trailing Moving </a:t>
            </a:r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Average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861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Trailing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a trailing moving average, the average is placed at the end of the window.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this case, the window size can be either an odd or an even number.</a:t>
            </a:r>
          </a:p>
        </p:txBody>
      </p:sp>
    </p:spTree>
    <p:extLst>
      <p:ext uri="{BB962C8B-B14F-4D97-AF65-F5344CB8AC3E}">
        <p14:creationId xmlns:p14="http://schemas.microsoft.com/office/powerpoint/2010/main" val="299468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Trailing moving average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00150"/>
            <a:ext cx="7605998" cy="3394075"/>
          </a:xfrm>
        </p:spPr>
      </p:pic>
    </p:spTree>
    <p:extLst>
      <p:ext uri="{BB962C8B-B14F-4D97-AF65-F5344CB8AC3E}">
        <p14:creationId xmlns:p14="http://schemas.microsoft.com/office/powerpoint/2010/main" val="4110233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Trailing moving average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dirty="0" smtClean="0"/>
                  <a:t>he </a:t>
                </a:r>
                <a:r>
                  <a:rPr lang="en-US" dirty="0"/>
                  <a:t>k-step ahead forecasts </a:t>
                </a:r>
                <a:r>
                  <a:rPr lang="en-US" dirty="0" smtClean="0"/>
                  <a:t>formula with </a:t>
                </a:r>
                <a:r>
                  <a:rPr lang="en-US" dirty="0"/>
                  <a:t>trailing moving </a:t>
                </a:r>
                <a:r>
                  <a:rPr lang="en-US" dirty="0" smtClean="0"/>
                  <a:t>average: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461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Trailing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Particular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we set w = 5, the periods that must be averaged to get the forecasts are: t, t – 1, t –</a:t>
            </a:r>
            <a:r>
              <a:rPr lang="en-US" dirty="0" smtClean="0"/>
              <a:t> </a:t>
            </a:r>
            <a:r>
              <a:rPr lang="en-US" dirty="0"/>
              <a:t>2,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3 </a:t>
            </a:r>
            <a:r>
              <a:rPr lang="en-US" dirty="0"/>
              <a:t>and t – </a:t>
            </a:r>
            <a:r>
              <a:rPr lang="en-US" dirty="0" smtClean="0"/>
              <a:t>4 (the </a:t>
            </a:r>
            <a:r>
              <a:rPr lang="en-US" dirty="0"/>
              <a:t>last 5 periods).</a:t>
            </a:r>
          </a:p>
        </p:txBody>
      </p:sp>
    </p:spTree>
    <p:extLst>
      <p:ext uri="{BB962C8B-B14F-4D97-AF65-F5344CB8AC3E}">
        <p14:creationId xmlns:p14="http://schemas.microsoft.com/office/powerpoint/2010/main" val="2898826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Weighted Moving </a:t>
            </a:r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Average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397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weighted moving average </a:t>
            </a:r>
            <a:r>
              <a:rPr lang="en-US" dirty="0" smtClean="0"/>
              <a:t>method </a:t>
            </a:r>
            <a:r>
              <a:rPr lang="en-US" dirty="0"/>
              <a:t>uses weights to calculate the means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general rule for setting the weights 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the most recent values have larger weights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older values have smaller </a:t>
            </a:r>
            <a:r>
              <a:rPr lang="en-US" dirty="0" smtClean="0"/>
              <a:t>weights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sum of weights must be </a:t>
            </a:r>
            <a:r>
              <a:rPr lang="en-US" dirty="0" smtClean="0"/>
              <a:t>1.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382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his </a:t>
            </a:r>
            <a:r>
              <a:rPr lang="en-US" dirty="0"/>
              <a:t>method assumes that recent data have stronger influence on the future values than older data. In consequence, they should carry more weight when making forecasts.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are going to discuss about the </a:t>
            </a:r>
            <a:r>
              <a:rPr lang="en-US" i="1" dirty="0"/>
              <a:t>trailing</a:t>
            </a:r>
            <a:r>
              <a:rPr lang="en-US" dirty="0"/>
              <a:t> weighted moving averages </a:t>
            </a:r>
            <a:r>
              <a:rPr lang="en-US" dirty="0" smtClean="0"/>
              <a:t>only.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375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moving average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00150"/>
            <a:ext cx="6397465" cy="3394075"/>
          </a:xfrm>
        </p:spPr>
      </p:pic>
    </p:spTree>
    <p:extLst>
      <p:ext uri="{BB962C8B-B14F-4D97-AF65-F5344CB8AC3E}">
        <p14:creationId xmlns:p14="http://schemas.microsoft.com/office/powerpoint/2010/main" val="833274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Weighted moving average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</a:t>
                </a:r>
                <a:r>
                  <a:rPr lang="en-US" dirty="0" smtClean="0"/>
                  <a:t>ormula </a:t>
                </a:r>
                <a:r>
                  <a:rPr lang="en-US" dirty="0"/>
                  <a:t>of the </a:t>
                </a:r>
                <a:r>
                  <a:rPr lang="en-US" dirty="0" smtClean="0"/>
                  <a:t>k-step </a:t>
                </a:r>
                <a:r>
                  <a:rPr lang="en-US" dirty="0"/>
                  <a:t>ahead </a:t>
                </a:r>
                <a:r>
                  <a:rPr lang="en-US" dirty="0" smtClean="0"/>
                  <a:t>forecasts: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  <m:r>
                            <a:rPr lang="en-US" sz="2700" i="1">
                              <a:latin typeface="Cambria Math"/>
                            </a:rPr>
                            <m:t>+</m:t>
                          </m:r>
                          <m:r>
                            <a:rPr lang="en-US" sz="27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7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  <m:r>
                            <a:rPr lang="en-US" sz="27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  <m:r>
                            <a:rPr lang="en-US" sz="27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7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  <m:r>
                            <a:rPr lang="en-US" sz="2700" i="1">
                              <a:latin typeface="Cambria Math"/>
                            </a:rPr>
                            <m:t>−</m:t>
                          </m:r>
                          <m:r>
                            <a:rPr lang="en-US" sz="2700" i="1">
                              <a:latin typeface="Cambria Math"/>
                            </a:rPr>
                            <m:t>𝑤</m:t>
                          </m:r>
                          <m:r>
                            <a:rPr lang="en-US" sz="2700" i="1">
                              <a:latin typeface="Cambria Math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sz="2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700" i="1">
                              <a:latin typeface="Cambria Math"/>
                            </a:rPr>
                            <m:t>𝑡</m:t>
                          </m:r>
                          <m:r>
                            <a:rPr lang="en-US" sz="2700" i="1">
                              <a:latin typeface="Cambria Math"/>
                            </a:rPr>
                            <m:t>−</m:t>
                          </m:r>
                          <m:r>
                            <a:rPr lang="en-US" sz="2700" i="1">
                              <a:latin typeface="Cambria Math"/>
                            </a:rPr>
                            <m:t>𝑤</m:t>
                          </m:r>
                          <m:r>
                            <a:rPr lang="en-US" sz="2700" i="1"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700" dirty="0" smtClean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r>
                  <a:rPr lang="en-US" i="1" dirty="0"/>
                  <a:t>h</a:t>
                </a:r>
                <a:r>
                  <a:rPr lang="en-US" dirty="0" smtClean="0"/>
                  <a:t> – weights</a:t>
                </a:r>
              </a:p>
              <a:p>
                <a:pPr marL="0" indent="0">
                  <a:buNone/>
                </a:pPr>
                <a:r>
                  <a:rPr lang="en-US" i="1" dirty="0" smtClean="0"/>
                  <a:t>w</a:t>
                </a:r>
                <a:r>
                  <a:rPr lang="en-US" dirty="0" smtClean="0"/>
                  <a:t> – window size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2334" b="-2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807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612</Words>
  <Application>Microsoft Office PowerPoint</Application>
  <PresentationFormat>On-screen Show (16:9)</PresentationFormat>
  <Paragraphs>73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Temă Office</vt:lpstr>
      <vt:lpstr>Smoothing Methods</vt:lpstr>
      <vt:lpstr>Smoothing methods</vt:lpstr>
      <vt:lpstr>Moving average</vt:lpstr>
      <vt:lpstr>Moving average</vt:lpstr>
      <vt:lpstr>Moving average</vt:lpstr>
      <vt:lpstr>Centered Moving Average</vt:lpstr>
      <vt:lpstr>Centered moving average</vt:lpstr>
      <vt:lpstr>Centered moving average</vt:lpstr>
      <vt:lpstr>Centered moving average</vt:lpstr>
      <vt:lpstr>Centered moving average</vt:lpstr>
      <vt:lpstr>Centered moving average</vt:lpstr>
      <vt:lpstr>Trailing Moving Average</vt:lpstr>
      <vt:lpstr>Trailing moving average</vt:lpstr>
      <vt:lpstr>Trailing moving average</vt:lpstr>
      <vt:lpstr>Trailing moving average</vt:lpstr>
      <vt:lpstr>Trailing moving average</vt:lpstr>
      <vt:lpstr>Weighted Moving Average</vt:lpstr>
      <vt:lpstr>Weighted moving average</vt:lpstr>
      <vt:lpstr>Weighted moving average</vt:lpstr>
      <vt:lpstr>Weighted moving average</vt:lpstr>
      <vt:lpstr>Weighted moving average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107</cp:revision>
  <dcterms:created xsi:type="dcterms:W3CDTF">2014-10-10T10:38:27Z</dcterms:created>
  <dcterms:modified xsi:type="dcterms:W3CDTF">2022-09-12T06:05:59Z</dcterms:modified>
</cp:coreProperties>
</file>