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7" r:id="rId3"/>
    <p:sldId id="278" r:id="rId4"/>
    <p:sldId id="279" r:id="rId5"/>
    <p:sldId id="280" r:id="rId6"/>
    <p:sldId id="281" r:id="rId7"/>
    <p:sldId id="290" r:id="rId8"/>
    <p:sldId id="282" r:id="rId9"/>
    <p:sldId id="283" r:id="rId10"/>
    <p:sldId id="284" r:id="rId11"/>
    <p:sldId id="285" r:id="rId12"/>
    <p:sldId id="286" r:id="rId13"/>
    <p:sldId id="291" r:id="rId14"/>
    <p:sldId id="287" r:id="rId15"/>
    <p:sldId id="288" r:id="rId16"/>
    <p:sldId id="289" r:id="rId17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10" d="100"/>
          <a:sy n="110" d="100"/>
        </p:scale>
        <p:origin x="-658" y="-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zitiv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ro-RO" smtClean="0"/>
              <a:t>Clic pentru editare stil titlu</a:t>
            </a:r>
            <a:endParaRPr lang="en-US"/>
          </a:p>
        </p:txBody>
      </p:sp>
      <p:sp>
        <p:nvSpPr>
          <p:cNvPr id="3" name="Subtitlu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o-RO" smtClean="0"/>
              <a:t>Clic pentru a edita stilul de subtitlu</a:t>
            </a:r>
            <a:endParaRPr lang="en-US"/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90478-133C-46F1-90F4-8C4DA2D1FDEE}" type="datetimeFigureOut">
              <a:rPr lang="en-US" smtClean="0"/>
              <a:t>5/30/2022</a:t>
            </a:fld>
            <a:endParaRPr lang="en-US"/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AE3AD-3339-4CC0-BAFD-E0A16E3F6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430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mtClean="0"/>
              <a:t>Clic pentru editare stil titlu</a:t>
            </a:r>
            <a:endParaRPr lang="en-US"/>
          </a:p>
        </p:txBody>
      </p:sp>
      <p:sp>
        <p:nvSpPr>
          <p:cNvPr id="3" name="Substituent conținu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o-RO" smtClean="0"/>
              <a:t>Clic pentru editare stiluri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/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90478-133C-46F1-90F4-8C4DA2D1FDEE}" type="datetimeFigureOut">
              <a:rPr lang="en-US" smtClean="0"/>
              <a:t>5/30/2022</a:t>
            </a:fld>
            <a:endParaRPr lang="en-US"/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AE3AD-3339-4CC0-BAFD-E0A16E3F6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95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o-RO" smtClean="0"/>
              <a:t>Clic pentru editare stil titlu</a:t>
            </a:r>
            <a:endParaRPr lang="en-US"/>
          </a:p>
        </p:txBody>
      </p:sp>
      <p:sp>
        <p:nvSpPr>
          <p:cNvPr id="3" name="Substituent text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 smtClean="0"/>
              <a:t>Clic pentru editare stiluri text Coordonator</a:t>
            </a:r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90478-133C-46F1-90F4-8C4DA2D1FDEE}" type="datetimeFigureOut">
              <a:rPr lang="en-US" smtClean="0"/>
              <a:t>5/30/2022</a:t>
            </a:fld>
            <a:endParaRPr lang="en-US"/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AE3AD-3339-4CC0-BAFD-E0A16E3F6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357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mtClean="0"/>
              <a:t>Clic pentru editare stil titlu</a:t>
            </a:r>
            <a:endParaRPr lang="en-US"/>
          </a:p>
        </p:txBody>
      </p:sp>
      <p:sp>
        <p:nvSpPr>
          <p:cNvPr id="3" name="Substituent conținut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o-RO" smtClean="0"/>
              <a:t>Clic pentru editare stiluri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/>
          </a:p>
        </p:txBody>
      </p:sp>
      <p:sp>
        <p:nvSpPr>
          <p:cNvPr id="4" name="Substituent conținut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o-RO" smtClean="0"/>
              <a:t>Clic pentru editare stiluri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/>
          </a:p>
        </p:txBody>
      </p:sp>
      <p:sp>
        <p:nvSpPr>
          <p:cNvPr id="5" name="Substituent dată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90478-133C-46F1-90F4-8C4DA2D1FDEE}" type="datetimeFigureOut">
              <a:rPr lang="en-US" smtClean="0"/>
              <a:t>5/30/2022</a:t>
            </a:fld>
            <a:endParaRPr lang="en-US"/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AE3AD-3339-4CC0-BAFD-E0A16E3F6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657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o-RO" smtClean="0"/>
              <a:t>Clic pentru editare stil titlu</a:t>
            </a:r>
            <a:endParaRPr lang="en-US"/>
          </a:p>
        </p:txBody>
      </p:sp>
      <p:sp>
        <p:nvSpPr>
          <p:cNvPr id="3" name="Substituent text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 smtClean="0"/>
              <a:t>Clic pentru editare stiluri text Coordonator</a:t>
            </a:r>
          </a:p>
        </p:txBody>
      </p:sp>
      <p:sp>
        <p:nvSpPr>
          <p:cNvPr id="4" name="Substituent conținut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o-RO" smtClean="0"/>
              <a:t>Clic pentru editare stiluri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/>
          </a:p>
        </p:txBody>
      </p:sp>
      <p:sp>
        <p:nvSpPr>
          <p:cNvPr id="5" name="Substituent text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 smtClean="0"/>
              <a:t>Clic pentru editare stiluri text Coordonator</a:t>
            </a:r>
          </a:p>
        </p:txBody>
      </p:sp>
      <p:sp>
        <p:nvSpPr>
          <p:cNvPr id="6" name="Substituent conținut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o-RO" smtClean="0"/>
              <a:t>Clic pentru editare stiluri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/>
          </a:p>
        </p:txBody>
      </p:sp>
      <p:sp>
        <p:nvSpPr>
          <p:cNvPr id="7" name="Substituent dată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90478-133C-46F1-90F4-8C4DA2D1FDEE}" type="datetimeFigureOut">
              <a:rPr lang="en-US" smtClean="0"/>
              <a:t>5/30/2022</a:t>
            </a:fld>
            <a:endParaRPr lang="en-US"/>
          </a:p>
        </p:txBody>
      </p:sp>
      <p:sp>
        <p:nvSpPr>
          <p:cNvPr id="8" name="Substituent subsol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ubstituent număr diapozitiv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AE3AD-3339-4CC0-BAFD-E0A16E3F6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11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mtClean="0"/>
              <a:t>Clic pentru editare stil titlu</a:t>
            </a:r>
            <a:endParaRPr lang="en-US"/>
          </a:p>
        </p:txBody>
      </p:sp>
      <p:sp>
        <p:nvSpPr>
          <p:cNvPr id="3" name="Substituent dată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90478-133C-46F1-90F4-8C4DA2D1FDEE}" type="datetimeFigureOut">
              <a:rPr lang="en-US" smtClean="0"/>
              <a:t>5/30/2022</a:t>
            </a:fld>
            <a:endParaRPr lang="en-US"/>
          </a:p>
        </p:txBody>
      </p:sp>
      <p:sp>
        <p:nvSpPr>
          <p:cNvPr id="4" name="Substituent subsol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ubstituent număr diapozitiv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AE3AD-3339-4CC0-BAFD-E0A16E3F6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816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dată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90478-133C-46F1-90F4-8C4DA2D1FDEE}" type="datetimeFigureOut">
              <a:rPr lang="en-US" smtClean="0"/>
              <a:t>5/30/2022</a:t>
            </a:fld>
            <a:endParaRPr lang="en-US"/>
          </a:p>
        </p:txBody>
      </p:sp>
      <p:sp>
        <p:nvSpPr>
          <p:cNvPr id="3" name="Substituent subsol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AE3AD-3339-4CC0-BAFD-E0A16E3F6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911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o-RO" smtClean="0"/>
              <a:t>Clic pentru editare stil titlu</a:t>
            </a:r>
            <a:endParaRPr lang="en-US"/>
          </a:p>
        </p:txBody>
      </p:sp>
      <p:sp>
        <p:nvSpPr>
          <p:cNvPr id="3" name="Substituent conținut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o-RO" smtClean="0"/>
              <a:t>Clic pentru editare stiluri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/>
          </a:p>
        </p:txBody>
      </p:sp>
      <p:sp>
        <p:nvSpPr>
          <p:cNvPr id="4" name="Substituent text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 smtClean="0"/>
              <a:t>Clic pentru editare stiluri text Coordonator</a:t>
            </a:r>
          </a:p>
        </p:txBody>
      </p:sp>
      <p:sp>
        <p:nvSpPr>
          <p:cNvPr id="5" name="Substituent dată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90478-133C-46F1-90F4-8C4DA2D1FDEE}" type="datetimeFigureOut">
              <a:rPr lang="en-US" smtClean="0"/>
              <a:t>5/30/2022</a:t>
            </a:fld>
            <a:endParaRPr lang="en-US"/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AE3AD-3339-4CC0-BAFD-E0A16E3F6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92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o-RO" smtClean="0"/>
              <a:t>Clic pentru editare stil titlu</a:t>
            </a:r>
            <a:endParaRPr lang="en-US"/>
          </a:p>
        </p:txBody>
      </p:sp>
      <p:sp>
        <p:nvSpPr>
          <p:cNvPr id="3" name="Substituent imagine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ubstituent text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 smtClean="0"/>
              <a:t>Clic pentru editare stiluri text Coordonator</a:t>
            </a:r>
          </a:p>
        </p:txBody>
      </p:sp>
      <p:sp>
        <p:nvSpPr>
          <p:cNvPr id="5" name="Substituent dată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90478-133C-46F1-90F4-8C4DA2D1FDEE}" type="datetimeFigureOut">
              <a:rPr lang="en-US" smtClean="0"/>
              <a:t>5/30/2022</a:t>
            </a:fld>
            <a:endParaRPr lang="en-US"/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AE3AD-3339-4CC0-BAFD-E0A16E3F6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4602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mtClean="0"/>
              <a:t>Clic pentru editare stil titlu</a:t>
            </a:r>
            <a:endParaRPr lang="en-US"/>
          </a:p>
        </p:txBody>
      </p:sp>
      <p:sp>
        <p:nvSpPr>
          <p:cNvPr id="3" name="Substituent text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o-RO" smtClean="0"/>
              <a:t>Clic pentru editare stiluri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/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90478-133C-46F1-90F4-8C4DA2D1FDEE}" type="datetimeFigureOut">
              <a:rPr lang="en-US" smtClean="0"/>
              <a:t>5/30/2022</a:t>
            </a:fld>
            <a:endParaRPr lang="en-US"/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AE3AD-3339-4CC0-BAFD-E0A16E3F6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8260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vertical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ro-RO" smtClean="0"/>
              <a:t>Clic pentru editare stil titlu</a:t>
            </a:r>
            <a:endParaRPr lang="en-US"/>
          </a:p>
        </p:txBody>
      </p:sp>
      <p:sp>
        <p:nvSpPr>
          <p:cNvPr id="3" name="Substituent text vertical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ro-RO" smtClean="0"/>
              <a:t>Clic pentru editare stiluri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/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90478-133C-46F1-90F4-8C4DA2D1FDEE}" type="datetimeFigureOut">
              <a:rPr lang="en-US" smtClean="0"/>
              <a:t>5/30/2022</a:t>
            </a:fld>
            <a:endParaRPr lang="en-US"/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AE3AD-3339-4CC0-BAFD-E0A16E3F6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5550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titlu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o-RO" smtClean="0"/>
              <a:t>Clic pentru editare stil titlu</a:t>
            </a:r>
            <a:endParaRPr lang="en-US"/>
          </a:p>
        </p:txBody>
      </p:sp>
      <p:sp>
        <p:nvSpPr>
          <p:cNvPr id="3" name="Substituent text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o-RO" smtClean="0"/>
              <a:t>Clic pentru editare stiluri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/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490478-133C-46F1-90F4-8C4DA2D1FDEE}" type="datetimeFigureOut">
              <a:rPr lang="en-US" smtClean="0"/>
              <a:t>5/30/2022</a:t>
            </a:fld>
            <a:endParaRPr lang="en-US"/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AE3AD-3339-4CC0-BAFD-E0A16E3F6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517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4200" b="1" smtClean="0">
                <a:ln>
                  <a:solidFill>
                    <a:schemeClr val="tx1">
                      <a:alpha val="70000"/>
                    </a:schemeClr>
                  </a:solidFill>
                </a:ln>
                <a:solidFill>
                  <a:srgbClr val="FF0000"/>
                </a:solidFill>
                <a:effectLst>
                  <a:outerShdw blurRad="50800" dist="38100" dir="2700000" algn="tl" rotWithShape="0">
                    <a:prstClr val="black">
                      <a:alpha val="23000"/>
                    </a:prstClr>
                  </a:outerShdw>
                </a:effectLst>
              </a:rPr>
              <a:t>Neural Networks</a:t>
            </a:r>
            <a:endParaRPr lang="en-US" sz="4200" b="1">
              <a:ln>
                <a:solidFill>
                  <a:schemeClr val="tx1">
                    <a:alpha val="70000"/>
                  </a:schemeClr>
                </a:solidFill>
              </a:ln>
              <a:solidFill>
                <a:srgbClr val="FF0000"/>
              </a:solidFill>
              <a:effectLst>
                <a:outerShdw blurRad="50800" dist="38100" dir="2700000" algn="tl" rotWithShape="0">
                  <a:prstClr val="black">
                    <a:alpha val="23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85168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What are neural networks?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endParaRPr lang="en-US" smtClean="0"/>
          </a:p>
          <a:p>
            <a:pPr marL="0" indent="0">
              <a:buNone/>
            </a:pPr>
            <a:r>
              <a:rPr lang="en-US" smtClean="0"/>
              <a:t>Neural </a:t>
            </a:r>
            <a:r>
              <a:rPr lang="en-US"/>
              <a:t>networks (NN), also called artificial neural networks (ANN), are a particular class of machine learning systems. Their structure replicates the biological neural networks that compose the animal brain.</a:t>
            </a:r>
          </a:p>
        </p:txBody>
      </p:sp>
    </p:spTree>
    <p:extLst>
      <p:ext uri="{BB962C8B-B14F-4D97-AF65-F5344CB8AC3E}">
        <p14:creationId xmlns:p14="http://schemas.microsoft.com/office/powerpoint/2010/main" val="12877789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What are neural networks?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600" smtClean="0"/>
              <a:t>Neural </a:t>
            </a:r>
            <a:r>
              <a:rPr lang="en-US" sz="2600"/>
              <a:t>networks are used for many predictive tasks, including time series forecasting. They can handle complex relationships between input and output variables. </a:t>
            </a:r>
            <a:endParaRPr lang="en-US" sz="2600" smtClean="0"/>
          </a:p>
          <a:p>
            <a:pPr marL="0" indent="0">
              <a:buNone/>
            </a:pPr>
            <a:endParaRPr lang="en-US" sz="2600"/>
          </a:p>
          <a:p>
            <a:pPr marL="0" indent="0">
              <a:buNone/>
            </a:pPr>
            <a:r>
              <a:rPr lang="en-US" sz="2600"/>
              <a:t>D</a:t>
            </a:r>
            <a:r>
              <a:rPr lang="en-US" sz="2600" smtClean="0"/>
              <a:t>rawback: they are </a:t>
            </a:r>
            <a:r>
              <a:rPr lang="en-US" sz="2600"/>
              <a:t>“black box” systems, so the model relationships are pretty hard to describe and understand.</a:t>
            </a:r>
          </a:p>
        </p:txBody>
      </p:sp>
    </p:spTree>
    <p:extLst>
      <p:ext uri="{BB962C8B-B14F-4D97-AF65-F5344CB8AC3E}">
        <p14:creationId xmlns:p14="http://schemas.microsoft.com/office/powerpoint/2010/main" val="14466858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What are neural networks?</a:t>
            </a:r>
            <a:endParaRPr lang="en-US"/>
          </a:p>
        </p:txBody>
      </p:sp>
      <p:pic>
        <p:nvPicPr>
          <p:cNvPr id="4" name="Substituent conținut 1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00" y="1276350"/>
            <a:ext cx="5036703" cy="3505200"/>
          </a:xfrm>
        </p:spPr>
      </p:pic>
    </p:spTree>
    <p:extLst>
      <p:ext uri="{BB962C8B-B14F-4D97-AF65-F5344CB8AC3E}">
        <p14:creationId xmlns:p14="http://schemas.microsoft.com/office/powerpoint/2010/main" val="4305017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What are neural networks?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lvl="0" indent="0">
              <a:buNone/>
            </a:pPr>
            <a:r>
              <a:rPr lang="en-US" smtClean="0"/>
              <a:t>Basic structure of a neural netowrk</a:t>
            </a:r>
          </a:p>
          <a:p>
            <a:pPr marL="0" lvl="0" indent="0">
              <a:buNone/>
            </a:pPr>
            <a:endParaRPr lang="en-US"/>
          </a:p>
          <a:p>
            <a:pPr marL="514350" lvl="0" indent="-514350">
              <a:buFont typeface="+mj-lt"/>
              <a:buAutoNum type="arabicPeriod"/>
            </a:pPr>
            <a:r>
              <a:rPr lang="en-US" smtClean="0"/>
              <a:t>An </a:t>
            </a:r>
            <a:r>
              <a:rPr lang="en-US"/>
              <a:t>input layer, that contains the values of the predictors</a:t>
            </a:r>
            <a:r>
              <a:rPr lang="en-US" smtClean="0"/>
              <a:t>.</a:t>
            </a:r>
            <a:endParaRPr lang="en-US"/>
          </a:p>
          <a:p>
            <a:pPr marL="514350" lvl="0" indent="-514350">
              <a:buFont typeface="+mj-lt"/>
              <a:buAutoNum type="arabicPeriod"/>
            </a:pPr>
            <a:r>
              <a:rPr lang="en-US" smtClean="0"/>
              <a:t>One </a:t>
            </a:r>
            <a:r>
              <a:rPr lang="en-US"/>
              <a:t>or more hidden layers. A hidden takes the inputs from the previous layers, apply some transformations to them and passes the output to the next layers</a:t>
            </a:r>
            <a:r>
              <a:rPr lang="en-US" smtClean="0"/>
              <a:t>.</a:t>
            </a:r>
            <a:r>
              <a:rPr lang="en-US"/>
              <a:t> 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/>
              <a:t>The output layer contains the predicted values, computed based on the inputs received from the hidden layers.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6136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What are neural networks?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/>
              <a:t>In each node of the hidden layers, two operations are applied to the input values:</a:t>
            </a:r>
          </a:p>
          <a:p>
            <a:pPr marL="0" indent="0">
              <a:buNone/>
            </a:pPr>
            <a:endParaRPr lang="en-US"/>
          </a:p>
          <a:p>
            <a:pPr marL="514350" lvl="0" indent="-514350">
              <a:buFont typeface="+mj-lt"/>
              <a:buAutoNum type="arabicPeriod"/>
            </a:pPr>
            <a:r>
              <a:rPr lang="en-US" i="1"/>
              <a:t>summation</a:t>
            </a:r>
            <a:r>
              <a:rPr lang="en-US"/>
              <a:t>, that is, performing a weighted sum of the input values </a:t>
            </a:r>
          </a:p>
          <a:p>
            <a:pPr marL="514350" indent="-514350">
              <a:buFont typeface="+mj-lt"/>
              <a:buAutoNum type="arabicPeriod"/>
            </a:pPr>
            <a:endParaRPr lang="en-US"/>
          </a:p>
          <a:p>
            <a:pPr marL="514350" lvl="0" indent="-514350">
              <a:buFont typeface="+mj-lt"/>
              <a:buAutoNum type="arabicPeriod"/>
            </a:pPr>
            <a:r>
              <a:rPr lang="en-US" i="1"/>
              <a:t>activation:</a:t>
            </a:r>
            <a:r>
              <a:rPr lang="en-US"/>
              <a:t> an activation function is applied to the sum. </a:t>
            </a:r>
            <a:endParaRPr lang="en-US" smtClean="0"/>
          </a:p>
          <a:p>
            <a:pPr marL="0" lvl="0" indent="0">
              <a:buNone/>
            </a:pPr>
            <a:endParaRPr lang="en-US"/>
          </a:p>
          <a:p>
            <a:pPr marL="0" lvl="0" indent="0">
              <a:buNone/>
            </a:pPr>
            <a:r>
              <a:rPr lang="en-US" smtClean="0"/>
              <a:t>The </a:t>
            </a:r>
            <a:r>
              <a:rPr lang="en-US"/>
              <a:t>most common types of activation functions </a:t>
            </a:r>
            <a:r>
              <a:rPr lang="en-US" smtClean="0"/>
              <a:t>are: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lvl="0">
              <a:buFont typeface="Wingdings" panose="05000000000000000000" pitchFamily="2" charset="2"/>
              <a:buChar char="Ø"/>
            </a:pPr>
            <a:r>
              <a:rPr lang="en-US"/>
              <a:t>linear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/>
              <a:t>exponential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/>
              <a:t>logit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/>
              <a:t>tangential </a:t>
            </a:r>
            <a:r>
              <a:rPr lang="en-US" smtClean="0"/>
              <a:t>hyperbolic</a:t>
            </a:r>
            <a:endParaRPr lang="en-US"/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0390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4200" b="1" smtClean="0">
                <a:ln>
                  <a:solidFill>
                    <a:schemeClr val="tx1">
                      <a:alpha val="70000"/>
                    </a:schemeClr>
                  </a:solidFill>
                </a:ln>
                <a:solidFill>
                  <a:srgbClr val="FF0000"/>
                </a:solidFill>
                <a:effectLst>
                  <a:outerShdw blurRad="50800" dist="38100" dir="2700000" algn="tl" rotWithShape="0">
                    <a:prstClr val="black">
                      <a:alpha val="23000"/>
                    </a:prstClr>
                  </a:outerShdw>
                </a:effectLst>
              </a:rPr>
              <a:t>Model Preparation</a:t>
            </a:r>
            <a:endParaRPr lang="en-US" sz="4200" b="1">
              <a:ln>
                <a:solidFill>
                  <a:schemeClr val="tx1">
                    <a:alpha val="70000"/>
                  </a:schemeClr>
                </a:solidFill>
              </a:ln>
              <a:solidFill>
                <a:srgbClr val="FF0000"/>
              </a:solidFill>
              <a:effectLst>
                <a:outerShdw blurRad="50800" dist="38100" dir="2700000" algn="tl" rotWithShape="0">
                  <a:prstClr val="black">
                    <a:alpha val="23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78542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Model preparation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/>
              <a:t>C</a:t>
            </a:r>
            <a:r>
              <a:rPr lang="en-US" smtClean="0"/>
              <a:t>reate </a:t>
            </a:r>
            <a:r>
              <a:rPr lang="en-US"/>
              <a:t>derived </a:t>
            </a:r>
            <a:r>
              <a:rPr lang="en-US" smtClean="0"/>
              <a:t>predictors, i.e lagged </a:t>
            </a:r>
            <a:r>
              <a:rPr lang="en-US"/>
              <a:t>versions of the time series (just as we </a:t>
            </a:r>
            <a:r>
              <a:rPr lang="en-US" smtClean="0"/>
              <a:t>did </a:t>
            </a:r>
            <a:r>
              <a:rPr lang="en-US"/>
              <a:t>for the ARIMA models). These variables will be the inputs of our neural network.</a:t>
            </a:r>
          </a:p>
        </p:txBody>
      </p:sp>
    </p:spTree>
    <p:extLst>
      <p:ext uri="{BB962C8B-B14F-4D97-AF65-F5344CB8AC3E}">
        <p14:creationId xmlns:p14="http://schemas.microsoft.com/office/powerpoint/2010/main" val="11226031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Model preparation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/>
              <a:t>R</a:t>
            </a:r>
            <a:r>
              <a:rPr lang="en-US" smtClean="0"/>
              <a:t>emove </a:t>
            </a:r>
            <a:r>
              <a:rPr lang="en-US"/>
              <a:t>the missing values in our derived predictors. </a:t>
            </a:r>
            <a:r>
              <a:rPr lang="en-US" smtClean="0"/>
              <a:t>Lagged </a:t>
            </a:r>
            <a:r>
              <a:rPr lang="en-US"/>
              <a:t>variables have missing values in the first rows (for example, a 3-order lag has 3 missing values). </a:t>
            </a:r>
            <a:r>
              <a:rPr lang="en-US" smtClean="0"/>
              <a:t>We </a:t>
            </a:r>
            <a:r>
              <a:rPr lang="en-US"/>
              <a:t>must eliminate all the rows with missing values before proceeding to the analysis.</a:t>
            </a:r>
          </a:p>
        </p:txBody>
      </p:sp>
    </p:spTree>
    <p:extLst>
      <p:ext uri="{BB962C8B-B14F-4D97-AF65-F5344CB8AC3E}">
        <p14:creationId xmlns:p14="http://schemas.microsoft.com/office/powerpoint/2010/main" val="6608480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Model preparation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mtClean="0"/>
              <a:t>Scale variables. </a:t>
            </a:r>
            <a:r>
              <a:rPr lang="en-US"/>
              <a:t>Neural networks work better when the values of the input variables are between 0 and 1, or between -1 and 1. So we have to apply some scaling method to the initial values.</a:t>
            </a:r>
          </a:p>
        </p:txBody>
      </p:sp>
    </p:spTree>
    <p:extLst>
      <p:ext uri="{BB962C8B-B14F-4D97-AF65-F5344CB8AC3E}">
        <p14:creationId xmlns:p14="http://schemas.microsoft.com/office/powerpoint/2010/main" val="23173028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Model preparation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/>
              <a:t>R</a:t>
            </a:r>
            <a:r>
              <a:rPr lang="en-US" smtClean="0"/>
              <a:t>emove </a:t>
            </a:r>
            <a:r>
              <a:rPr lang="en-US"/>
              <a:t>trend and </a:t>
            </a:r>
            <a:r>
              <a:rPr lang="en-US" smtClean="0"/>
              <a:t>seasonality. Practice </a:t>
            </a:r>
            <a:r>
              <a:rPr lang="en-US"/>
              <a:t>has shown that the network performance is better when the series is de-trended and de-seasonalized. T</a:t>
            </a:r>
            <a:r>
              <a:rPr lang="en-US" smtClean="0"/>
              <a:t>echniques </a:t>
            </a:r>
            <a:r>
              <a:rPr lang="en-US"/>
              <a:t>like exponential smoothing, regression, logarithms etc. are employed at this step.</a:t>
            </a:r>
          </a:p>
        </p:txBody>
      </p:sp>
    </p:spTree>
    <p:extLst>
      <p:ext uri="{BB962C8B-B14F-4D97-AF65-F5344CB8AC3E}">
        <p14:creationId xmlns:p14="http://schemas.microsoft.com/office/powerpoint/2010/main" val="26403961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Model preparation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mtClean="0"/>
              <a:t>Other decisions concern:</a:t>
            </a:r>
          </a:p>
          <a:p>
            <a:pPr marL="0" indent="0">
              <a:buNone/>
            </a:pPr>
            <a:endParaRPr lang="en-US"/>
          </a:p>
          <a:p>
            <a:pPr>
              <a:buFont typeface="Wingdings" panose="05000000000000000000" pitchFamily="2" charset="2"/>
              <a:buChar char="Ø"/>
            </a:pPr>
            <a:r>
              <a:rPr lang="en-US" smtClean="0"/>
              <a:t>the </a:t>
            </a:r>
            <a:r>
              <a:rPr lang="en-US"/>
              <a:t>number of hidden layers (usually 1-2 layers are enough, too many hidden layers can lead to overfitting)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/>
              <a:t>the number of nodes in the hidden layers (this is a matter of trial and </a:t>
            </a:r>
            <a:r>
              <a:rPr lang="en-US" smtClean="0"/>
              <a:t>error)</a:t>
            </a:r>
            <a:endParaRPr lang="en-US"/>
          </a:p>
          <a:p>
            <a:pPr lvl="0">
              <a:buFont typeface="Wingdings" panose="05000000000000000000" pitchFamily="2" charset="2"/>
              <a:buChar char="Ø"/>
            </a:pPr>
            <a:r>
              <a:rPr lang="en-US"/>
              <a:t>the activation function (the most common activation functions are the s-shaped, </a:t>
            </a:r>
            <a:r>
              <a:rPr lang="en-US" smtClean="0"/>
              <a:t>e.g. logit </a:t>
            </a:r>
            <a:r>
              <a:rPr lang="en-US"/>
              <a:t>or hyperbolic tangent)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3653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4200" b="1" smtClean="0">
                <a:ln>
                  <a:solidFill>
                    <a:schemeClr val="tx1">
                      <a:alpha val="70000"/>
                    </a:schemeClr>
                  </a:solidFill>
                </a:ln>
                <a:solidFill>
                  <a:srgbClr val="FF0000"/>
                </a:solidFill>
                <a:effectLst>
                  <a:outerShdw blurRad="50800" dist="38100" dir="2700000" algn="tl" rotWithShape="0">
                    <a:prstClr val="black">
                      <a:alpha val="23000"/>
                    </a:prstClr>
                  </a:outerShdw>
                </a:effectLst>
              </a:rPr>
              <a:t>The nnetar() Function</a:t>
            </a:r>
            <a:endParaRPr lang="en-US" sz="4200" b="1">
              <a:ln>
                <a:solidFill>
                  <a:schemeClr val="tx1">
                    <a:alpha val="70000"/>
                  </a:schemeClr>
                </a:solidFill>
              </a:ln>
              <a:solidFill>
                <a:srgbClr val="FF0000"/>
              </a:solidFill>
              <a:effectLst>
                <a:outerShdw blurRad="50800" dist="38100" dir="2700000" algn="tl" rotWithShape="0">
                  <a:prstClr val="black">
                    <a:alpha val="23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40766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The nnetar() function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mtClean="0"/>
          </a:p>
          <a:p>
            <a:pPr marL="0" indent="0">
              <a:buNone/>
            </a:pPr>
            <a:r>
              <a:rPr lang="en-US" sz="3500" smtClean="0"/>
              <a:t>The nnetar() function can be used to build neural networks for time series forecasting.</a:t>
            </a:r>
            <a:endParaRPr lang="en-US" sz="3500"/>
          </a:p>
        </p:txBody>
      </p:sp>
    </p:spTree>
    <p:extLst>
      <p:ext uri="{BB962C8B-B14F-4D97-AF65-F5344CB8AC3E}">
        <p14:creationId xmlns:p14="http://schemas.microsoft.com/office/powerpoint/2010/main" val="36380193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The nnetar() function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mtClean="0"/>
              <a:t>This function does all </a:t>
            </a:r>
            <a:r>
              <a:rPr lang="en-US"/>
              <a:t>the data pre-processing </a:t>
            </a:r>
            <a:r>
              <a:rPr lang="en-US" smtClean="0"/>
              <a:t>work automatically:</a:t>
            </a:r>
          </a:p>
          <a:p>
            <a:pPr marL="0" indent="0">
              <a:buNone/>
            </a:pPr>
            <a:endParaRPr lang="en-US"/>
          </a:p>
          <a:p>
            <a:pPr lvl="0"/>
            <a:r>
              <a:rPr lang="en-US"/>
              <a:t>creates lag variables (derived predictors)</a:t>
            </a:r>
          </a:p>
          <a:p>
            <a:pPr lvl="0"/>
            <a:r>
              <a:rPr lang="en-US"/>
              <a:t>removes rows with missing values</a:t>
            </a:r>
          </a:p>
          <a:p>
            <a:pPr lvl="0"/>
            <a:r>
              <a:rPr lang="en-US"/>
              <a:t>scales the predictors</a:t>
            </a:r>
          </a:p>
          <a:p>
            <a:pPr lvl="0"/>
            <a:r>
              <a:rPr lang="en-US"/>
              <a:t>removes trend and seasonality (</a:t>
            </a:r>
            <a:r>
              <a:rPr lang="en-US" b="1"/>
              <a:t>and</a:t>
            </a:r>
            <a:r>
              <a:rPr lang="en-US"/>
              <a:t> brings them back into the series when making </a:t>
            </a:r>
            <a:r>
              <a:rPr lang="en-US" smtClean="0"/>
              <a:t>forecasts)</a:t>
            </a:r>
            <a:endParaRPr lang="en-US"/>
          </a:p>
          <a:p>
            <a:pPr marL="0" indent="0">
              <a:buNone/>
            </a:pPr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9119149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The nnetar() function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mtClean="0"/>
              <a:t>Arguments: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lvl="0">
              <a:buFont typeface="Wingdings" panose="05000000000000000000" pitchFamily="2" charset="2"/>
              <a:buChar char="Ø"/>
            </a:pPr>
            <a:r>
              <a:rPr lang="en-US" i="1"/>
              <a:t>p</a:t>
            </a:r>
            <a:r>
              <a:rPr lang="en-US"/>
              <a:t> – the number of non-seasonal lags included in the model. The default value of this parameter is the number of lags for a linear AR(p) model. So we can let the program set this argument for us.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i="1"/>
              <a:t>P</a:t>
            </a:r>
            <a:r>
              <a:rPr lang="en-US"/>
              <a:t> – the number of seasonal lags. The most common values are 1 for </a:t>
            </a:r>
            <a:r>
              <a:rPr lang="en-US" smtClean="0"/>
              <a:t>seasonal </a:t>
            </a:r>
            <a:r>
              <a:rPr lang="en-US"/>
              <a:t>time series and zero for </a:t>
            </a:r>
            <a:r>
              <a:rPr lang="en-US" smtClean="0"/>
              <a:t>non-seasonal ones.</a:t>
            </a:r>
            <a:endParaRPr lang="en-US"/>
          </a:p>
          <a:p>
            <a:pPr lvl="0">
              <a:buFont typeface="Wingdings" panose="05000000000000000000" pitchFamily="2" charset="2"/>
              <a:buChar char="Ø"/>
            </a:pPr>
            <a:r>
              <a:rPr lang="en-US" i="1"/>
              <a:t>size</a:t>
            </a:r>
            <a:r>
              <a:rPr lang="en-US"/>
              <a:t> – number of nodes in the hidden layer (the nnetar function builds networks with one hidden layer). The default value is the number of input variables plus 1.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i="1"/>
              <a:t>repeats</a:t>
            </a:r>
            <a:r>
              <a:rPr lang="en-US"/>
              <a:t> – number of networks to be built with different random starting weights. The default is 20. The outputs of these networks are averaged to produce the forecasts</a:t>
            </a:r>
            <a:r>
              <a:rPr lang="en-US" smtClean="0"/>
              <a:t>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415492"/>
      </p:ext>
    </p:extLst>
  </p:cSld>
  <p:clrMapOvr>
    <a:masterClrMapping/>
  </p:clrMapOvr>
</p:sld>
</file>

<file path=ppt/theme/theme1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852</TotalTime>
  <Words>646</Words>
  <Application>Microsoft Office PowerPoint</Application>
  <PresentationFormat>On-screen Show (16:9)</PresentationFormat>
  <Paragraphs>61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Temă Office</vt:lpstr>
      <vt:lpstr>Neural Networks</vt:lpstr>
      <vt:lpstr>What are neural networks?</vt:lpstr>
      <vt:lpstr>What are neural networks?</vt:lpstr>
      <vt:lpstr>What are neural networks?</vt:lpstr>
      <vt:lpstr>What are neural networks?</vt:lpstr>
      <vt:lpstr>What are neural networks?</vt:lpstr>
      <vt:lpstr>Model Preparation</vt:lpstr>
      <vt:lpstr>Model preparation</vt:lpstr>
      <vt:lpstr>Model preparation</vt:lpstr>
      <vt:lpstr>Model preparation</vt:lpstr>
      <vt:lpstr>Model preparation</vt:lpstr>
      <vt:lpstr>Model preparation</vt:lpstr>
      <vt:lpstr>The nnetar() Function</vt:lpstr>
      <vt:lpstr>The nnetar() function</vt:lpstr>
      <vt:lpstr>The nnetar() function</vt:lpstr>
      <vt:lpstr>The nnetar() function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Prezentare PowerPoint</dc:title>
  <dc:creator>bogdan</dc:creator>
  <cp:lastModifiedBy>bogdan</cp:lastModifiedBy>
  <cp:revision>187</cp:revision>
  <dcterms:created xsi:type="dcterms:W3CDTF">2014-10-10T10:38:27Z</dcterms:created>
  <dcterms:modified xsi:type="dcterms:W3CDTF">2022-05-30T10:14:14Z</dcterms:modified>
</cp:coreProperties>
</file>