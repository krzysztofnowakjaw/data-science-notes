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97" r:id="rId4"/>
    <p:sldId id="278" r:id="rId5"/>
    <p:sldId id="279" r:id="rId6"/>
    <p:sldId id="280" r:id="rId7"/>
    <p:sldId id="281" r:id="rId8"/>
    <p:sldId id="282" r:id="rId9"/>
    <p:sldId id="283" r:id="rId10"/>
    <p:sldId id="284" r:id="rId11"/>
    <p:sldId id="298" r:id="rId12"/>
    <p:sldId id="285" r:id="rId13"/>
    <p:sldId id="286" r:id="rId14"/>
    <p:sldId id="287" r:id="rId15"/>
    <p:sldId id="288" r:id="rId16"/>
    <p:sldId id="299" r:id="rId17"/>
    <p:sldId id="289" r:id="rId18"/>
    <p:sldId id="300" r:id="rId19"/>
    <p:sldId id="290" r:id="rId20"/>
    <p:sldId id="291" r:id="rId21"/>
    <p:sldId id="292" r:id="rId22"/>
    <p:sldId id="293" r:id="rId23"/>
    <p:sldId id="294" r:id="rId24"/>
    <p:sldId id="295" r:id="rId25"/>
    <p:sldId id="296" r:id="rId2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0" d="100"/>
          <a:sy n="110" d="100"/>
        </p:scale>
        <p:origin x="-658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o-RO" smtClean="0"/>
              <a:t>Clic pentru a edita stilul de subtitlu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9/12/2022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430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9/12/2022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95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9/12/2022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357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9/12/2022</a:t>
            </a:fld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57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5" name="Substituent text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6" name="Substituent conținut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7" name="Substituent dată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9/12/2022</a:t>
            </a:fld>
            <a:endParaRPr lang="en-US"/>
          </a:p>
        </p:txBody>
      </p:sp>
      <p:sp>
        <p:nvSpPr>
          <p:cNvPr id="8" name="Substituent subsol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ubstituent număr diapozitiv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11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dată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9/12/2022</a:t>
            </a:fld>
            <a:endParaRPr lang="en-US"/>
          </a:p>
        </p:txBody>
      </p:sp>
      <p:sp>
        <p:nvSpPr>
          <p:cNvPr id="4" name="Substituent subsol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816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dată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9/12/2022</a:t>
            </a:fld>
            <a:endParaRPr lang="en-US"/>
          </a:p>
        </p:txBody>
      </p:sp>
      <p:sp>
        <p:nvSpPr>
          <p:cNvPr id="3" name="Substituent subsol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911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9/12/2022</a:t>
            </a:fld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92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imagine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o-RO" smtClean="0"/>
              <a:t>Clic pentru editare stiluri text Coordonator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9/12/2022</a:t>
            </a:fld>
            <a:endParaRPr lang="en-US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460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9/12/2022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826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90478-133C-46F1-90F4-8C4DA2D1FDEE}" type="datetimeFigureOut">
              <a:rPr lang="en-US" smtClean="0"/>
              <a:t>9/12/2022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55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titlu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 smtClean="0"/>
              <a:t>Clic pentru editare stil titlu</a:t>
            </a:r>
            <a:endParaRPr lang="en-US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o-RO" smtClean="0"/>
              <a:t>Clic pentru editare stiluri text Coordonator</a:t>
            </a:r>
          </a:p>
          <a:p>
            <a:pPr lvl="1"/>
            <a:r>
              <a:rPr lang="ro-RO" smtClean="0"/>
              <a:t>Al doilea nivel</a:t>
            </a:r>
          </a:p>
          <a:p>
            <a:pPr lvl="2"/>
            <a:r>
              <a:rPr lang="ro-RO" smtClean="0"/>
              <a:t>Al treilea nivel</a:t>
            </a:r>
          </a:p>
          <a:p>
            <a:pPr lvl="3"/>
            <a:r>
              <a:rPr lang="ro-RO" smtClean="0"/>
              <a:t>Al patrulea nivel</a:t>
            </a:r>
          </a:p>
          <a:p>
            <a:pPr lvl="4"/>
            <a:r>
              <a:rPr lang="ro-RO" smtClean="0"/>
              <a:t>Al cincilea nivel</a:t>
            </a:r>
            <a:endParaRPr lang="en-US"/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490478-133C-46F1-90F4-8C4DA2D1FDEE}" type="datetimeFigureOut">
              <a:rPr lang="en-US" smtClean="0"/>
              <a:t>9/12/2022</a:t>
            </a:fld>
            <a:endParaRPr lang="en-US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AE3AD-3339-4CC0-BAFD-E0A16E3F6F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517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200" b="1" dirty="0" smtClean="0">
                <a:ln>
                  <a:solidFill>
                    <a:schemeClr val="tx1">
                      <a:alpha val="70000"/>
                    </a:schemeClr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23000"/>
                    </a:prstClr>
                  </a:outerShdw>
                </a:effectLst>
              </a:rPr>
              <a:t>Advanced Exponential Smoothing</a:t>
            </a:r>
            <a:endParaRPr lang="en-US" sz="4200" b="1" dirty="0">
              <a:ln>
                <a:solidFill>
                  <a:schemeClr val="tx1">
                    <a:alpha val="70000"/>
                  </a:schemeClr>
                </a:solidFill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23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85168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Advanced exponential smoothing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The </a:t>
            </a:r>
            <a:r>
              <a:rPr lang="en-US" dirty="0"/>
              <a:t>advanced exponential </a:t>
            </a:r>
            <a:r>
              <a:rPr lang="en-US" dirty="0" smtClean="0"/>
              <a:t>smoothing </a:t>
            </a:r>
            <a:r>
              <a:rPr lang="en-US" dirty="0"/>
              <a:t>techniques can be used when our time series has trend and/or seasonality. </a:t>
            </a:r>
          </a:p>
        </p:txBody>
      </p:sp>
    </p:spTree>
    <p:extLst>
      <p:ext uri="{BB962C8B-B14F-4D97-AF65-F5344CB8AC3E}">
        <p14:creationId xmlns:p14="http://schemas.microsoft.com/office/powerpoint/2010/main" val="1287778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200" b="1" smtClean="0">
                <a:ln>
                  <a:solidFill>
                    <a:schemeClr val="tx1">
                      <a:alpha val="70000"/>
                    </a:schemeClr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23000"/>
                    </a:prstClr>
                  </a:outerShdw>
                </a:effectLst>
              </a:rPr>
              <a:t>Additive Trend</a:t>
            </a:r>
            <a:endParaRPr lang="en-US" sz="4200" b="1" dirty="0">
              <a:ln>
                <a:solidFill>
                  <a:schemeClr val="tx1">
                    <a:alpha val="70000"/>
                  </a:schemeClr>
                </a:solidFill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23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16804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Holt’s model – additive trend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If our time series presents a trend component only, we can make forecasts using the </a:t>
            </a:r>
            <a:r>
              <a:rPr lang="en-US" i="1" dirty="0"/>
              <a:t>double exponential smoothing</a:t>
            </a:r>
            <a:r>
              <a:rPr lang="en-US" dirty="0"/>
              <a:t>, also called Holt’s linear trend model.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Holt’s </a:t>
            </a:r>
            <a:r>
              <a:rPr lang="en-US" dirty="0"/>
              <a:t>model does not assume the trend to be constant – on the contrary, it can change over time.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1155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Holt’s model – additive trend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model employs two components: level and trend.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For </a:t>
            </a:r>
            <a:r>
              <a:rPr lang="en-US" dirty="0"/>
              <a:t>each component, a smoothing parameter is used: </a:t>
            </a:r>
            <a:r>
              <a:rPr lang="el-GR" i="1" dirty="0" smtClean="0"/>
              <a:t>α</a:t>
            </a:r>
            <a:r>
              <a:rPr lang="en-US" dirty="0" smtClean="0"/>
              <a:t> </a:t>
            </a:r>
            <a:r>
              <a:rPr lang="en-US" dirty="0"/>
              <a:t>and </a:t>
            </a:r>
            <a:r>
              <a:rPr lang="el-GR" i="1" dirty="0" smtClean="0"/>
              <a:t>β</a:t>
            </a:r>
            <a:r>
              <a:rPr lang="en-US" dirty="0" smtClean="0"/>
              <a:t>, </a:t>
            </a:r>
            <a:r>
              <a:rPr lang="en-US" dirty="0"/>
              <a:t>respectively.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470029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Holt’s model – additive trend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T</a:t>
                </a:r>
                <a:r>
                  <a:rPr lang="en-US" dirty="0" smtClean="0"/>
                  <a:t>he </a:t>
                </a:r>
                <a:r>
                  <a:rPr lang="en-US" dirty="0"/>
                  <a:t>model equations </a:t>
                </a:r>
                <a:r>
                  <a:rPr lang="en-US" dirty="0" smtClean="0"/>
                  <a:t>(for an additive trend):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𝛼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+(1−</m:t>
                      </m:r>
                      <m:r>
                        <a:rPr lang="en-US" i="1">
                          <a:latin typeface="Cambria Math"/>
                        </a:rPr>
                        <m:t>𝛼</m:t>
                      </m:r>
                      <m:r>
                        <a:rPr lang="en-US" i="1">
                          <a:latin typeface="Cambria Math"/>
                        </a:rPr>
                        <m:t>)(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  <m:r>
                            <a:rPr lang="en-US" i="1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  <m:r>
                            <a:rPr lang="en-US" i="1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r>
                        <a:rPr lang="en-US" i="1">
                          <a:latin typeface="Cambria Math"/>
                        </a:rPr>
                        <m:t>𝛽</m:t>
                      </m:r>
                      <m:d>
                        <m:dPr>
                          <m:ctrlPr>
                            <a:rPr lang="en-US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/>
                        </a:rPr>
                        <m:t>+(1−</m:t>
                      </m:r>
                      <m:r>
                        <a:rPr lang="en-US" i="1">
                          <a:latin typeface="Cambria Math"/>
                        </a:rPr>
                        <m:t>𝛽</m:t>
                      </m:r>
                      <m:r>
                        <a:rPr lang="en-US" i="1">
                          <a:latin typeface="Cambria Math"/>
                        </a:rPr>
                        <m:t>)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  <m:r>
                            <a:rPr lang="en-US" i="1">
                              <a:latin typeface="Cambria Math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 smtClean="0"/>
                  <a:t>If </a:t>
                </a:r>
                <a:r>
                  <a:rPr lang="en-US" dirty="0"/>
                  <a:t>the first time period is 1, a level and a trend at time zero must be initialized. The program will do that for us.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333" t="-3591" b="-1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44478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Holt’s model – additive trend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The </a:t>
                </a:r>
                <a:r>
                  <a:rPr lang="en-US" dirty="0" smtClean="0"/>
                  <a:t>k-step </a:t>
                </a:r>
                <a:r>
                  <a:rPr lang="en-US" dirty="0"/>
                  <a:t>ahead </a:t>
                </a:r>
                <a:r>
                  <a:rPr lang="en-US" dirty="0" smtClean="0"/>
                  <a:t>forecast: 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  <m:r>
                            <a:rPr lang="en-US" i="1">
                              <a:latin typeface="Cambria Math"/>
                            </a:rPr>
                            <m:t>+</m:t>
                          </m:r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i="1">
                          <a:latin typeface="Cambria Math"/>
                        </a:rPr>
                        <m:t>𝑘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 </a:t>
                </a:r>
              </a:p>
              <a:p>
                <a:pPr marL="0" indent="0">
                  <a:buNone/>
                </a:pPr>
                <a:r>
                  <a:rPr lang="en-US" dirty="0"/>
                  <a:t>For the Holt’s model, the forecasts at time points t+1, t+2 etc. are no longer the same. They are updated at each point in time using the formulas above.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04" t="-4668" b="-55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3054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Holt’s model – additive trend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/>
                  <a:t>The </a:t>
                </a:r>
                <a:r>
                  <a:rPr lang="en-US" dirty="0" smtClean="0"/>
                  <a:t>k-step </a:t>
                </a:r>
                <a:r>
                  <a:rPr lang="en-US" dirty="0"/>
                  <a:t>ahead </a:t>
                </a:r>
                <a:r>
                  <a:rPr lang="en-US" dirty="0" smtClean="0"/>
                  <a:t>forecast: 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  <m:r>
                            <a:rPr lang="en-US" i="1">
                              <a:latin typeface="Cambria Math"/>
                            </a:rPr>
                            <m:t>+</m:t>
                          </m:r>
                          <m:r>
                            <a:rPr lang="en-US" i="1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i="1">
                          <a:latin typeface="Cambria Math"/>
                        </a:rPr>
                        <m:t>+</m:t>
                      </m:r>
                      <m:r>
                        <a:rPr lang="en-US" i="1">
                          <a:latin typeface="Cambria Math"/>
                        </a:rPr>
                        <m:t>𝑘</m:t>
                      </m:r>
                      <m:sSub>
                        <m:sSubPr>
                          <m:ctrlPr>
                            <a:rPr lang="en-US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 </a:t>
                </a:r>
              </a:p>
              <a:p>
                <a:pPr marL="0" indent="0">
                  <a:buNone/>
                </a:pPr>
                <a:r>
                  <a:rPr lang="en-US" dirty="0"/>
                  <a:t>For the Holt’s model, the forecasts at time points t+1, t+2 etc. are no longer the same. They are updated at each point in time using the formulas above.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704" t="-4668" b="-55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4540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Holt’s model – additive trend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</a:t>
            </a:r>
            <a:r>
              <a:rPr lang="en-US" dirty="0" smtClean="0"/>
              <a:t>f </a:t>
            </a:r>
            <a:r>
              <a:rPr lang="en-US" dirty="0"/>
              <a:t>we assume an additive error (so </a:t>
            </a:r>
            <a:r>
              <a:rPr lang="en-US" dirty="0" smtClean="0"/>
              <a:t>errors have </a:t>
            </a:r>
            <a:r>
              <a:rPr lang="en-US" dirty="0"/>
              <a:t>a constant size), the forecasts </a:t>
            </a:r>
            <a:r>
              <a:rPr lang="en-US" dirty="0" smtClean="0"/>
              <a:t>are </a:t>
            </a:r>
            <a:r>
              <a:rPr lang="en-US" dirty="0"/>
              <a:t>given by </a:t>
            </a:r>
            <a:r>
              <a:rPr lang="en-US" dirty="0" smtClean="0"/>
              <a:t>this </a:t>
            </a:r>
            <a:r>
              <a:rPr lang="en-US" dirty="0"/>
              <a:t>formula: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err="1"/>
              <a:t>F</a:t>
            </a:r>
            <a:r>
              <a:rPr lang="en-US" baseline="-25000" dirty="0" err="1"/>
              <a:t>t+k</a:t>
            </a:r>
            <a:r>
              <a:rPr lang="en-US" dirty="0"/>
              <a:t> = L</a:t>
            </a:r>
            <a:r>
              <a:rPr lang="en-US" baseline="-25000" dirty="0"/>
              <a:t>t</a:t>
            </a:r>
            <a:r>
              <a:rPr lang="en-US" dirty="0"/>
              <a:t> + T</a:t>
            </a:r>
            <a:r>
              <a:rPr lang="en-US" baseline="-25000" dirty="0"/>
              <a:t>t</a:t>
            </a:r>
            <a:r>
              <a:rPr lang="en-US" dirty="0"/>
              <a:t> + e</a:t>
            </a:r>
            <a:r>
              <a:rPr lang="en-US" baseline="-25000" dirty="0"/>
              <a:t>t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033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Holt’s model – additive trend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</a:t>
            </a:r>
            <a:r>
              <a:rPr lang="en-US" dirty="0" smtClean="0"/>
              <a:t>the </a:t>
            </a:r>
            <a:r>
              <a:rPr lang="en-US" dirty="0"/>
              <a:t>case </a:t>
            </a:r>
            <a:r>
              <a:rPr lang="en-US" dirty="0" smtClean="0"/>
              <a:t>of multiplicative </a:t>
            </a:r>
            <a:r>
              <a:rPr lang="en-US" dirty="0"/>
              <a:t>error </a:t>
            </a:r>
            <a:r>
              <a:rPr lang="en-US" dirty="0" smtClean="0"/>
              <a:t>the </a:t>
            </a:r>
            <a:r>
              <a:rPr lang="en-US" dirty="0"/>
              <a:t>forecast formula will be: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err="1"/>
              <a:t>F</a:t>
            </a:r>
            <a:r>
              <a:rPr lang="en-US" baseline="-25000" dirty="0" err="1"/>
              <a:t>t+k</a:t>
            </a:r>
            <a:r>
              <a:rPr lang="en-US" dirty="0"/>
              <a:t> = (L</a:t>
            </a:r>
            <a:r>
              <a:rPr lang="en-US" baseline="-25000" dirty="0"/>
              <a:t>t</a:t>
            </a:r>
            <a:r>
              <a:rPr lang="en-US" dirty="0"/>
              <a:t> + T</a:t>
            </a:r>
            <a:r>
              <a:rPr lang="en-US" baseline="-25000" dirty="0"/>
              <a:t>t</a:t>
            </a:r>
            <a:r>
              <a:rPr lang="en-US" dirty="0"/>
              <a:t>) x (1 + e</a:t>
            </a:r>
            <a:r>
              <a:rPr lang="en-US" baseline="-25000" dirty="0"/>
              <a:t>t</a:t>
            </a:r>
            <a:r>
              <a:rPr lang="en-US" dirty="0"/>
              <a:t>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626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200" b="1" smtClean="0">
                <a:ln>
                  <a:solidFill>
                    <a:schemeClr val="tx1">
                      <a:alpha val="70000"/>
                    </a:schemeClr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23000"/>
                    </a:prstClr>
                  </a:outerShdw>
                </a:effectLst>
              </a:rPr>
              <a:t>Multiplicative Trend</a:t>
            </a:r>
            <a:endParaRPr lang="en-US" sz="4200" b="1" dirty="0">
              <a:ln>
                <a:solidFill>
                  <a:schemeClr val="tx1">
                    <a:alpha val="70000"/>
                  </a:schemeClr>
                </a:solidFill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23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87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Holt’s model – multiplicative trend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 smtClean="0"/>
                  <a:t>Holt’s equations in case of multiplicative trend:</a:t>
                </a:r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/>
                        </a:rPr>
                        <m:t>𝛼</m:t>
                      </m:r>
                      <m:sSub>
                        <m:sSubPr>
                          <m:ctrlPr>
                            <a:rPr lang="en-US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+(1−</m:t>
                      </m:r>
                      <m:r>
                        <a:rPr lang="en-US" sz="2800" i="1">
                          <a:latin typeface="Cambria Math"/>
                        </a:rPr>
                        <m:t>𝛼</m:t>
                      </m:r>
                      <m:r>
                        <a:rPr lang="en-US" sz="2800" i="1">
                          <a:latin typeface="Cambria Math"/>
                        </a:rPr>
                        <m:t>)(</m:t>
                      </m:r>
                      <m:sSub>
                        <m:sSubPr>
                          <m:ctrlPr>
                            <a:rPr lang="en-US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𝑡</m:t>
                          </m:r>
                          <m:r>
                            <a:rPr lang="en-US" sz="2800" i="1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b>
                        <m:sSubPr>
                          <m:ctrlPr>
                            <a:rPr lang="en-US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𝑡</m:t>
                          </m:r>
                          <m:r>
                            <a:rPr lang="en-US" sz="2800" i="1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dirty="0" smtClean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/>
                        </a:rPr>
                        <m:t>𝛽</m:t>
                      </m:r>
                      <m:d>
                        <m:dPr>
                          <m:ctrlPr>
                            <a:rPr lang="en-US" sz="2800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800" i="1">
                              <a:latin typeface="Cambria Math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sz="2800" i="1">
                                  <a:latin typeface="Cambria Math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sz="2800" i="1">
                          <a:latin typeface="Cambria Math"/>
                        </a:rPr>
                        <m:t>+(1−</m:t>
                      </m:r>
                      <m:r>
                        <a:rPr lang="en-US" sz="2800" i="1">
                          <a:latin typeface="Cambria Math"/>
                        </a:rPr>
                        <m:t>𝛽</m:t>
                      </m:r>
                      <m:r>
                        <a:rPr lang="en-US" sz="2800" i="1">
                          <a:latin typeface="Cambria Math"/>
                        </a:rPr>
                        <m:t>)</m:t>
                      </m:r>
                      <m:sSub>
                        <m:sSubPr>
                          <m:ctrlPr>
                            <a:rPr lang="en-US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𝑡</m:t>
                          </m:r>
                          <m:r>
                            <a:rPr lang="en-US" sz="2800" i="1">
                              <a:latin typeface="Cambria Math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1" t="-1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3645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Holt’s model – multiplicative trend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endParaRPr lang="en-US" sz="2800" dirty="0" smtClean="0"/>
              </a:p>
              <a:p>
                <a:pPr marL="0" indent="0">
                  <a:buNone/>
                </a:pPr>
                <a:r>
                  <a:rPr lang="en-US" sz="2800" dirty="0" smtClean="0"/>
                  <a:t>The </a:t>
                </a:r>
                <a:r>
                  <a:rPr lang="en-US" sz="2800" dirty="0"/>
                  <a:t>k-step ahead forecast </a:t>
                </a:r>
                <a:r>
                  <a:rPr lang="en-US" sz="2800" dirty="0" smtClean="0"/>
                  <a:t>formula:</a:t>
                </a:r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𝐹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𝑡</m:t>
                          </m:r>
                          <m:r>
                            <a:rPr lang="en-US" sz="2800" i="1">
                              <a:latin typeface="Cambria Math"/>
                            </a:rPr>
                            <m:t>+</m:t>
                          </m:r>
                          <m:r>
                            <a:rPr lang="en-US" sz="2800" i="1">
                              <a:latin typeface="Cambria Math"/>
                            </a:rPr>
                            <m:t>𝑘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bSup>
                        <m:sSubSupPr>
                          <m:ctrlPr>
                            <a:rPr lang="en-US" sz="2800" i="1">
                              <a:latin typeface="Cambria Math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𝑡</m:t>
                          </m:r>
                        </m:sub>
                        <m:sup>
                          <m:r>
                            <a:rPr lang="en-US" sz="2800" i="1">
                              <a:latin typeface="Cambria Math"/>
                            </a:rPr>
                            <m:t>𝑘</m:t>
                          </m:r>
                        </m:sup>
                      </m:sSubSup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 </a:t>
                </a:r>
              </a:p>
              <a:p>
                <a:pPr marL="0" indent="0">
                  <a:buNone/>
                </a:pPr>
                <a:r>
                  <a:rPr lang="en-US" sz="2800" dirty="0"/>
                  <a:t>This forecast is updated at each moment based on the above equations.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3015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Holt’s model – multiplicative trend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sz="2800" dirty="0" smtClean="0"/>
              </a:p>
              <a:p>
                <a:pPr marL="0" indent="0">
                  <a:buNone/>
                </a:pPr>
                <a:r>
                  <a:rPr lang="en-US" sz="2800" dirty="0" smtClean="0"/>
                  <a:t>If </a:t>
                </a:r>
                <a:r>
                  <a:rPr lang="en-US" sz="2800" dirty="0"/>
                  <a:t>the error is additive, the forecast formula takes this form:</a:t>
                </a:r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𝑡</m:t>
                          </m:r>
                          <m:r>
                            <a:rPr lang="en-US" sz="2800" i="1">
                              <a:latin typeface="Cambria Math"/>
                            </a:rPr>
                            <m:t>+1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b>
                        <m:sSubPr>
                          <m:ctrlPr>
                            <a:rPr lang="en-US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6215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Holt’s model – multiplicative trend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sz="2800" dirty="0" smtClean="0"/>
              </a:p>
              <a:p>
                <a:pPr marL="0" indent="0">
                  <a:buNone/>
                </a:pPr>
                <a:r>
                  <a:rPr lang="en-US" sz="2800" dirty="0"/>
                  <a:t>In case of multiplicative error, the formula writes like this:</a:t>
                </a:r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𝑡</m:t>
                          </m:r>
                          <m:r>
                            <a:rPr lang="en-US" sz="2800" i="1">
                              <a:latin typeface="Cambria Math"/>
                            </a:rPr>
                            <m:t>+1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×</m:t>
                      </m:r>
                      <m:sSub>
                        <m:sSubPr>
                          <m:ctrlPr>
                            <a:rPr lang="en-US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×(1+</m:t>
                      </m:r>
                      <m:sSub>
                        <m:sSubPr>
                          <m:ctrlPr>
                            <a:rPr lang="en-US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𝑒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 </a:t>
                </a:r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4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1795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200" b="1" smtClean="0">
                <a:ln>
                  <a:solidFill>
                    <a:schemeClr val="tx1">
                      <a:alpha val="70000"/>
                    </a:schemeClr>
                  </a:solidFill>
                </a:ln>
                <a:solidFill>
                  <a:srgbClr val="FF0000"/>
                </a:solidFill>
                <a:effectLst>
                  <a:outerShdw blurRad="50800" dist="38100" dir="2700000" algn="tl" rotWithShape="0">
                    <a:prstClr val="black">
                      <a:alpha val="23000"/>
                    </a:prstClr>
                  </a:outerShdw>
                </a:effectLst>
              </a:rPr>
              <a:t>Trend and Seasonality</a:t>
            </a:r>
            <a:endParaRPr lang="en-US" sz="4200" b="1" dirty="0">
              <a:ln>
                <a:solidFill>
                  <a:schemeClr val="tx1">
                    <a:alpha val="70000"/>
                  </a:schemeClr>
                </a:solidFill>
              </a:ln>
              <a:solidFill>
                <a:srgbClr val="FF0000"/>
              </a:solidFill>
              <a:effectLst>
                <a:outerShdw blurRad="50800" dist="38100" dir="2700000" algn="tl" rotWithShape="0">
                  <a:prstClr val="black">
                    <a:alpha val="23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69482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Holt-Winter’s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/>
              <a:t>If our </a:t>
            </a:r>
            <a:r>
              <a:rPr lang="en-US" sz="2800" dirty="0"/>
              <a:t>time series presents both trend and </a:t>
            </a:r>
            <a:r>
              <a:rPr lang="en-US" sz="2800" dirty="0" smtClean="0"/>
              <a:t>seasonality, we must use </a:t>
            </a:r>
            <a:r>
              <a:rPr lang="en-US" sz="2800" dirty="0"/>
              <a:t>an advanced exponential smoothing model with three smoothing constants, corresponding to level, trend and </a:t>
            </a:r>
            <a:r>
              <a:rPr lang="en-US" sz="2800" dirty="0" smtClean="0"/>
              <a:t>seasonality, respectively.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US" sz="2800" dirty="0" smtClean="0"/>
              <a:t>These smoothing factors are denoted with </a:t>
            </a:r>
            <a:r>
              <a:rPr lang="el-GR" sz="2800" i="1" dirty="0" smtClean="0"/>
              <a:t>α</a:t>
            </a:r>
            <a:r>
              <a:rPr lang="en-US" sz="2800" dirty="0" smtClean="0"/>
              <a:t>, </a:t>
            </a:r>
            <a:r>
              <a:rPr lang="el-GR" sz="2800" i="1" dirty="0" smtClean="0"/>
              <a:t>β</a:t>
            </a:r>
            <a:r>
              <a:rPr lang="en-US" sz="2800" dirty="0" smtClean="0"/>
              <a:t> and </a:t>
            </a:r>
            <a:r>
              <a:rPr lang="el-GR" sz="2800" i="1" dirty="0" smtClean="0"/>
              <a:t>γ</a:t>
            </a:r>
            <a:r>
              <a:rPr lang="en-US" sz="2800" dirty="0" smtClean="0"/>
              <a:t>.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21572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Holt-Winter’s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smtClean="0"/>
              <a:t>The </a:t>
            </a:r>
            <a:r>
              <a:rPr lang="en-US" sz="2800" smtClean="0"/>
              <a:t>Holt-Winter’s </a:t>
            </a:r>
            <a:r>
              <a:rPr lang="en-US" sz="2800" smtClean="0"/>
              <a:t>equations can be written in different ways, depending on the trend and seasonality type (addtive or multiplicative).</a:t>
            </a:r>
          </a:p>
          <a:p>
            <a:pPr marL="0" indent="0">
              <a:buNone/>
            </a:pPr>
            <a:endParaRPr lang="en-US" sz="2800"/>
          </a:p>
          <a:p>
            <a:pPr marL="0" indent="0">
              <a:buNone/>
            </a:pPr>
            <a:r>
              <a:rPr lang="en-US" sz="2800"/>
              <a:t>W</a:t>
            </a:r>
            <a:r>
              <a:rPr lang="en-US" sz="2800" smtClean="0"/>
              <a:t>e </a:t>
            </a:r>
            <a:r>
              <a:rPr lang="en-US" sz="2800" smtClean="0"/>
              <a:t>will </a:t>
            </a:r>
            <a:r>
              <a:rPr lang="en-US" sz="2800" smtClean="0"/>
              <a:t>only write </a:t>
            </a:r>
            <a:r>
              <a:rPr lang="en-US" sz="2800" smtClean="0"/>
              <a:t>two sets of equations, as examples.</a:t>
            </a: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5808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Holt-Winter’s model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en-US" sz="2800" dirty="0" smtClean="0"/>
                  <a:t>Additive trend, additive seasonality:</a:t>
                </a:r>
              </a:p>
              <a:p>
                <a:pPr marL="0" indent="0">
                  <a:buNone/>
                </a:pPr>
                <a:endParaRPr lang="en-US" sz="2800" dirty="0" smtClean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/>
                        </a:rPr>
                        <m:t>𝛼</m:t>
                      </m:r>
                      <m:r>
                        <a:rPr lang="en-US" sz="2800" i="1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US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−</m:t>
                      </m:r>
                      <m:sSub>
                        <m:sSubPr>
                          <m:ctrlPr>
                            <a:rPr lang="en-US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𝑡</m:t>
                          </m:r>
                          <m:r>
                            <a:rPr lang="en-US" sz="2800" i="1">
                              <a:latin typeface="Cambria Math"/>
                            </a:rPr>
                            <m:t>−</m:t>
                          </m:r>
                          <m:r>
                            <a:rPr lang="en-US" sz="2800" i="1">
                              <a:latin typeface="Cambria Math"/>
                            </a:rPr>
                            <m:t>𝑀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)+(1−</m:t>
                      </m:r>
                      <m:r>
                        <a:rPr lang="en-US" sz="2800" i="1">
                          <a:latin typeface="Cambria Math"/>
                        </a:rPr>
                        <m:t>𝛼</m:t>
                      </m:r>
                      <m:r>
                        <a:rPr lang="en-US" sz="2800" i="1">
                          <a:latin typeface="Cambria Math"/>
                        </a:rPr>
                        <m:t>)(</m:t>
                      </m:r>
                      <m:sSub>
                        <m:sSubPr>
                          <m:ctrlPr>
                            <a:rPr lang="en-US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𝑡</m:t>
                          </m:r>
                          <m:r>
                            <a:rPr lang="en-US" sz="2800" i="1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𝑡</m:t>
                          </m:r>
                          <m:r>
                            <a:rPr lang="en-US" sz="2800" i="1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/>
                        </a:rPr>
                        <m:t>𝛽</m:t>
                      </m:r>
                      <m:d>
                        <m:dPr>
                          <m:ctrlPr>
                            <a:rPr lang="en-US" sz="2800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800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sz="2800" i="1">
                                  <a:latin typeface="Cambria Math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sz="2800" i="1">
                          <a:latin typeface="Cambria Math"/>
                        </a:rPr>
                        <m:t>+(1−</m:t>
                      </m:r>
                      <m:r>
                        <a:rPr lang="en-US" sz="2800" i="1">
                          <a:latin typeface="Cambria Math"/>
                        </a:rPr>
                        <m:t>𝛽</m:t>
                      </m:r>
                      <m:r>
                        <a:rPr lang="en-US" sz="2800" i="1">
                          <a:latin typeface="Cambria Math"/>
                        </a:rPr>
                        <m:t>)</m:t>
                      </m:r>
                      <m:sSub>
                        <m:sSubPr>
                          <m:ctrlPr>
                            <a:rPr lang="en-US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𝑡</m:t>
                          </m:r>
                          <m:r>
                            <a:rPr lang="en-US" sz="2800" i="1">
                              <a:latin typeface="Cambria Math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2800" i="1">
                          <a:latin typeface="Cambria Math"/>
                        </a:rPr>
                        <m:t>=</m:t>
                      </m:r>
                      <m:r>
                        <a:rPr lang="en-US" sz="2800" i="1">
                          <a:latin typeface="Cambria Math"/>
                        </a:rPr>
                        <m:t>𝛾</m:t>
                      </m:r>
                      <m:d>
                        <m:dPr>
                          <m:ctrlPr>
                            <a:rPr lang="en-US" sz="2800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800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2800" i="1"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US" sz="28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/>
                            </a:rPr>
                            <m:t>1−</m:t>
                          </m:r>
                          <m:r>
                            <a:rPr lang="en-US" sz="2800" i="1">
                              <a:latin typeface="Cambria Math"/>
                            </a:rPr>
                            <m:t>𝛾</m:t>
                          </m:r>
                        </m:e>
                      </m:d>
                      <m:sSub>
                        <m:sSubPr>
                          <m:ctrlPr>
                            <a:rPr lang="en-US" sz="28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sz="2800" i="1">
                              <a:latin typeface="Cambria Math"/>
                            </a:rPr>
                            <m:t>𝑡</m:t>
                          </m:r>
                          <m:r>
                            <a:rPr lang="en-US" sz="2800" i="1">
                              <a:latin typeface="Cambria Math"/>
                            </a:rPr>
                            <m:t>−</m:t>
                          </m:r>
                          <m:r>
                            <a:rPr lang="en-US" sz="2800" i="1">
                              <a:latin typeface="Cambria Math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  <a:p>
                <a:pPr marL="0" indent="0">
                  <a:buNone/>
                </a:pPr>
                <a:r>
                  <a:rPr lang="en-US" sz="2800" dirty="0"/>
                  <a:t> </a:t>
                </a:r>
                <a:endParaRPr lang="en-US" sz="2800" dirty="0" smtClean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r>
                  <a:rPr lang="en-US" sz="2800" i="1" dirty="0" smtClean="0"/>
                  <a:t>S</a:t>
                </a:r>
                <a:r>
                  <a:rPr lang="en-US" sz="2800" dirty="0" smtClean="0"/>
                  <a:t> – seasonal component</a:t>
                </a:r>
                <a:endParaRPr lang="en-US" sz="2800" i="1" dirty="0" smtClean="0"/>
              </a:p>
              <a:p>
                <a:pPr marL="0" indent="0">
                  <a:buNone/>
                </a:pPr>
                <a:r>
                  <a:rPr lang="en-US" sz="2800" i="1" dirty="0" smtClean="0"/>
                  <a:t>M</a:t>
                </a:r>
                <a:r>
                  <a:rPr lang="en-US" sz="2800" dirty="0" smtClean="0"/>
                  <a:t> – number of seasons</a:t>
                </a:r>
                <a:endParaRPr lang="en-US" sz="2800" i="1" dirty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25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47545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Holt-Winter’s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 </a:t>
            </a:r>
            <a:r>
              <a:rPr lang="en-US" sz="2400" dirty="0" smtClean="0"/>
              <a:t>forecasting equation: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 </a:t>
            </a:r>
          </a:p>
          <a:p>
            <a:pPr marL="0" indent="0" algn="ctr">
              <a:buNone/>
            </a:pPr>
            <a:r>
              <a:rPr lang="en-US" sz="2400" dirty="0" err="1"/>
              <a:t>F</a:t>
            </a:r>
            <a:r>
              <a:rPr lang="en-US" sz="2400" baseline="-25000" dirty="0" err="1"/>
              <a:t>t+k</a:t>
            </a:r>
            <a:r>
              <a:rPr lang="en-US" sz="2400" dirty="0"/>
              <a:t> = L</a:t>
            </a:r>
            <a:r>
              <a:rPr lang="en-US" sz="2400" baseline="-25000" dirty="0"/>
              <a:t>t</a:t>
            </a:r>
            <a:r>
              <a:rPr lang="en-US" sz="2400" dirty="0"/>
              <a:t> + </a:t>
            </a:r>
            <a:r>
              <a:rPr lang="en-US" sz="2400" dirty="0" err="1"/>
              <a:t>kT</a:t>
            </a:r>
            <a:r>
              <a:rPr lang="en-US" sz="2400" baseline="-25000" dirty="0" err="1"/>
              <a:t>t</a:t>
            </a:r>
            <a:r>
              <a:rPr lang="en-US" sz="2400" dirty="0"/>
              <a:t> + </a:t>
            </a:r>
            <a:r>
              <a:rPr lang="en-US" sz="2400" dirty="0" err="1"/>
              <a:t>S</a:t>
            </a:r>
            <a:r>
              <a:rPr lang="en-US" sz="2400" baseline="-25000" dirty="0" err="1"/>
              <a:t>t+k-M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5418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Holt-Winter’s model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r>
                  <a:rPr lang="en-US" sz="4000" dirty="0" smtClean="0"/>
                  <a:t>Additive trend, multiplicative seasonality:</a:t>
                </a:r>
              </a:p>
              <a:p>
                <a:pPr marL="0" indent="0">
                  <a:buNone/>
                </a:pPr>
                <a:endParaRPr lang="en-US" sz="4000" dirty="0" smtClean="0"/>
              </a:p>
              <a:p>
                <a:pPr marL="0" indent="0">
                  <a:buNone/>
                </a:pPr>
                <a:endParaRPr lang="en-US" sz="4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sz="4000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4000" i="1">
                          <a:latin typeface="Cambria Math"/>
                        </a:rPr>
                        <m:t>=</m:t>
                      </m:r>
                      <m:r>
                        <a:rPr lang="en-US" sz="4000" i="1">
                          <a:latin typeface="Cambria Math"/>
                        </a:rPr>
                        <m:t>𝛼</m:t>
                      </m:r>
                      <m:sSub>
                        <m:sSubPr>
                          <m:ctrlPr>
                            <a:rPr lang="en-US" sz="4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en-US" sz="4000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4000" i="1">
                          <a:latin typeface="Cambria Math"/>
                        </a:rPr>
                        <m:t>/</m:t>
                      </m:r>
                      <m:sSub>
                        <m:sSubPr>
                          <m:ctrlPr>
                            <a:rPr lang="en-US" sz="4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sz="4000" i="1">
                              <a:latin typeface="Cambria Math"/>
                            </a:rPr>
                            <m:t>𝑡</m:t>
                          </m:r>
                          <m:r>
                            <a:rPr lang="en-US" sz="4000" i="1">
                              <a:latin typeface="Cambria Math"/>
                            </a:rPr>
                            <m:t>−</m:t>
                          </m:r>
                          <m:r>
                            <a:rPr lang="en-US" sz="4000" i="1">
                              <a:latin typeface="Cambria Math"/>
                            </a:rPr>
                            <m:t>𝑀</m:t>
                          </m:r>
                        </m:sub>
                      </m:sSub>
                      <m:r>
                        <a:rPr lang="en-US" sz="4000" i="1">
                          <a:latin typeface="Cambria Math"/>
                        </a:rPr>
                        <m:t>+(1−</m:t>
                      </m:r>
                      <m:r>
                        <a:rPr lang="en-US" sz="4000" i="1">
                          <a:latin typeface="Cambria Math"/>
                        </a:rPr>
                        <m:t>𝛼</m:t>
                      </m:r>
                      <m:r>
                        <a:rPr lang="en-US" sz="4000" i="1">
                          <a:latin typeface="Cambria Math"/>
                        </a:rPr>
                        <m:t>)(</m:t>
                      </m:r>
                      <m:sSub>
                        <m:sSubPr>
                          <m:ctrlPr>
                            <a:rPr lang="en-US" sz="4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a:rPr lang="en-US" sz="4000" i="1">
                              <a:latin typeface="Cambria Math"/>
                            </a:rPr>
                            <m:t>𝑡</m:t>
                          </m:r>
                          <m:r>
                            <a:rPr lang="en-US" sz="4000" i="1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sz="4000" i="1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4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sz="4000" i="1">
                              <a:latin typeface="Cambria Math"/>
                            </a:rPr>
                            <m:t>𝑡</m:t>
                          </m:r>
                          <m:r>
                            <a:rPr lang="en-US" sz="4000" i="1">
                              <a:latin typeface="Cambria Math"/>
                            </a:rPr>
                            <m:t>−1</m:t>
                          </m:r>
                        </m:sub>
                      </m:sSub>
                      <m:r>
                        <a:rPr lang="en-US" sz="4000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4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sz="4000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4000" i="1">
                          <a:latin typeface="Cambria Math"/>
                        </a:rPr>
                        <m:t>=</m:t>
                      </m:r>
                      <m:r>
                        <a:rPr lang="en-US" sz="4000" i="1">
                          <a:latin typeface="Cambria Math"/>
                        </a:rPr>
                        <m:t>𝛽</m:t>
                      </m:r>
                      <m:d>
                        <m:dPr>
                          <m:ctrlPr>
                            <a:rPr lang="en-US" sz="4000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4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latin typeface="Cambria Math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4000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4000" i="1">
                              <a:latin typeface="Cambria Math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4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latin typeface="Cambria Math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4000" i="1">
                                  <a:latin typeface="Cambria Math"/>
                                </a:rPr>
                                <m:t>𝑡</m:t>
                              </m:r>
                              <m:r>
                                <a:rPr lang="en-US" sz="4000" i="1">
                                  <a:latin typeface="Cambria Math"/>
                                </a:rPr>
                                <m:t>−1</m:t>
                              </m:r>
                            </m:sub>
                          </m:sSub>
                        </m:e>
                      </m:d>
                      <m:r>
                        <a:rPr lang="en-US" sz="4000" i="1">
                          <a:latin typeface="Cambria Math"/>
                        </a:rPr>
                        <m:t>+(1−</m:t>
                      </m:r>
                      <m:r>
                        <a:rPr lang="en-US" sz="4000" i="1">
                          <a:latin typeface="Cambria Math"/>
                        </a:rPr>
                        <m:t>𝛽</m:t>
                      </m:r>
                      <m:r>
                        <a:rPr lang="en-US" sz="4000" i="1">
                          <a:latin typeface="Cambria Math"/>
                        </a:rPr>
                        <m:t>)</m:t>
                      </m:r>
                      <m:sSub>
                        <m:sSubPr>
                          <m:ctrlPr>
                            <a:rPr lang="en-US" sz="4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/>
                            </a:rPr>
                            <m:t>𝑇</m:t>
                          </m:r>
                        </m:e>
                        <m:sub>
                          <m:r>
                            <a:rPr lang="en-US" sz="4000" i="1">
                              <a:latin typeface="Cambria Math"/>
                            </a:rPr>
                            <m:t>𝑡</m:t>
                          </m:r>
                          <m:r>
                            <a:rPr lang="en-US" sz="4000" i="1">
                              <a:latin typeface="Cambria Math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40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sz="4000" i="1">
                              <a:latin typeface="Cambria Math"/>
                            </a:rPr>
                            <m:t>𝑡</m:t>
                          </m:r>
                        </m:sub>
                      </m:sSub>
                      <m:r>
                        <a:rPr lang="en-US" sz="4000" i="1">
                          <a:latin typeface="Cambria Math"/>
                        </a:rPr>
                        <m:t>=</m:t>
                      </m:r>
                      <m:r>
                        <a:rPr lang="en-US" sz="4000" i="1">
                          <a:latin typeface="Cambria Math"/>
                        </a:rPr>
                        <m:t>𝛾</m:t>
                      </m:r>
                      <m:d>
                        <m:dPr>
                          <m:ctrlPr>
                            <a:rPr lang="en-US" sz="4000" i="1"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4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4000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4000" i="1">
                              <a:latin typeface="Cambria Math"/>
                            </a:rPr>
                            <m:t>/</m:t>
                          </m:r>
                          <m:sSub>
                            <m:sSubPr>
                              <m:ctrlPr>
                                <a:rPr lang="en-US" sz="4000" i="1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4000" i="1">
                                  <a:latin typeface="Cambria Math"/>
                                </a:rPr>
                                <m:t>𝐿</m:t>
                              </m:r>
                            </m:e>
                            <m:sub>
                              <m:r>
                                <a:rPr lang="en-US" sz="4000" i="1">
                                  <a:latin typeface="Cambria Math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sz="4000" i="1"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US" sz="4000" i="1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US" sz="4000" i="1">
                              <a:latin typeface="Cambria Math"/>
                            </a:rPr>
                            <m:t>1−</m:t>
                          </m:r>
                          <m:r>
                            <a:rPr lang="en-US" sz="4000" i="1">
                              <a:latin typeface="Cambria Math"/>
                            </a:rPr>
                            <m:t>𝛾</m:t>
                          </m:r>
                        </m:e>
                      </m:d>
                      <m:sSub>
                        <m:sSubPr>
                          <m:ctrlPr>
                            <a:rPr lang="en-US" sz="4000" i="1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4000" i="1">
                              <a:latin typeface="Cambria Math"/>
                            </a:rPr>
                            <m:t>𝑆</m:t>
                          </m:r>
                        </m:e>
                        <m:sub>
                          <m:r>
                            <a:rPr lang="en-US" sz="4000" i="1">
                              <a:latin typeface="Cambria Math"/>
                            </a:rPr>
                            <m:t>𝑡</m:t>
                          </m:r>
                          <m:r>
                            <a:rPr lang="en-US" sz="4000" i="1">
                              <a:latin typeface="Cambria Math"/>
                            </a:rPr>
                            <m:t>−</m:t>
                          </m:r>
                          <m:r>
                            <a:rPr lang="en-US" sz="4000" i="1">
                              <a:latin typeface="Cambria Math"/>
                            </a:rPr>
                            <m:t>𝑀</m:t>
                          </m:r>
                        </m:sub>
                      </m:sSub>
                    </m:oMath>
                  </m:oMathPara>
                </a14:m>
                <a:endParaRPr lang="en-US" sz="4000" dirty="0"/>
              </a:p>
              <a:p>
                <a:pPr marL="0" indent="0">
                  <a:buNone/>
                </a:pPr>
                <a:r>
                  <a:rPr lang="en-US" sz="4000" dirty="0"/>
                  <a:t> </a:t>
                </a:r>
                <a:endParaRPr lang="en-US" sz="4000" dirty="0" smtClean="0"/>
              </a:p>
              <a:p>
                <a:pPr marL="0" indent="0">
                  <a:buNone/>
                </a:pPr>
                <a:endParaRPr lang="en-US" sz="4000" dirty="0"/>
              </a:p>
              <a:p>
                <a:pPr marL="0" indent="0">
                  <a:buNone/>
                </a:pPr>
                <a:r>
                  <a:rPr lang="en-US" sz="4000" i="1" dirty="0" smtClean="0"/>
                  <a:t>S</a:t>
                </a:r>
                <a:r>
                  <a:rPr lang="en-US" sz="4000" dirty="0" smtClean="0"/>
                  <a:t> – seasonal component</a:t>
                </a:r>
                <a:endParaRPr lang="en-US" sz="4000" i="1" dirty="0" smtClean="0"/>
              </a:p>
              <a:p>
                <a:pPr marL="0" indent="0">
                  <a:buNone/>
                </a:pPr>
                <a:r>
                  <a:rPr lang="en-US" sz="4000" i="1" dirty="0" smtClean="0"/>
                  <a:t>M</a:t>
                </a:r>
                <a:r>
                  <a:rPr lang="en-US" sz="4000" dirty="0" smtClean="0"/>
                  <a:t> – number of seasons</a:t>
                </a:r>
                <a:endParaRPr lang="en-US" sz="4000" i="1" dirty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667" t="-23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4204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Holt-Winter’s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The </a:t>
            </a:r>
            <a:r>
              <a:rPr lang="en-US" sz="2400" dirty="0" smtClean="0"/>
              <a:t>forecasting equation: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 </a:t>
            </a:r>
          </a:p>
          <a:p>
            <a:pPr marL="0" indent="0" algn="ctr">
              <a:buNone/>
            </a:pPr>
            <a:r>
              <a:rPr lang="en-US" sz="2400" dirty="0" err="1"/>
              <a:t>F</a:t>
            </a:r>
            <a:r>
              <a:rPr lang="en-US" sz="2400" baseline="-25000" dirty="0" err="1"/>
              <a:t>t+k</a:t>
            </a:r>
            <a:r>
              <a:rPr lang="en-US" sz="2400" dirty="0"/>
              <a:t> = (L</a:t>
            </a:r>
            <a:r>
              <a:rPr lang="en-US" sz="2400" baseline="-25000" dirty="0"/>
              <a:t>t</a:t>
            </a:r>
            <a:r>
              <a:rPr lang="en-US" sz="2400" dirty="0"/>
              <a:t> + </a:t>
            </a:r>
            <a:r>
              <a:rPr lang="en-US" sz="2400" dirty="0" err="1"/>
              <a:t>kT</a:t>
            </a:r>
            <a:r>
              <a:rPr lang="en-US" sz="2400" baseline="-25000" dirty="0" err="1"/>
              <a:t>t</a:t>
            </a:r>
            <a:r>
              <a:rPr lang="en-US" sz="2400" dirty="0"/>
              <a:t>)</a:t>
            </a:r>
            <a:r>
              <a:rPr lang="en-US" sz="2400" dirty="0" err="1"/>
              <a:t>S</a:t>
            </a:r>
            <a:r>
              <a:rPr lang="en-US" sz="2400" baseline="-25000" dirty="0" err="1"/>
              <a:t>t+k-M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464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Holt-Winter’s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Like </a:t>
            </a:r>
            <a:r>
              <a:rPr lang="en-US" sz="2400" dirty="0"/>
              <a:t>in Holt’s model, the forecasts at time points t+1, t+2 etc. are </a:t>
            </a:r>
            <a:r>
              <a:rPr lang="en-US" sz="2400" dirty="0" smtClean="0"/>
              <a:t>not identical</a:t>
            </a:r>
            <a:r>
              <a:rPr lang="en-US" sz="2400" dirty="0"/>
              <a:t>. They are updated at each point in time using the formulas above.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4770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Holt-Winter’s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dirty="0" smtClean="0"/>
              <a:t>To fit a Holt-Winter’s model we are going to use one of these methods in the </a:t>
            </a:r>
            <a:r>
              <a:rPr lang="en-US" sz="2400" dirty="0" err="1" smtClean="0"/>
              <a:t>ets</a:t>
            </a:r>
            <a:r>
              <a:rPr lang="en-US" sz="2400" dirty="0" smtClean="0"/>
              <a:t>() function: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400" dirty="0"/>
              <a:t>MAA – multiplicative error, additive trend, additive seasonality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400" dirty="0"/>
              <a:t>MMA – multiplicative error, multiplicative trend, additive seasonality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400" dirty="0"/>
              <a:t>MAM - multiplicative error, additive trend, multiplicative seasonality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400" dirty="0"/>
              <a:t>MMM – multiplicative error</a:t>
            </a:r>
            <a:r>
              <a:rPr lang="en-US" sz="2400"/>
              <a:t>, </a:t>
            </a:r>
            <a:r>
              <a:rPr lang="en-US" sz="2400" smtClean="0"/>
              <a:t>multiplicative </a:t>
            </a:r>
            <a:r>
              <a:rPr lang="en-US" sz="2400" dirty="0"/>
              <a:t>trend</a:t>
            </a:r>
            <a:r>
              <a:rPr lang="en-US" sz="2400"/>
              <a:t>, </a:t>
            </a:r>
            <a:r>
              <a:rPr lang="en-US" sz="2400"/>
              <a:t>multiplicative </a:t>
            </a:r>
            <a:r>
              <a:rPr lang="en-US" sz="2400" dirty="0" smtClean="0"/>
              <a:t>seasonality</a:t>
            </a:r>
            <a:endParaRPr lang="en-US" sz="2400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8092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Holt-Winter’s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smtClean="0"/>
              <a:t>We </a:t>
            </a:r>
            <a:r>
              <a:rPr lang="en-US" sz="2400" dirty="0"/>
              <a:t>could also consider a damped </a:t>
            </a:r>
            <a:r>
              <a:rPr lang="en-US" sz="2400"/>
              <a:t>trend </a:t>
            </a:r>
            <a:r>
              <a:rPr lang="en-US" sz="2400" smtClean="0"/>
              <a:t>(a </a:t>
            </a:r>
            <a:r>
              <a:rPr lang="en-US" sz="2400" dirty="0"/>
              <a:t>trend that flattens over time). In this case, we use “Ad” or “</a:t>
            </a:r>
            <a:r>
              <a:rPr lang="en-US" sz="2400" dirty="0" err="1"/>
              <a:t>Md</a:t>
            </a:r>
            <a:r>
              <a:rPr lang="en-US" sz="2400" dirty="0"/>
              <a:t>” as  the second </a:t>
            </a:r>
            <a:r>
              <a:rPr lang="en-US" sz="2400"/>
              <a:t>option </a:t>
            </a:r>
            <a:r>
              <a:rPr lang="en-US" sz="2400" smtClean="0"/>
              <a:t>in </a:t>
            </a:r>
            <a:r>
              <a:rPr lang="en-US" sz="2400"/>
              <a:t>the </a:t>
            </a:r>
            <a:r>
              <a:rPr lang="en-US" sz="2400" smtClean="0"/>
              <a:t>“method” </a:t>
            </a:r>
            <a:r>
              <a:rPr lang="en-US" sz="2400" dirty="0"/>
              <a:t>argument.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750583"/>
      </p:ext>
    </p:extLst>
  </p:cSld>
  <p:clrMapOvr>
    <a:masterClrMapping/>
  </p:clrMapOvr>
</p:sld>
</file>

<file path=ppt/theme/theme1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727</TotalTime>
  <Words>926</Words>
  <Application>Microsoft Office PowerPoint</Application>
  <PresentationFormat>On-screen Show (16:9)</PresentationFormat>
  <Paragraphs>138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Temă Office</vt:lpstr>
      <vt:lpstr>Advanced Exponential Smoothing</vt:lpstr>
      <vt:lpstr>Advanced exponential smoothing</vt:lpstr>
      <vt:lpstr>Additive Trend</vt:lpstr>
      <vt:lpstr>Holt’s model – additive trend</vt:lpstr>
      <vt:lpstr>Holt’s model – additive trend</vt:lpstr>
      <vt:lpstr>Holt’s model – additive trend</vt:lpstr>
      <vt:lpstr>Holt’s model – additive trend</vt:lpstr>
      <vt:lpstr>Holt’s model – additive trend</vt:lpstr>
      <vt:lpstr>Holt’s model – additive trend</vt:lpstr>
      <vt:lpstr>Holt’s model – additive trend</vt:lpstr>
      <vt:lpstr>Multiplicative Trend</vt:lpstr>
      <vt:lpstr>Holt’s model – multiplicative trend</vt:lpstr>
      <vt:lpstr>Holt’s model – multiplicative trend</vt:lpstr>
      <vt:lpstr>Holt’s model – multiplicative trend</vt:lpstr>
      <vt:lpstr>Holt’s model – multiplicative trend</vt:lpstr>
      <vt:lpstr>Trend and Seasonality</vt:lpstr>
      <vt:lpstr>Holt-Winter’s model</vt:lpstr>
      <vt:lpstr>Holt-Winter’s model</vt:lpstr>
      <vt:lpstr>Holt-Winter’s model</vt:lpstr>
      <vt:lpstr>Holt-Winter’s model</vt:lpstr>
      <vt:lpstr>Holt-Winter’s model</vt:lpstr>
      <vt:lpstr>Holt-Winter’s model</vt:lpstr>
      <vt:lpstr>Holt-Winter’s model</vt:lpstr>
      <vt:lpstr>Holt-Winter’s model</vt:lpstr>
      <vt:lpstr>Holt-Winter’s model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Prezentare PowerPoint</dc:title>
  <dc:creator>bogdan</dc:creator>
  <cp:lastModifiedBy>bogdan</cp:lastModifiedBy>
  <cp:revision>129</cp:revision>
  <dcterms:created xsi:type="dcterms:W3CDTF">2014-10-10T10:38:27Z</dcterms:created>
  <dcterms:modified xsi:type="dcterms:W3CDTF">2022-09-12T09:15:08Z</dcterms:modified>
</cp:coreProperties>
</file>